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6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7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8.xml" ContentType="application/vnd.openxmlformats-officedocument.theme+xml"/>
  <Override PartName="/ppt/slideLayouts/slideLayout98.xml" ContentType="application/vnd.openxmlformats-officedocument.presentationml.slideLayout+xml"/>
  <Override PartName="/ppt/theme/theme9.xml" ContentType="application/vnd.openxmlformats-officedocument.theme+xml"/>
  <Override PartName="/ppt/slideLayouts/slideLayout99.xml" ContentType="application/vnd.openxmlformats-officedocument.presentationml.slideLayout+xml"/>
  <Override PartName="/ppt/theme/theme10.xml" ContentType="application/vnd.openxmlformats-officedocument.theme+xml"/>
  <Override PartName="/ppt/slideLayouts/slideLayout100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5.xml" ContentType="application/vnd.openxmlformats-officedocument.presentationml.notesSlide+xml"/>
  <Override PartName="/ppt/tags/tag13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4.xml" ContentType="application/vnd.openxmlformats-officedocument.presentationml.tags+xml"/>
  <Override PartName="/ppt/notesSlides/notesSlide19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16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  <p:sldMasterId id="2147483919" r:id="rId2"/>
    <p:sldMasterId id="2147483932" r:id="rId3"/>
    <p:sldMasterId id="2147483959" r:id="rId4"/>
    <p:sldMasterId id="2147483981" r:id="rId5"/>
    <p:sldMasterId id="2147483993" r:id="rId6"/>
    <p:sldMasterId id="2147484006" r:id="rId7"/>
    <p:sldMasterId id="2147484044" r:id="rId8"/>
    <p:sldMasterId id="2147484059" r:id="rId9"/>
    <p:sldMasterId id="2147484061" r:id="rId10"/>
    <p:sldMasterId id="2147484063" r:id="rId11"/>
  </p:sldMasterIdLst>
  <p:notesMasterIdLst>
    <p:notesMasterId r:id="rId40"/>
  </p:notesMasterIdLst>
  <p:sldIdLst>
    <p:sldId id="420" r:id="rId12"/>
    <p:sldId id="1832" r:id="rId13"/>
    <p:sldId id="404" r:id="rId14"/>
    <p:sldId id="405" r:id="rId15"/>
    <p:sldId id="1847" r:id="rId16"/>
    <p:sldId id="1825" r:id="rId17"/>
    <p:sldId id="1833" r:id="rId18"/>
    <p:sldId id="1846" r:id="rId19"/>
    <p:sldId id="1855" r:id="rId20"/>
    <p:sldId id="1857" r:id="rId21"/>
    <p:sldId id="1858" r:id="rId22"/>
    <p:sldId id="1859" r:id="rId23"/>
    <p:sldId id="1824" r:id="rId24"/>
    <p:sldId id="1861" r:id="rId25"/>
    <p:sldId id="406" r:id="rId26"/>
    <p:sldId id="407" r:id="rId27"/>
    <p:sldId id="1864" r:id="rId28"/>
    <p:sldId id="415" r:id="rId29"/>
    <p:sldId id="1863" r:id="rId30"/>
    <p:sldId id="1865" r:id="rId31"/>
    <p:sldId id="454" r:id="rId32"/>
    <p:sldId id="1840" r:id="rId33"/>
    <p:sldId id="1862" r:id="rId34"/>
    <p:sldId id="1853" r:id="rId35"/>
    <p:sldId id="1309" r:id="rId36"/>
    <p:sldId id="1844" r:id="rId37"/>
    <p:sldId id="1850" r:id="rId38"/>
    <p:sldId id="1867" r:id="rId39"/>
  </p:sldIdLst>
  <p:sldSz cx="9144000" cy="5143500" type="screen16x9"/>
  <p:notesSz cx="6858000" cy="9144000"/>
  <p:custDataLst>
    <p:tags r:id="rId4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EF8"/>
    <a:srgbClr val="FFFF99"/>
    <a:srgbClr val="CC66FF"/>
    <a:srgbClr val="FF3300"/>
    <a:srgbClr val="FD743E"/>
    <a:srgbClr val="563450"/>
    <a:srgbClr val="66FF66"/>
    <a:srgbClr val="9C4B2A"/>
    <a:srgbClr val="008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22"/>
    <p:restoredTop sz="94660"/>
  </p:normalViewPr>
  <p:slideViewPr>
    <p:cSldViewPr snapToGrid="0">
      <p:cViewPr varScale="1">
        <p:scale>
          <a:sx n="168" d="100"/>
          <a:sy n="168" d="100"/>
        </p:scale>
        <p:origin x="784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28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20" Type="http://schemas.openxmlformats.org/officeDocument/2006/relationships/slide" Target="slides/slide9.xml"/><Relationship Id="rId41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31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31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8C073502-1D90-4FF0-A441-72FDD988CF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761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A078E0-A010-43A0-A077-18A4929270F6}" type="slidenum">
              <a:rPr lang="en-US"/>
              <a:pPr/>
              <a:t>1</a:t>
            </a:fld>
            <a:endParaRPr lang="en-US"/>
          </a:p>
        </p:txBody>
      </p:sp>
      <p:sp>
        <p:nvSpPr>
          <p:cNvPr id="16506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68300" y="676275"/>
            <a:ext cx="6138863" cy="345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506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6216" y="4355926"/>
            <a:ext cx="5081155" cy="412889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6BBF3E-65EA-9540-AB63-D0474745D794}" type="slidenum">
              <a:rPr lang="en-US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198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9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6BBF3E-65EA-9540-AB63-D0474745D794}" type="slidenum">
              <a:rPr lang="en-US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198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9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A078E0-A010-43A0-A077-18A4929270F6}" type="slidenum">
              <a:rPr lang="en-US"/>
              <a:pPr/>
              <a:t>5</a:t>
            </a:fld>
            <a:endParaRPr lang="en-US"/>
          </a:p>
        </p:txBody>
      </p:sp>
      <p:sp>
        <p:nvSpPr>
          <p:cNvPr id="16506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68300" y="676275"/>
            <a:ext cx="6138863" cy="345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506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6216" y="4355926"/>
            <a:ext cx="5081155" cy="412889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84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13C838-B236-4E84-BE6D-6903CA3DC5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1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875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13C838-B236-4E84-BE6D-6903CA3DC5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1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383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A078E0-A010-43A0-A077-18A4929270F6}" type="slidenum">
              <a:rPr lang="en-US"/>
              <a:pPr/>
              <a:t>8</a:t>
            </a:fld>
            <a:endParaRPr lang="en-US"/>
          </a:p>
        </p:txBody>
      </p:sp>
      <p:sp>
        <p:nvSpPr>
          <p:cNvPr id="16506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68300" y="676275"/>
            <a:ext cx="6138863" cy="345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506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6216" y="4355926"/>
            <a:ext cx="5081155" cy="412889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14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91E8E-DD7B-6781-770E-74493525B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D0BB0B7-1481-91F8-5E80-E8CEE37F52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A078E0-A010-43A0-A077-18A4929270F6}" type="slidenum">
              <a:rPr lang="en-US"/>
              <a:pPr/>
              <a:t>9</a:t>
            </a:fld>
            <a:endParaRPr lang="en-US"/>
          </a:p>
        </p:txBody>
      </p:sp>
      <p:sp>
        <p:nvSpPr>
          <p:cNvPr id="1650690" name="Rectangle 2">
            <a:extLst>
              <a:ext uri="{FF2B5EF4-FFF2-40B4-BE49-F238E27FC236}">
                <a16:creationId xmlns:a16="http://schemas.microsoft.com/office/drawing/2014/main" id="{95FA0265-C815-637B-2914-F0D2906D8B5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68300" y="676275"/>
            <a:ext cx="6138863" cy="345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50691" name="Rectangle 3">
            <a:extLst>
              <a:ext uri="{FF2B5EF4-FFF2-40B4-BE49-F238E27FC236}">
                <a16:creationId xmlns:a16="http://schemas.microsoft.com/office/drawing/2014/main" id="{7D860873-B9F0-DDF5-8B1D-EEE7467D60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6216" y="4355926"/>
            <a:ext cx="5081155" cy="412889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520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EFBA4-0625-84AF-F8C6-3907B0F11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AEA8E0B-F433-BF6F-AB3F-75E7347F1B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A078E0-A010-43A0-A077-18A492927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650690" name="Rectangle 2">
            <a:extLst>
              <a:ext uri="{FF2B5EF4-FFF2-40B4-BE49-F238E27FC236}">
                <a16:creationId xmlns:a16="http://schemas.microsoft.com/office/drawing/2014/main" id="{D05E22E3-BAA7-0F0E-ACAF-A68FF51E1A8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68300" y="676275"/>
            <a:ext cx="6138863" cy="345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50691" name="Rectangle 3">
            <a:extLst>
              <a:ext uri="{FF2B5EF4-FFF2-40B4-BE49-F238E27FC236}">
                <a16:creationId xmlns:a16="http://schemas.microsoft.com/office/drawing/2014/main" id="{3F8DF685-DE4D-77F7-34AF-378F2EB2C3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6216" y="4355926"/>
            <a:ext cx="5081155" cy="412889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02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F264D-6041-6D80-13F1-B7DA74EB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801DDF8-9C20-8328-8553-F97590617F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A078E0-A010-43A0-A077-18A492927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650690" name="Rectangle 2">
            <a:extLst>
              <a:ext uri="{FF2B5EF4-FFF2-40B4-BE49-F238E27FC236}">
                <a16:creationId xmlns:a16="http://schemas.microsoft.com/office/drawing/2014/main" id="{C17F4C17-9D2F-B671-C0F6-7893013F0F5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68300" y="676275"/>
            <a:ext cx="6138863" cy="345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50691" name="Rectangle 3">
            <a:extLst>
              <a:ext uri="{FF2B5EF4-FFF2-40B4-BE49-F238E27FC236}">
                <a16:creationId xmlns:a16="http://schemas.microsoft.com/office/drawing/2014/main" id="{32B2FA7E-B076-8D06-F323-602D0B141C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6216" y="4355926"/>
            <a:ext cx="5081155" cy="412889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6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FDF15-9EF7-6143-4F59-6663AF5B5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DB04E8D-67A2-A476-4D11-093915F02F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A078E0-A010-43A0-A077-18A492927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650690" name="Rectangle 2">
            <a:extLst>
              <a:ext uri="{FF2B5EF4-FFF2-40B4-BE49-F238E27FC236}">
                <a16:creationId xmlns:a16="http://schemas.microsoft.com/office/drawing/2014/main" id="{9BF2EE08-DB77-4B2B-E8C5-5C3ED9C3358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68300" y="676275"/>
            <a:ext cx="6138863" cy="345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50691" name="Rectangle 3">
            <a:extLst>
              <a:ext uri="{FF2B5EF4-FFF2-40B4-BE49-F238E27FC236}">
                <a16:creationId xmlns:a16="http://schemas.microsoft.com/office/drawing/2014/main" id="{819ADF6A-1725-3FB0-2FE1-B1F18422E6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6216" y="4355926"/>
            <a:ext cx="5081155" cy="412889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23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A078E0-A010-43A0-A077-18A492927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6506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68300" y="676275"/>
            <a:ext cx="6138863" cy="345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506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6216" y="4355926"/>
            <a:ext cx="5081155" cy="412889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86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87EEE-0D35-E638-0B47-F79004721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B5C76F6-80FF-850D-1AD2-8217F02FBC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A078E0-A010-43A0-A077-18A4929270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650690" name="Rectangle 2">
            <a:extLst>
              <a:ext uri="{FF2B5EF4-FFF2-40B4-BE49-F238E27FC236}">
                <a16:creationId xmlns:a16="http://schemas.microsoft.com/office/drawing/2014/main" id="{FF41363D-47CC-5BBC-AEF4-D7940589161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68300" y="676275"/>
            <a:ext cx="6138863" cy="345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50691" name="Rectangle 3">
            <a:extLst>
              <a:ext uri="{FF2B5EF4-FFF2-40B4-BE49-F238E27FC236}">
                <a16:creationId xmlns:a16="http://schemas.microsoft.com/office/drawing/2014/main" id="{CCC9239D-9BF3-AB38-46CA-A7263B0748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6216" y="4355926"/>
            <a:ext cx="5081155" cy="412889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211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C073502-1D90-4FF0-A441-72FDD988CFAE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13C838-B236-4E84-BE6D-6903CA3DC5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1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5782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8FE66-87B2-ECCE-481C-C1112124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E23F7F9D-465E-1368-8FE8-CEE50F079C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13C838-B236-4E84-BE6D-6903CA3DC5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00B7D393-2BF0-0849-963D-9E50C1E3D4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6EAB8ED6-1414-5165-8504-32626944C3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1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1818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CBEE7-2305-77A0-50EA-89D5FD66C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F08B890-3D23-CF56-D6F9-F3C5516B0C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6BBF3E-65EA-9540-AB63-D0474745D794}" type="slidenum">
              <a:rPr lang="en-US">
                <a:solidFill>
                  <a:srgbClr val="000000"/>
                </a:solidFill>
              </a:rPr>
              <a:pPr>
                <a:defRPr/>
              </a:pPr>
              <a:t>24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198082" name="Rectangle 2">
            <a:extLst>
              <a:ext uri="{FF2B5EF4-FFF2-40B4-BE49-F238E27FC236}">
                <a16:creationId xmlns:a16="http://schemas.microsoft.com/office/drawing/2014/main" id="{61BA3759-74FF-4D66-8F7B-AE1CA9E91D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98083" name="Rectangle 3">
            <a:extLst>
              <a:ext uri="{FF2B5EF4-FFF2-40B4-BE49-F238E27FC236}">
                <a16:creationId xmlns:a16="http://schemas.microsoft.com/office/drawing/2014/main" id="{416EB4B1-031E-9422-EC12-EB406B6746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51389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Rectangle 7">
            <a:extLst>
              <a:ext uri="{FF2B5EF4-FFF2-40B4-BE49-F238E27FC236}">
                <a16:creationId xmlns:a16="http://schemas.microsoft.com/office/drawing/2014/main" id="{9BF066AF-38FB-A24B-BAFC-29F094F475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9ED0AE-C6F5-1847-9082-DD85DA9F6A0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154" name="Rectangle 2">
            <a:extLst>
              <a:ext uri="{FF2B5EF4-FFF2-40B4-BE49-F238E27FC236}">
                <a16:creationId xmlns:a16="http://schemas.microsoft.com/office/drawing/2014/main" id="{49640C15-21AF-2A44-9639-48256939BA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1637379" name="Rectangle 3">
            <a:extLst>
              <a:ext uri="{FF2B5EF4-FFF2-40B4-BE49-F238E27FC236}">
                <a16:creationId xmlns:a16="http://schemas.microsoft.com/office/drawing/2014/main" id="{D261573A-D11A-8F43-8A2F-7A1F45C3A0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85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13C838-B236-4E84-BE6D-6903CA3DC5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1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9812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13C838-B236-4E84-BE6D-6903CA3DC5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1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021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34C8-326F-F499-D238-14581905E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CF9A9BA1-A6E5-B8C1-6037-8B888348E1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13C838-B236-4E84-BE6D-6903CA3DC5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AA36A0FE-040A-45D9-766E-536DE54B41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FCA49AD2-1BC5-5F76-0629-AEFE43D083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1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453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992D39-FA32-4E0D-B682-6A513C5F6A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2931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2A524-A8DA-4ED6-AD53-21D3A62A44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98667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4FAE8-7C9F-401D-9570-A23935EF6C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5113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AC3F8A-2C24-49B1-9568-92219D442A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0197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BE75F-EF91-4D56-85F1-D2E7E204DF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1873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AC7EBE-C505-4456-B8D9-00DFA8250A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3699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B94A5A-C6C2-4F0E-8E83-A64D361CDF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2951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144670-AC3D-4A78-A9F9-F2294F3309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3602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433FCD-80E0-48A6-BC94-FDDE3AA3AD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06832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A7D08A-4626-4C5D-85E4-8D6693E346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944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355DE5-7604-45C9-9BB2-ADB5A68876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95639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D98E2-3CC8-214C-BE4F-84E8594F1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E5375-4565-6449-B498-E857A13BA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D12A5-703A-444B-A792-A497D7E55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5C7DF935-4B69-3548-AD6B-9FABCD82A0C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40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AC6DF-2034-A84B-8752-135CA00BB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ED06D-3679-994C-A2C6-4B1AA00EB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1EB9-8309-3E48-9490-58BC194E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0466D71F-D861-5A4A-A491-22F33F0CE3B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51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E7133-F437-BF48-9B40-ACE1AED9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7F43A-823B-C74B-8C9E-70A313920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5CF62-87EC-874D-B197-56D2A18E0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8D3C35C5-AB85-924A-818C-8406A92FFE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507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E3CCE-7AB6-3544-985B-FA585E6D9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98A6D-B9CD-6B45-B4E3-DBD3B98F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F723A-BAC0-C14D-8FA8-B8B8AD5C8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7538654D-6DD5-7C49-AEF9-38876044C6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84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70C0E6-3AE7-A44A-8E1D-D5879DE0A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5E2283-B823-C74D-BB83-BA4852934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2DFCA-5C8D-D543-AB55-3BDFD685B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79130AD8-88E9-9E44-A993-F74BC96D23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209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7550DF-F31E-A040-A957-2972314E6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2A398-05B6-D548-8F57-98D985A77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EDAFA6-642B-584C-A204-6BA8FD95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3D5B3660-7A9E-3F4E-B6E3-4F1AF381AE5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89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821CC-C717-FF49-B7B2-863F18054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12FBBB-5552-F841-83C3-B9EDFFEC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8D2B4-CD5D-9B4C-8B43-21D340B92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E67F433C-0881-024A-ABB5-5AAF8F91626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409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C8CC8-516C-E24A-89C5-F30CAE066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63177-CEAE-1344-A251-877AF4E91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C6CE1-DB41-3C45-BC2A-570810D3F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4F8F9252-FFD5-BA48-A305-CFF323F3A0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428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05398-AF77-894C-8FFE-02CA36F56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C31E1-E62D-B945-BD57-42823754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C6693-22C5-C54A-8411-E22EA2ECA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280A2E71-F2F6-D84D-8824-97AC0044C8C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193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4D30A-CBAB-3048-B13A-CD550F720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5B6AE-A8A8-8544-8E11-B870585AB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DD59D-536D-B34B-AEFF-78C760767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1ED6CEBB-F4BC-ED43-811A-38FB1114DCB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70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5E923-E7A9-8447-A6CD-D352DEC0A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FD611-C123-3342-898A-A67CC22D5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11B73-DFEB-1148-90B8-77D6C281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DB5D53DB-30DA-1A40-B6D3-116B3403F24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747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A6B01-ACA6-B74C-A753-1A2A12C78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5972C-1B89-714D-9625-258727121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52C8F-0719-C04F-9E13-93F19700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9DE69674-2FE6-EA4F-B867-F00050AA29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8741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31420-1E29-4D43-B147-AF7608E97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C3EF2-D9A4-CA4A-8362-4B1FACB6E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29290-71A3-A94F-BFB5-583306F9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6A1233D9-5691-CB42-91CC-A1DF9C464B2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045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59B11-8E7E-9848-86DE-5E56CDF82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E2749-164B-594C-B598-EE6C0E27D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23391-1C06-E64F-B335-C7D1846E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F10177CE-A904-974E-9298-4BD89227FF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206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C4C0-1E74-5941-8ECB-775DF81DA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52C48-DAAE-0741-8496-2B44559C9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8546A-0820-8344-8FF0-3DF961553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3B59325D-AD2D-4C49-B90E-D6A8911114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741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D4DB4-2E18-4A44-A3FD-99F0E8DA2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A6B8F-CAE2-314A-B98C-5ED0F114D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D765D-E120-C340-8FA7-855FAFF30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131724F5-8513-274C-B84B-5F9BE369638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495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85B948-5AFC-9C41-A808-C6589828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38CAEC-FC80-D748-932F-97BEEFA92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F82A6-4B7D-5E4E-A985-C23CBA207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201941DE-F42A-E74B-9E34-8DEC706D313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418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B2FF12-7DD1-1B4E-A459-66D61A170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A44AB-BBED-864B-A780-9BD5BCF0B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BFF11-64FD-6E43-97E6-12588E46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9AE64EED-CB3C-5747-A653-2BAC749D87B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567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8B77BC-EDCA-734C-BC91-89AAEABE8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D8D1B5-1261-964B-AFFC-7DA3937B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91137-0520-8148-BBCA-CAA3A69A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23021C6E-1864-134B-87C4-2A84B71A2D8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203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DA632-DA7D-454F-9150-0F5AABC7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B8A89-6837-5B4C-A577-51D8A1384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69CC4-74AF-8440-9444-504E255BD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976F12E6-6FC5-FA4F-BD8F-0A2758992D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454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AF8B3-DB92-2A4E-8D1A-80D58A6A1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F7A93-1D91-EC43-895E-E2CD73042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E79E0-A81A-7641-985E-333B32E54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0E0689EF-3D34-BC43-97BD-F5591904B1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641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6CB27-E0A4-6441-9510-E6DFB05F9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4087C-A44B-084D-A87A-F3F4A4968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E8AD4-C4F0-784E-9FE8-56CCBBD9E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7C2ABC24-4F0C-4B49-80DC-A9E90890FF6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3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D5B14-B299-3348-8DF0-489B43AE8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48F78-8B71-B74D-9752-5143CD6B6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E64C9-D846-1C48-8F20-E5E086B0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D6C394D7-DD0C-2741-9F3F-9B70213B75D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9302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2E3CC-7992-0443-877D-FCF8D4499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F53F6-DA12-3C40-8E87-EAE37814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57948-AAD7-6B47-B73B-3124851B1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52E8B840-393E-1F44-ACDC-34EA6DCB8C3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494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9144000" cy="5143500"/>
            <a:chOff x="0" y="0"/>
            <a:chExt cx="5760" cy="4320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white">
            <a:xfrm>
              <a:off x="0" y="720"/>
              <a:ext cx="5760" cy="864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solidFill>
                  <a:srgbClr val="EAE8E2"/>
                </a:solidFill>
                <a:ea typeface="ＭＳ Ｐゴシック" panose="020B0600070205080204" pitchFamily="34" charset="-128"/>
              </a:endParaRPr>
            </a:p>
          </p:txBody>
        </p:sp>
        <p:sp>
          <p:nvSpPr>
            <p:cNvPr id="6" name="Rectangle 3"/>
            <p:cNvSpPr>
              <a:spLocks noChangeArrowheads="1"/>
            </p:cNvSpPr>
            <p:nvPr/>
          </p:nvSpPr>
          <p:spPr bwMode="white">
            <a:xfrm>
              <a:off x="0" y="4080"/>
              <a:ext cx="5760" cy="24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solidFill>
                  <a:srgbClr val="EAE8E2"/>
                </a:solidFill>
                <a:ea typeface="ＭＳ Ｐゴシック" panose="020B0600070205080204" pitchFamily="34" charset="-128"/>
              </a:endParaRPr>
            </a:p>
          </p:txBody>
        </p:sp>
        <p:pic>
          <p:nvPicPr>
            <p:cNvPr id="7" name="Picture 11" descr="URBBANND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24" t="8493" r="35922"/>
            <a:stretch>
              <a:fillRect/>
            </a:stretch>
          </p:blipFill>
          <p:spPr bwMode="ltGray">
            <a:xfrm>
              <a:off x="0" y="0"/>
              <a:ext cx="5760" cy="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79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828800"/>
            <a:ext cx="77724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71800"/>
            <a:ext cx="6400800" cy="131445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7764D1-D277-4B53-928D-33BE300A174D}" type="slidenum">
              <a:rPr lang="en-US">
                <a:solidFill>
                  <a:srgbClr val="EAE8E2"/>
                </a:solidFill>
                <a:latin typeface="Arial Narrow"/>
              </a:rPr>
              <a:pPr>
                <a:defRPr/>
              </a:pPr>
              <a:t>‹#›</a:t>
            </a:fld>
            <a:endParaRPr lang="en-US">
              <a:solidFill>
                <a:srgbClr val="EAE8E2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955204194"/>
      </p:ext>
    </p:extLst>
  </p:cSld>
  <p:clrMapOvr>
    <a:masterClrMapping/>
  </p:clrMapOvr>
  <p:transition>
    <p:push dir="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2C53F-398E-4B90-84D3-727200C5605E}" type="slidenum">
              <a:rPr lang="en-US">
                <a:solidFill>
                  <a:srgbClr val="EAE8E2"/>
                </a:solidFill>
                <a:latin typeface="Arial Narrow"/>
              </a:rPr>
              <a:pPr>
                <a:defRPr/>
              </a:pPr>
              <a:t>‹#›</a:t>
            </a:fld>
            <a:endParaRPr lang="en-US">
              <a:solidFill>
                <a:srgbClr val="EAE8E2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284886195"/>
      </p:ext>
    </p:extLst>
  </p:cSld>
  <p:clrMapOvr>
    <a:masterClrMapping/>
  </p:clrMapOvr>
  <p:transition>
    <p:push dir="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7D975-65CD-4A04-8941-F3E785B80C56}" type="slidenum">
              <a:rPr lang="en-US">
                <a:solidFill>
                  <a:srgbClr val="EAE8E2"/>
                </a:solidFill>
                <a:latin typeface="Arial Narrow"/>
              </a:rPr>
              <a:pPr>
                <a:defRPr/>
              </a:pPr>
              <a:t>‹#›</a:t>
            </a:fld>
            <a:endParaRPr lang="en-US">
              <a:solidFill>
                <a:srgbClr val="EAE8E2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002345711"/>
      </p:ext>
    </p:extLst>
  </p:cSld>
  <p:clrMapOvr>
    <a:masterClrMapping/>
  </p:clrMapOvr>
  <p:transition>
    <p:push dir="u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4E2F1-C50D-4714-989F-F0C44DF31DD3}" type="slidenum">
              <a:rPr lang="en-US">
                <a:solidFill>
                  <a:srgbClr val="EAE8E2"/>
                </a:solidFill>
                <a:latin typeface="Arial Narrow"/>
              </a:rPr>
              <a:pPr>
                <a:defRPr/>
              </a:pPr>
              <a:t>‹#›</a:t>
            </a:fld>
            <a:endParaRPr lang="en-US">
              <a:solidFill>
                <a:srgbClr val="EAE8E2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057289205"/>
      </p:ext>
    </p:extLst>
  </p:cSld>
  <p:clrMapOvr>
    <a:masterClrMapping/>
  </p:clrMapOvr>
  <p:transition>
    <p:push dir="u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A6235C-1A2D-423B-91D8-3936F7C2B4CF}" type="slidenum">
              <a:rPr lang="en-US">
                <a:solidFill>
                  <a:srgbClr val="EAE8E2"/>
                </a:solidFill>
                <a:latin typeface="Arial Narrow"/>
              </a:rPr>
              <a:pPr>
                <a:defRPr/>
              </a:pPr>
              <a:t>‹#›</a:t>
            </a:fld>
            <a:endParaRPr lang="en-US">
              <a:solidFill>
                <a:srgbClr val="EAE8E2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162376679"/>
      </p:ext>
    </p:extLst>
  </p:cSld>
  <p:clrMapOvr>
    <a:masterClrMapping/>
  </p:clrMapOvr>
  <p:transition>
    <p:push dir="u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E1B089-EAC7-4838-BBF0-30F11D4DF5DA}" type="slidenum">
              <a:rPr lang="en-US">
                <a:solidFill>
                  <a:srgbClr val="EAE8E2"/>
                </a:solidFill>
                <a:latin typeface="Arial Narrow"/>
              </a:rPr>
              <a:pPr>
                <a:defRPr/>
              </a:pPr>
              <a:t>‹#›</a:t>
            </a:fld>
            <a:endParaRPr lang="en-US">
              <a:solidFill>
                <a:srgbClr val="EAE8E2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110426915"/>
      </p:ext>
    </p:extLst>
  </p:cSld>
  <p:clrMapOvr>
    <a:masterClrMapping/>
  </p:clrMapOvr>
  <p:transition>
    <p:push dir="u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846262-8014-4081-902E-3F6DDF885C4E}" type="slidenum">
              <a:rPr lang="en-US">
                <a:solidFill>
                  <a:srgbClr val="EAE8E2"/>
                </a:solidFill>
                <a:latin typeface="Arial Narrow"/>
              </a:rPr>
              <a:pPr>
                <a:defRPr/>
              </a:pPr>
              <a:t>‹#›</a:t>
            </a:fld>
            <a:endParaRPr lang="en-US">
              <a:solidFill>
                <a:srgbClr val="EAE8E2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337854871"/>
      </p:ext>
    </p:extLst>
  </p:cSld>
  <p:clrMapOvr>
    <a:masterClrMapping/>
  </p:clrMapOvr>
  <p:transition>
    <p:push dir="u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5EFF58-4C20-464C-ABE7-D87A84B8549E}" type="slidenum">
              <a:rPr lang="en-US">
                <a:solidFill>
                  <a:srgbClr val="EAE8E2"/>
                </a:solidFill>
                <a:latin typeface="Arial Narrow"/>
              </a:rPr>
              <a:pPr>
                <a:defRPr/>
              </a:pPr>
              <a:t>‹#›</a:t>
            </a:fld>
            <a:endParaRPr lang="en-US">
              <a:solidFill>
                <a:srgbClr val="EAE8E2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087179942"/>
      </p:ext>
    </p:extLst>
  </p:cSld>
  <p:clrMapOvr>
    <a:masterClrMapping/>
  </p:clrMapOvr>
  <p:transition>
    <p:push dir="u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888DEE-A74B-4361-BF11-551D8D340DA4}" type="slidenum">
              <a:rPr lang="en-US">
                <a:solidFill>
                  <a:srgbClr val="EAE8E2"/>
                </a:solidFill>
                <a:latin typeface="Arial Narrow"/>
              </a:rPr>
              <a:pPr>
                <a:defRPr/>
              </a:pPr>
              <a:t>‹#›</a:t>
            </a:fld>
            <a:endParaRPr lang="en-US">
              <a:solidFill>
                <a:srgbClr val="EAE8E2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821563732"/>
      </p:ext>
    </p:extLst>
  </p:cSld>
  <p:clrMapOvr>
    <a:masterClrMapping/>
  </p:clrMapOvr>
  <p:transition>
    <p:push dir="u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4D4D97-2F02-4EF0-AAE6-54E56587AC46}" type="slidenum">
              <a:rPr lang="en-US">
                <a:solidFill>
                  <a:srgbClr val="EAE8E2"/>
                </a:solidFill>
                <a:latin typeface="Arial Narrow"/>
              </a:rPr>
              <a:pPr>
                <a:defRPr/>
              </a:pPr>
              <a:t>‹#›</a:t>
            </a:fld>
            <a:endParaRPr lang="en-US">
              <a:solidFill>
                <a:srgbClr val="EAE8E2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5144091"/>
      </p:ext>
    </p:extLst>
  </p:cSld>
  <p:clrMapOvr>
    <a:masterClrMapping/>
  </p:clrMapOvr>
  <p:transition>
    <p:push dir="u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00050"/>
            <a:ext cx="1943100" cy="4171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0050"/>
            <a:ext cx="5676900" cy="4171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2AF69D-13AD-4665-8047-F807A4B92C12}" type="slidenum">
              <a:rPr lang="en-US">
                <a:solidFill>
                  <a:srgbClr val="EAE8E2"/>
                </a:solidFill>
                <a:latin typeface="Arial Narrow"/>
              </a:rPr>
              <a:pPr>
                <a:defRPr/>
              </a:pPr>
              <a:t>‹#›</a:t>
            </a:fld>
            <a:endParaRPr lang="en-US">
              <a:solidFill>
                <a:srgbClr val="EAE8E2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052490326"/>
      </p:ext>
    </p:extLst>
  </p:cSld>
  <p:clrMapOvr>
    <a:masterClrMapping/>
  </p:clrMapOvr>
  <p:transition>
    <p:push dir="u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0005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EFEF3-66ED-4C49-8B9F-BB15B16D06A5}" type="slidenum">
              <a:rPr lang="en-US">
                <a:solidFill>
                  <a:srgbClr val="EAE8E2"/>
                </a:solidFill>
                <a:latin typeface="Arial Narrow"/>
              </a:rPr>
              <a:pPr>
                <a:defRPr/>
              </a:pPr>
              <a:t>‹#›</a:t>
            </a:fld>
            <a:endParaRPr lang="en-US">
              <a:solidFill>
                <a:srgbClr val="EAE8E2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306600264"/>
      </p:ext>
    </p:extLst>
  </p:cSld>
  <p:clrMapOvr>
    <a:masterClrMapping/>
  </p:clrMapOvr>
  <p:transition>
    <p:push dir="u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0005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5DBA9-D674-4364-BE5D-2A8A2B67ACA5}" type="slidenum">
              <a:rPr lang="en-US">
                <a:solidFill>
                  <a:srgbClr val="EAE8E2"/>
                </a:solidFill>
                <a:latin typeface="Arial Narrow"/>
              </a:rPr>
              <a:pPr>
                <a:defRPr/>
              </a:pPr>
              <a:t>‹#›</a:t>
            </a:fld>
            <a:endParaRPr lang="en-US">
              <a:solidFill>
                <a:srgbClr val="EAE8E2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655128022"/>
      </p:ext>
    </p:extLst>
  </p:cSld>
  <p:clrMapOvr>
    <a:masterClrMapping/>
  </p:clrMapOvr>
  <p:transition>
    <p:push dir="u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0005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5FF5EB-7150-4F1C-8AF2-634EE6BB5504}" type="slidenum">
              <a:rPr lang="en-US">
                <a:solidFill>
                  <a:srgbClr val="EAE8E2"/>
                </a:solidFill>
                <a:latin typeface="Arial Narrow"/>
              </a:rPr>
              <a:pPr>
                <a:defRPr/>
              </a:pPr>
              <a:t>‹#›</a:t>
            </a:fld>
            <a:endParaRPr lang="en-US">
              <a:solidFill>
                <a:srgbClr val="EAE8E2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38188187"/>
      </p:ext>
    </p:extLst>
  </p:cSld>
  <p:clrMapOvr>
    <a:masterClrMapping/>
  </p:clrMapOvr>
  <p:transition>
    <p:push dir="u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087441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639322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vert="horz"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73090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 vert="horz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 vert="horz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707722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 vert="horz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 vert="horz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13212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00321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797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vert="horz"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64066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vert="horz"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719537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79060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22308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05979"/>
            <a:ext cx="8229600" cy="4388644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4860853"/>
      </p:ext>
    </p:extLst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1A4EC14-6F78-C44F-940D-9EE8CB231C5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772841"/>
            <a:ext cx="8153400" cy="1200150"/>
            <a:chOff x="288" y="1489"/>
            <a:chExt cx="5136" cy="1008"/>
          </a:xfrm>
        </p:grpSpPr>
        <p:sp>
          <p:nvSpPr>
            <p:cNvPr id="5" name="Arc 3">
              <a:extLst>
                <a:ext uri="{FF2B5EF4-FFF2-40B4-BE49-F238E27FC236}">
                  <a16:creationId xmlns:a16="http://schemas.microsoft.com/office/drawing/2014/main" id="{9473E776-DBA6-934B-B5AE-B5802C1EBAE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595" y="1489"/>
              <a:ext cx="1829" cy="1008"/>
            </a:xfrm>
            <a:custGeom>
              <a:avLst/>
              <a:gdLst>
                <a:gd name="T0" fmla="*/ 0 w 21912"/>
                <a:gd name="T1" fmla="*/ 0 h 43200"/>
                <a:gd name="T2" fmla="*/ 0 w 21912"/>
                <a:gd name="T3" fmla="*/ 0 h 43200"/>
                <a:gd name="T4" fmla="*/ 0 w 21912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912" h="43200" fill="none" extrusionOk="0">
                  <a:moveTo>
                    <a:pt x="300" y="0"/>
                  </a:moveTo>
                  <a:cubicBezTo>
                    <a:pt x="304" y="0"/>
                    <a:pt x="308" y="-1"/>
                    <a:pt x="312" y="-1"/>
                  </a:cubicBezTo>
                  <a:cubicBezTo>
                    <a:pt x="12241" y="0"/>
                    <a:pt x="21912" y="9670"/>
                    <a:pt x="21912" y="21600"/>
                  </a:cubicBezTo>
                  <a:cubicBezTo>
                    <a:pt x="21912" y="33529"/>
                    <a:pt x="12241" y="43200"/>
                    <a:pt x="312" y="43200"/>
                  </a:cubicBezTo>
                  <a:cubicBezTo>
                    <a:pt x="207" y="43199"/>
                    <a:pt x="103" y="43199"/>
                    <a:pt x="0" y="43197"/>
                  </a:cubicBezTo>
                </a:path>
                <a:path w="21912" h="43200" stroke="0" extrusionOk="0">
                  <a:moveTo>
                    <a:pt x="300" y="0"/>
                  </a:moveTo>
                  <a:cubicBezTo>
                    <a:pt x="304" y="0"/>
                    <a:pt x="308" y="-1"/>
                    <a:pt x="312" y="-1"/>
                  </a:cubicBezTo>
                  <a:cubicBezTo>
                    <a:pt x="12241" y="0"/>
                    <a:pt x="21912" y="9670"/>
                    <a:pt x="21912" y="21600"/>
                  </a:cubicBezTo>
                  <a:cubicBezTo>
                    <a:pt x="21912" y="33529"/>
                    <a:pt x="12241" y="43200"/>
                    <a:pt x="312" y="43200"/>
                  </a:cubicBezTo>
                  <a:cubicBezTo>
                    <a:pt x="207" y="43199"/>
                    <a:pt x="103" y="43199"/>
                    <a:pt x="0" y="43197"/>
                  </a:cubicBezTo>
                  <a:lnTo>
                    <a:pt x="312" y="21600"/>
                  </a:lnTo>
                  <a:lnTo>
                    <a:pt x="3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6633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Arc 4">
              <a:extLst>
                <a:ext uri="{FF2B5EF4-FFF2-40B4-BE49-F238E27FC236}">
                  <a16:creationId xmlns:a16="http://schemas.microsoft.com/office/drawing/2014/main" id="{A0F76507-8C3C-7142-B8DB-5D2B36BDFEF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548" y="1593"/>
              <a:ext cx="1831" cy="800"/>
            </a:xfrm>
            <a:custGeom>
              <a:avLst/>
              <a:gdLst>
                <a:gd name="T0" fmla="*/ 0 w 21924"/>
                <a:gd name="T1" fmla="*/ 0 h 43200"/>
                <a:gd name="T2" fmla="*/ 0 w 21924"/>
                <a:gd name="T3" fmla="*/ 0 h 43200"/>
                <a:gd name="T4" fmla="*/ 0 w 21924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924" h="43200" fill="none" extrusionOk="0">
                  <a:moveTo>
                    <a:pt x="312" y="0"/>
                  </a:moveTo>
                  <a:cubicBezTo>
                    <a:pt x="316" y="0"/>
                    <a:pt x="320" y="-1"/>
                    <a:pt x="324" y="-1"/>
                  </a:cubicBezTo>
                  <a:cubicBezTo>
                    <a:pt x="12253" y="0"/>
                    <a:pt x="21924" y="9670"/>
                    <a:pt x="21924" y="21600"/>
                  </a:cubicBezTo>
                  <a:cubicBezTo>
                    <a:pt x="21924" y="33529"/>
                    <a:pt x="12253" y="43200"/>
                    <a:pt x="324" y="43200"/>
                  </a:cubicBezTo>
                  <a:cubicBezTo>
                    <a:pt x="215" y="43199"/>
                    <a:pt x="107" y="43199"/>
                    <a:pt x="0" y="43197"/>
                  </a:cubicBezTo>
                </a:path>
                <a:path w="21924" h="43200" stroke="0" extrusionOk="0">
                  <a:moveTo>
                    <a:pt x="312" y="0"/>
                  </a:moveTo>
                  <a:cubicBezTo>
                    <a:pt x="316" y="0"/>
                    <a:pt x="320" y="-1"/>
                    <a:pt x="324" y="-1"/>
                  </a:cubicBezTo>
                  <a:cubicBezTo>
                    <a:pt x="12253" y="0"/>
                    <a:pt x="21924" y="9670"/>
                    <a:pt x="21924" y="21600"/>
                  </a:cubicBezTo>
                  <a:cubicBezTo>
                    <a:pt x="21924" y="33529"/>
                    <a:pt x="12253" y="43200"/>
                    <a:pt x="324" y="43200"/>
                  </a:cubicBezTo>
                  <a:cubicBezTo>
                    <a:pt x="215" y="43199"/>
                    <a:pt x="107" y="43199"/>
                    <a:pt x="0" y="43197"/>
                  </a:cubicBezTo>
                  <a:lnTo>
                    <a:pt x="324" y="21600"/>
                  </a:lnTo>
                  <a:lnTo>
                    <a:pt x="31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8944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Arc 5">
              <a:extLst>
                <a:ext uri="{FF2B5EF4-FFF2-40B4-BE49-F238E27FC236}">
                  <a16:creationId xmlns:a16="http://schemas.microsoft.com/office/drawing/2014/main" id="{9180DBE6-25A3-3947-A79C-B448793612E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521" y="1732"/>
              <a:ext cx="1830" cy="522"/>
            </a:xfrm>
            <a:custGeom>
              <a:avLst/>
              <a:gdLst>
                <a:gd name="T0" fmla="*/ 0 w 21925"/>
                <a:gd name="T1" fmla="*/ 0 h 43200"/>
                <a:gd name="T2" fmla="*/ 0 w 21925"/>
                <a:gd name="T3" fmla="*/ 0 h 43200"/>
                <a:gd name="T4" fmla="*/ 0 w 21925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925" h="43200" fill="none" extrusionOk="0">
                  <a:moveTo>
                    <a:pt x="313" y="0"/>
                  </a:moveTo>
                  <a:cubicBezTo>
                    <a:pt x="317" y="0"/>
                    <a:pt x="321" y="-1"/>
                    <a:pt x="325" y="-1"/>
                  </a:cubicBezTo>
                  <a:cubicBezTo>
                    <a:pt x="12254" y="0"/>
                    <a:pt x="21925" y="9670"/>
                    <a:pt x="21925" y="21600"/>
                  </a:cubicBezTo>
                  <a:cubicBezTo>
                    <a:pt x="21925" y="33529"/>
                    <a:pt x="12254" y="43200"/>
                    <a:pt x="325" y="43200"/>
                  </a:cubicBezTo>
                  <a:cubicBezTo>
                    <a:pt x="216" y="43199"/>
                    <a:pt x="108" y="43199"/>
                    <a:pt x="0" y="43197"/>
                  </a:cubicBezTo>
                </a:path>
                <a:path w="21925" h="43200" stroke="0" extrusionOk="0">
                  <a:moveTo>
                    <a:pt x="313" y="0"/>
                  </a:moveTo>
                  <a:cubicBezTo>
                    <a:pt x="317" y="0"/>
                    <a:pt x="321" y="-1"/>
                    <a:pt x="325" y="-1"/>
                  </a:cubicBezTo>
                  <a:cubicBezTo>
                    <a:pt x="12254" y="0"/>
                    <a:pt x="21925" y="9670"/>
                    <a:pt x="21925" y="21600"/>
                  </a:cubicBezTo>
                  <a:cubicBezTo>
                    <a:pt x="21925" y="33529"/>
                    <a:pt x="12254" y="43200"/>
                    <a:pt x="325" y="43200"/>
                  </a:cubicBezTo>
                  <a:cubicBezTo>
                    <a:pt x="216" y="43199"/>
                    <a:pt x="108" y="43199"/>
                    <a:pt x="0" y="43197"/>
                  </a:cubicBezTo>
                  <a:lnTo>
                    <a:pt x="325" y="21600"/>
                  </a:lnTo>
                  <a:lnTo>
                    <a:pt x="313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B75B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F16DBCDA-2424-C843-9B28-91BDA4A08D89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88" y="1940"/>
              <a:ext cx="4988" cy="104"/>
            </a:xfrm>
            <a:prstGeom prst="roundRect">
              <a:avLst>
                <a:gd name="adj" fmla="val 49995"/>
              </a:avLst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 sz="1350"/>
            </a:p>
          </p:txBody>
        </p:sp>
      </p:grpSp>
      <p:sp>
        <p:nvSpPr>
          <p:cNvPr id="6151" name="Rectangle 7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685800" y="1085850"/>
            <a:ext cx="7772400" cy="857250"/>
          </a:xfrm>
          <a:prstGeom prst="rect">
            <a:avLst/>
          </a:prstGeom>
          <a:noFill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6152" name="Rectangle 8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1371600" y="2800350"/>
            <a:ext cx="6400800" cy="1314450"/>
          </a:xfrm>
          <a:prstGeom prst="rect">
            <a:avLst/>
          </a:prstGeo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F918057F-D18D-9A4B-BBDE-8841F1A8420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4743450"/>
            <a:ext cx="1905000" cy="3429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050" b="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0FF40867-A4E9-4E4B-A07D-15E0A4F70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743450"/>
            <a:ext cx="2895600" cy="3429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050" b="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9B96BC45-6F1B-AB41-8F40-5D19DC6C04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4743450"/>
            <a:ext cx="1905000" cy="3429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05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CB79EA6-D0F8-BE4F-9753-A6B4C87C59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5737481"/>
      </p:ext>
    </p:extLst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035748"/>
      </p:ext>
    </p:extLst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vert="horz"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0067503"/>
      </p:ext>
    </p:extLst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 vert="horz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 vert="horz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0330896"/>
      </p:ext>
    </p:extLst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 vert="horz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 vert="horz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1222597"/>
      </p:ext>
    </p:extLst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1446679"/>
      </p:ext>
    </p:extLst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8361683"/>
      </p:ext>
    </p:extLst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vert="horz"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1467991"/>
      </p:ext>
    </p:extLst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vert="horz"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2621603"/>
      </p:ext>
    </p:extLst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5803597"/>
      </p:ext>
    </p:extLst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1389372"/>
      </p:ext>
    </p:extLst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05979"/>
            <a:ext cx="8229600" cy="4388644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5248354"/>
      </p:ext>
    </p:extLst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C126A4-8D7E-4CE0-8D74-755FFF5B035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22123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F0AA82-3855-4A2E-965F-6A7CE4416AB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10120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1A0F9D-4BEF-4639-B059-7403FAC9A7E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62202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611EB4-7C71-4D84-9755-3152549A6A3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20365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E8CB8D-585E-4E58-A014-068F442ACE96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8074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7087BC-FEA6-42A3-8337-8F62F22578C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76783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D913E4-8A7A-4D2B-A105-895CEA852AC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18475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6E62F5-CC5B-41BE-994B-4FE6FFA74CE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58699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E7C6E-1910-41E1-A33E-D5FE7376A03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47689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123BF-DC54-40B9-B27E-E42DE021496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85659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114ECB-D77C-41EC-BB96-26301D437AD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74247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fld id="{4E0EA992-590B-4A7E-8E22-33A7FA99E58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55831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F6C77-C689-E344-9548-5D2F819AC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85B9E-6457-B140-B047-4D85D5D74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DA63A-076C-AF4A-BB61-897ACA7D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FB9B3445-518C-0A4C-BCCC-D2E0401105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099819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E17F5-EF8F-F249-A1B3-AB63BBFAF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015BF-C549-384D-A255-00B9F3B58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7FFB8-F886-2943-BA88-0EF40952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C6589B41-0C97-7140-B56B-206C3175F0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396377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446BB-1456-BB43-B84C-CD6BDDF2F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B0C15-C1D2-CC4F-9DBB-DE86F964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514AC-5180-F340-A89B-8A42EB52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E31E662F-59D7-A946-AA46-F3879DFDBA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697158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5AA59-74BB-5249-AE67-CB74E8C2C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6C104-B51C-E64F-B552-8F9EDFC2B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05ACD-0150-644B-8DD4-4545F3DF3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50C7610F-5DAE-EA4B-83CC-7FF4EE67B1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566228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B1EBB3-F9DF-F14F-86E4-87D509605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7AEE6F-9295-1349-9278-F667F4032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4E742D-9374-4743-880A-8CB9F2675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1CC8EF7F-B862-934A-9E5E-E860EAC7FE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977480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BB8D34-B128-674F-90E5-53465DECF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91936-0EB4-2E40-85F0-644B5ADD6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BEE44-1FE4-ED4B-B440-4C231A5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03CBEEF6-8699-1842-A965-0D30913846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272925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7E28A4-8C6C-B748-8EEE-FED133A93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B8F6C2-3895-7C4B-BC9B-E32FA7BFA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A3108-4607-AE40-88AC-175E5FC0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7098AA62-0249-5F44-B23C-5742322965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806638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1F22D-C98C-C041-AE17-B740A8584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ADFC7-62F9-5842-A901-4D4B3CD9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8E657-B0F3-6747-80E0-CA120BEC8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1A24A058-1169-E842-9C9D-D6B18ECA51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34119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4BA2AD-699B-C648-8556-E5B9F7A0A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19FFA-3348-6849-B684-A1E79B65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7E90A-E53E-B341-A98D-A10717C6F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DB42DAD6-F9BD-1B4C-A866-300D359089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239946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99923-0CFF-3349-9FD1-B0F292C9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536BD-E034-2943-9843-4BE619E53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6BA6-1EC8-B443-95AA-532BF94A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E5123DEA-13EE-7D4E-B722-F397E11688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826148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B614-8163-B845-8013-356CD648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F1D4C-9C5E-1C42-8CF9-D7FFF86AD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486EE-580C-EE47-B461-C1589EA39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93733767-A920-3E4F-80ED-0A7D4DBA4E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63480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8C971-8659-F844-8AE1-F23827C05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9A5D1-ECF9-1D49-936D-20F6F5C79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 b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36EBF-E29E-BF46-A4C7-CA0C1082E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/>
            </a:lvl1pPr>
          </a:lstStyle>
          <a:p>
            <a:fld id="{9D42D423-5005-CE4E-8F9D-F229424824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738242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658681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939171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9188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3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5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83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8.xml"/><Relationship Id="rId7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7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5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8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99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0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0596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4914900"/>
            <a:ext cx="5562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59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/>
            </a:lvl1pPr>
          </a:lstStyle>
          <a:p>
            <a:pPr>
              <a:defRPr/>
            </a:pPr>
            <a:fld id="{E29A8C20-0295-4D43-B5BB-5D42105A56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2D2F4"/>
            </a:gs>
            <a:gs pos="100000">
              <a:srgbClr val="FADA86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34308" name="Rectangle 4">
            <a:extLst>
              <a:ext uri="{FF2B5EF4-FFF2-40B4-BE49-F238E27FC236}">
                <a16:creationId xmlns:a16="http://schemas.microsoft.com/office/drawing/2014/main" id="{73A07E8F-513E-2B4A-A66A-685A54F81C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50" b="0">
                <a:solidFill>
                  <a:srgbClr val="000000"/>
                </a:solidFill>
                <a:latin typeface="Times New Roman" pitchFamily="4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4309" name="Rectangle 5">
            <a:extLst>
              <a:ext uri="{FF2B5EF4-FFF2-40B4-BE49-F238E27FC236}">
                <a16:creationId xmlns:a16="http://schemas.microsoft.com/office/drawing/2014/main" id="{FEF29EE6-698A-614D-8317-7B6D7970BC5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 b="0">
                <a:solidFill>
                  <a:srgbClr val="000000"/>
                </a:solidFill>
                <a:latin typeface="Times New Roman" pitchFamily="4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4310" name="Rectangle 6">
            <a:extLst>
              <a:ext uri="{FF2B5EF4-FFF2-40B4-BE49-F238E27FC236}">
                <a16:creationId xmlns:a16="http://schemas.microsoft.com/office/drawing/2014/main" id="{05FA7566-D633-F846-919A-F7BA54BA68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50" b="0">
                <a:solidFill>
                  <a:srgbClr val="000000"/>
                </a:solidFill>
              </a:defRPr>
            </a:lvl1pPr>
          </a:lstStyle>
          <a:p>
            <a:fld id="{4F6FCA86-46D4-C04E-BAE0-916017FC61AC}" type="slidenum">
              <a:rPr lang="en-US" smtClean="0">
                <a:latin typeface="Times New Roman" charset="0"/>
                <a:ea typeface="ＭＳ Ｐゴシック" charset="0"/>
                <a:cs typeface="ＭＳ Ｐゴシック" charset="0"/>
              </a:rPr>
              <a:pPr/>
              <a:t>‹#›</a:t>
            </a:fld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1751" name="WordArt 7"/>
          <p:cNvSpPr>
            <a:spLocks noChangeArrowheads="1" noChangeShapeType="1" noTextEdit="1"/>
          </p:cNvSpPr>
          <p:nvPr userDrawn="1"/>
        </p:nvSpPr>
        <p:spPr bwMode="auto">
          <a:xfrm>
            <a:off x="76200" y="5029201"/>
            <a:ext cx="3048000" cy="78581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0"/>
              </a:avLst>
            </a:prstTxWarp>
          </a:bodyPr>
          <a:lstStyle/>
          <a:p>
            <a:pPr algn="ctr" eaLnBrk="0" hangingPunct="0"/>
            <a:r>
              <a:rPr lang="en-US" sz="12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© 2008 Pearson Education Inc, publishing as Pearson Addison-Wesley</a:t>
            </a:r>
          </a:p>
        </p:txBody>
      </p:sp>
    </p:spTree>
    <p:extLst>
      <p:ext uri="{BB962C8B-B14F-4D97-AF65-F5344CB8AC3E}">
        <p14:creationId xmlns:p14="http://schemas.microsoft.com/office/powerpoint/2010/main" val="2315378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  <p:sldLayoutId id="214748393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  <a:ea typeface="ＭＳ Ｐゴシック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  <a:ea typeface="ＭＳ Ｐゴシック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  <a:ea typeface="ＭＳ Ｐゴシック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  <a:ea typeface="ＭＳ Ｐゴシック" panose="020B0600070205080204" pitchFamily="34" charset="-128"/>
          <a:cs typeface="ＭＳ Ｐゴシック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ＭＳ Ｐゴシック" panose="020B0600070205080204" pitchFamily="34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2D2F4"/>
            </a:gs>
            <a:gs pos="100000">
              <a:srgbClr val="FADA86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34308" name="Rectangle 4">
            <a:extLst>
              <a:ext uri="{FF2B5EF4-FFF2-40B4-BE49-F238E27FC236}">
                <a16:creationId xmlns:a16="http://schemas.microsoft.com/office/drawing/2014/main" id="{80E2701D-7973-BD49-B46C-C0D5706AD4F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50" b="0">
                <a:solidFill>
                  <a:srgbClr val="000000"/>
                </a:solidFill>
                <a:latin typeface="Times New Roman" pitchFamily="4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4309" name="Rectangle 5">
            <a:extLst>
              <a:ext uri="{FF2B5EF4-FFF2-40B4-BE49-F238E27FC236}">
                <a16:creationId xmlns:a16="http://schemas.microsoft.com/office/drawing/2014/main" id="{A553E4A6-60B1-B74C-A8EF-F7E7CC49FF4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 b="0">
                <a:solidFill>
                  <a:srgbClr val="000000"/>
                </a:solidFill>
                <a:latin typeface="Times New Roman" pitchFamily="4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4310" name="Rectangle 6">
            <a:extLst>
              <a:ext uri="{FF2B5EF4-FFF2-40B4-BE49-F238E27FC236}">
                <a16:creationId xmlns:a16="http://schemas.microsoft.com/office/drawing/2014/main" id="{1C78596A-3753-E645-B770-8F9EDD258E4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50" b="0">
                <a:solidFill>
                  <a:srgbClr val="000000"/>
                </a:solidFill>
              </a:defRPr>
            </a:lvl1pPr>
          </a:lstStyle>
          <a:p>
            <a:fld id="{106367EF-462B-C64C-AEA7-6653A6A1F86A}" type="slidenum">
              <a:rPr lang="en-US" smtClean="0">
                <a:latin typeface="Times New Roman" charset="0"/>
                <a:ea typeface="ＭＳ Ｐゴシック" charset="0"/>
                <a:cs typeface="ＭＳ Ｐゴシック" charset="0"/>
              </a:rPr>
              <a:pPr/>
              <a:t>‹#›</a:t>
            </a:fld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5063" name="WordArt 7"/>
          <p:cNvSpPr>
            <a:spLocks noChangeArrowheads="1" noChangeShapeType="1" noTextEdit="1"/>
          </p:cNvSpPr>
          <p:nvPr userDrawn="1"/>
        </p:nvSpPr>
        <p:spPr bwMode="auto">
          <a:xfrm>
            <a:off x="76200" y="5029201"/>
            <a:ext cx="3048000" cy="78581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0"/>
              </a:avLst>
            </a:prstTxWarp>
          </a:bodyPr>
          <a:lstStyle/>
          <a:p>
            <a:pPr algn="ctr" eaLnBrk="0" hangingPunct="0"/>
            <a:r>
              <a:rPr lang="en-US" sz="12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© 2008 Pearson Education Inc, publishing as Pearson Addison-Wesley</a:t>
            </a:r>
          </a:p>
        </p:txBody>
      </p:sp>
    </p:spTree>
    <p:extLst>
      <p:ext uri="{BB962C8B-B14F-4D97-AF65-F5344CB8AC3E}">
        <p14:creationId xmlns:p14="http://schemas.microsoft.com/office/powerpoint/2010/main" val="1225631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  <p:sldLayoutId id="2147483934" r:id="rId2"/>
    <p:sldLayoutId id="2147483935" r:id="rId3"/>
    <p:sldLayoutId id="2147483936" r:id="rId4"/>
    <p:sldLayoutId id="2147483937" r:id="rId5"/>
    <p:sldLayoutId id="2147483938" r:id="rId6"/>
    <p:sldLayoutId id="2147483939" r:id="rId7"/>
    <p:sldLayoutId id="2147483940" r:id="rId8"/>
    <p:sldLayoutId id="2147483941" r:id="rId9"/>
    <p:sldLayoutId id="2147483942" r:id="rId10"/>
    <p:sldLayoutId id="2147483943" r:id="rId11"/>
    <p:sldLayoutId id="214748394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  <a:ea typeface="ＭＳ Ｐゴシック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  <a:ea typeface="ＭＳ Ｐゴシック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  <a:ea typeface="ＭＳ Ｐゴシック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  <a:ea typeface="ＭＳ Ｐゴシック" panose="020B0600070205080204" pitchFamily="34" charset="-128"/>
          <a:cs typeface="ＭＳ Ｐゴシック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ＭＳ Ｐゴシック" panose="020B0600070205080204" pitchFamily="34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14"/>
          <p:cNvGrpSpPr>
            <a:grpSpLocks/>
          </p:cNvGrpSpPr>
          <p:nvPr/>
        </p:nvGrpSpPr>
        <p:grpSpPr bwMode="auto">
          <a:xfrm>
            <a:off x="0" y="0"/>
            <a:ext cx="9144000" cy="5143500"/>
            <a:chOff x="0" y="0"/>
            <a:chExt cx="5760" cy="4320"/>
          </a:xfrm>
        </p:grpSpPr>
        <p:sp>
          <p:nvSpPr>
            <p:cNvPr id="22530" name="Rectangle 2"/>
            <p:cNvSpPr>
              <a:spLocks noChangeArrowheads="1"/>
            </p:cNvSpPr>
            <p:nvPr/>
          </p:nvSpPr>
          <p:spPr bwMode="white">
            <a:xfrm>
              <a:off x="0" y="0"/>
              <a:ext cx="5760" cy="120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solidFill>
                  <a:srgbClr val="EAE8E2"/>
                </a:solidFill>
                <a:ea typeface="ＭＳ Ｐゴシック" panose="020B0600070205080204" pitchFamily="34" charset="-128"/>
              </a:endParaRPr>
            </a:p>
          </p:txBody>
        </p:sp>
        <p:sp>
          <p:nvSpPr>
            <p:cNvPr id="22532" name="Rectangle 4"/>
            <p:cNvSpPr>
              <a:spLocks noChangeArrowheads="1"/>
            </p:cNvSpPr>
            <p:nvPr/>
          </p:nvSpPr>
          <p:spPr bwMode="white">
            <a:xfrm>
              <a:off x="0" y="4080"/>
              <a:ext cx="5760" cy="24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800">
                <a:solidFill>
                  <a:srgbClr val="EAE8E2"/>
                </a:solidFill>
                <a:ea typeface="ＭＳ Ｐゴシック" panose="020B0600070205080204" pitchFamily="34" charset="-128"/>
              </a:endParaRPr>
            </a:p>
          </p:txBody>
        </p:sp>
        <p:pic>
          <p:nvPicPr>
            <p:cNvPr id="13322" name="Picture 10" descr="URBBANND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6667"/>
            <a:stretch>
              <a:fillRect/>
            </a:stretch>
          </p:blipFill>
          <p:spPr bwMode="ltGray">
            <a:xfrm>
              <a:off x="0" y="0"/>
              <a:ext cx="57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53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0005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74345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50"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  <a:ea typeface="ＭＳ Ｐゴシック" panose="020B0600070205080204" pitchFamily="34" charset="-128"/>
            </a:endParaRPr>
          </a:p>
        </p:txBody>
      </p:sp>
      <p:sp>
        <p:nvSpPr>
          <p:cNvPr id="22536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4345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050"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srgbClr val="EAE8E2"/>
              </a:solidFill>
              <a:latin typeface="Arial Narrow"/>
              <a:ea typeface="ＭＳ Ｐゴシック" panose="020B0600070205080204" pitchFamily="34" charset="-128"/>
            </a:endParaRPr>
          </a:p>
        </p:txBody>
      </p:sp>
      <p:sp>
        <p:nvSpPr>
          <p:cNvPr id="2253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74345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50">
                <a:latin typeface="+mn-lt"/>
              </a:defRPr>
            </a:lvl1pPr>
          </a:lstStyle>
          <a:p>
            <a:pPr>
              <a:defRPr/>
            </a:pPr>
            <a:fld id="{1B3C9185-878F-41F2-877A-26E2F5D94862}" type="slidenum">
              <a:rPr lang="en-US">
                <a:solidFill>
                  <a:srgbClr val="EAE8E2"/>
                </a:solidFill>
                <a:latin typeface="Arial Narrow"/>
                <a:ea typeface="ＭＳ Ｐゴシック" panose="020B0600070205080204" pitchFamily="34" charset="-128"/>
              </a:rPr>
              <a:pPr>
                <a:defRPr/>
              </a:pPr>
              <a:t>‹#›</a:t>
            </a:fld>
            <a:endParaRPr lang="en-US">
              <a:solidFill>
                <a:srgbClr val="EAE8E2"/>
              </a:solidFill>
              <a:latin typeface="Arial Narrow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929391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  <p:sldLayoutId id="2147483971" r:id="rId12"/>
    <p:sldLayoutId id="2147483972" r:id="rId13"/>
    <p:sldLayoutId id="2147483973" r:id="rId14"/>
  </p:sldLayoutIdLst>
  <p:transition>
    <p:push dir="u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Impac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Impac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Impac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Impact" pitchFamily="34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Impact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Impact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Impact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Impact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Ü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7"/>
        </a:buBlip>
        <a:defRPr sz="21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w"/>
        <a:defRPr sz="1500">
          <a:solidFill>
            <a:schemeClr val="tx1"/>
          </a:solidFill>
          <a:latin typeface="+mn-lt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SzPct val="115000"/>
        <a:buBlip>
          <a:blip r:embed="rId17"/>
        </a:buBlip>
        <a:defRPr sz="1500">
          <a:solidFill>
            <a:schemeClr val="tx1"/>
          </a:solidFill>
          <a:latin typeface="+mn-lt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SzPct val="115000"/>
        <a:buBlip>
          <a:blip r:embed="rId17"/>
        </a:buBlip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SzPct val="115000"/>
        <a:buBlip>
          <a:blip r:embed="rId17"/>
        </a:buBlip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SzPct val="115000"/>
        <a:buBlip>
          <a:blip r:embed="rId17"/>
        </a:buBlip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SzPct val="115000"/>
        <a:buBlip>
          <a:blip r:embed="rId17"/>
        </a:buBlip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2000">
              <a:schemeClr val="tx1"/>
            </a:gs>
            <a:gs pos="47000">
              <a:srgbClr val="071634"/>
            </a:gs>
            <a:gs pos="100000">
              <a:schemeClr val="tx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055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  <p:sldLayoutId id="2147483983" r:id="rId2"/>
    <p:sldLayoutId id="2147483984" r:id="rId3"/>
    <p:sldLayoutId id="2147483985" r:id="rId4"/>
    <p:sldLayoutId id="2147483986" r:id="rId5"/>
    <p:sldLayoutId id="2147483987" r:id="rId6"/>
    <p:sldLayoutId id="2147483988" r:id="rId7"/>
    <p:sldLayoutId id="2147483989" r:id="rId8"/>
    <p:sldLayoutId id="2147483990" r:id="rId9"/>
    <p:sldLayoutId id="2147483991" r:id="rId10"/>
    <p:sldLayoutId id="2147483992" r:id="rId11"/>
    <p:sldLayoutId id="214748405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223D6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46947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  <p:sldLayoutId id="2147483997" r:id="rId4"/>
    <p:sldLayoutId id="2147483998" r:id="rId5"/>
    <p:sldLayoutId id="2147483999" r:id="rId6"/>
    <p:sldLayoutId id="2147484000" r:id="rId7"/>
    <p:sldLayoutId id="2147484001" r:id="rId8"/>
    <p:sldLayoutId id="2147484002" r:id="rId9"/>
    <p:sldLayoutId id="2147484003" r:id="rId10"/>
    <p:sldLayoutId id="2147484004" r:id="rId11"/>
    <p:sldLayoutId id="2147484005" r:id="rId12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5pPr>
      <a:lvl6pPr marL="342900" algn="r" rtl="0" eaLnBrk="0" fontAlgn="base" hangingPunct="0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charset="0"/>
          <a:ea typeface="ＭＳ Ｐゴシック" charset="0"/>
        </a:defRPr>
      </a:lvl6pPr>
      <a:lvl7pPr marL="685800" algn="r" rtl="0" eaLnBrk="0" fontAlgn="base" hangingPunct="0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charset="0"/>
          <a:ea typeface="ＭＳ Ｐゴシック" charset="0"/>
        </a:defRPr>
      </a:lvl7pPr>
      <a:lvl8pPr marL="1028700" algn="r" rtl="0" eaLnBrk="0" fontAlgn="base" hangingPunct="0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charset="0"/>
          <a:ea typeface="ＭＳ Ｐゴシック" charset="0"/>
        </a:defRPr>
      </a:lvl8pPr>
      <a:lvl9pPr marL="1371600" algn="r" rtl="0" eaLnBrk="0" fontAlgn="base" hangingPunct="0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charset="0"/>
          <a:ea typeface="ＭＳ Ｐゴシック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20000"/>
                <a:lumOff val="80000"/>
              </a:schemeClr>
            </a:gs>
            <a:gs pos="100000">
              <a:srgbClr val="FADA8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3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343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343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/>
            </a:lvl1pPr>
          </a:lstStyle>
          <a:p>
            <a:pPr eaLnBrk="1" hangingPunct="1"/>
            <a:endParaRPr lang="en-US">
              <a:solidFill>
                <a:srgbClr val="000000"/>
              </a:solidFill>
              <a:latin typeface="Times New Roman" pitchFamily="48" charset="0"/>
            </a:endParaRPr>
          </a:p>
        </p:txBody>
      </p:sp>
      <p:sp>
        <p:nvSpPr>
          <p:cNvPr id="16343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/>
            </a:lvl1pPr>
          </a:lstStyle>
          <a:p>
            <a:pPr eaLnBrk="1" hangingPunct="1"/>
            <a:endParaRPr lang="en-US">
              <a:solidFill>
                <a:srgbClr val="000000"/>
              </a:solidFill>
              <a:latin typeface="Times New Roman" pitchFamily="48" charset="0"/>
            </a:endParaRPr>
          </a:p>
        </p:txBody>
      </p:sp>
      <p:sp>
        <p:nvSpPr>
          <p:cNvPr id="16343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/>
            </a:lvl1pPr>
          </a:lstStyle>
          <a:p>
            <a:pPr eaLnBrk="1" hangingPunct="1"/>
            <a:fld id="{6EA01875-147A-4371-AAA4-DAD8D6104979}" type="slidenum">
              <a:rPr lang="en-US">
                <a:solidFill>
                  <a:srgbClr val="000000"/>
                </a:solidFill>
                <a:latin typeface="Times New Roman" pitchFamily="48" charset="0"/>
              </a:rPr>
              <a:pPr eaLnBrk="1" hangingPunct="1"/>
              <a:t>‹#›</a:t>
            </a:fld>
            <a:endParaRPr lang="en-US">
              <a:solidFill>
                <a:srgbClr val="000000"/>
              </a:solidFill>
              <a:latin typeface="Times New Roman" pitchFamily="48" charset="0"/>
            </a:endParaRPr>
          </a:p>
        </p:txBody>
      </p:sp>
      <p:sp>
        <p:nvSpPr>
          <p:cNvPr id="1634311" name="WordArt 7"/>
          <p:cNvSpPr>
            <a:spLocks noChangeArrowheads="1" noChangeShapeType="1" noTextEdit="1"/>
          </p:cNvSpPr>
          <p:nvPr userDrawn="1"/>
        </p:nvSpPr>
        <p:spPr bwMode="auto">
          <a:xfrm>
            <a:off x="76200" y="5029201"/>
            <a:ext cx="3048000" cy="78581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 xmlns="">
                <a:effectLst/>
              </a14:hiddenEffects>
            </a:ext>
          </a:extLst>
        </p:spPr>
        <p:txBody>
          <a:bodyPr wrap="none" fromWordArt="1">
            <a:prstTxWarp prst="textSlantUp">
              <a:avLst>
                <a:gd name="adj" fmla="val 0"/>
              </a:avLst>
            </a:prstTxWarp>
          </a:bodyPr>
          <a:lstStyle/>
          <a:p>
            <a:pPr algn="ctr" eaLnBrk="1" hangingPunct="1"/>
            <a:r>
              <a:rPr lang="en-US" sz="12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Times New Roman"/>
                <a:cs typeface="Times New Roman"/>
              </a:rPr>
              <a:t>© 2008 Pearson Education Inc, publishing as Pearson Addison-Wesley</a:t>
            </a:r>
          </a:p>
        </p:txBody>
      </p:sp>
    </p:spTree>
    <p:extLst>
      <p:ext uri="{BB962C8B-B14F-4D97-AF65-F5344CB8AC3E}">
        <p14:creationId xmlns:p14="http://schemas.microsoft.com/office/powerpoint/2010/main" val="611060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2D2F4"/>
            </a:gs>
            <a:gs pos="100000">
              <a:srgbClr val="FADA86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3224B0E-5222-8E4D-ACF7-D9E351E0AB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73912A7A-63F7-5B4A-A84F-7914C49FC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34308" name="Rectangle 4">
            <a:extLst>
              <a:ext uri="{FF2B5EF4-FFF2-40B4-BE49-F238E27FC236}">
                <a16:creationId xmlns:a16="http://schemas.microsoft.com/office/drawing/2014/main" id="{7E555D52-ED34-BC49-B95B-0CDB0257F96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50" b="0">
                <a:solidFill>
                  <a:srgbClr val="000000"/>
                </a:solidFill>
                <a:latin typeface="Times New Roman" pitchFamily="4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4309" name="Rectangle 5">
            <a:extLst>
              <a:ext uri="{FF2B5EF4-FFF2-40B4-BE49-F238E27FC236}">
                <a16:creationId xmlns:a16="http://schemas.microsoft.com/office/drawing/2014/main" id="{38B4A924-641F-3C4D-BB4D-C1463A9D244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 b="0">
                <a:solidFill>
                  <a:srgbClr val="000000"/>
                </a:solidFill>
                <a:latin typeface="Times New Roman" pitchFamily="4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4310" name="Rectangle 6">
            <a:extLst>
              <a:ext uri="{FF2B5EF4-FFF2-40B4-BE49-F238E27FC236}">
                <a16:creationId xmlns:a16="http://schemas.microsoft.com/office/drawing/2014/main" id="{62C4699A-E2DD-744A-8F69-3BBD7D60D28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50" b="0">
                <a:solidFill>
                  <a:srgbClr val="000000"/>
                </a:solidFill>
              </a:defRPr>
            </a:lvl1pPr>
          </a:lstStyle>
          <a:p>
            <a:fld id="{759B3D0D-D29D-9A41-AA32-5684D98CF5D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2471" name="WordArt 7">
            <a:extLst>
              <a:ext uri="{FF2B5EF4-FFF2-40B4-BE49-F238E27FC236}">
                <a16:creationId xmlns:a16="http://schemas.microsoft.com/office/drawing/2014/main" id="{6039D80C-B90B-F548-8235-B68C97955966}"/>
              </a:ext>
            </a:extLst>
          </p:cNvPr>
          <p:cNvSpPr>
            <a:spLocks noChangeArrowheads="1" noChangeShapeType="1" noTextEdit="1"/>
          </p:cNvSpPr>
          <p:nvPr userDrawn="1"/>
        </p:nvSpPr>
        <p:spPr bwMode="auto">
          <a:xfrm>
            <a:off x="76200" y="5029201"/>
            <a:ext cx="3048000" cy="78581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0"/>
              </a:avLst>
            </a:prstTxWarp>
          </a:bodyPr>
          <a:lstStyle/>
          <a:p>
            <a:pPr algn="ctr"/>
            <a:r>
              <a:rPr lang="en-US" sz="12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cs typeface="Times New Roman" panose="02020603050405020304" pitchFamily="18" charset="0"/>
              </a:rPr>
              <a:t>© 2008 Pearson Education Inc, publishing as Pearson Addison-Wesley</a:t>
            </a:r>
          </a:p>
        </p:txBody>
      </p:sp>
    </p:spTree>
    <p:extLst>
      <p:ext uri="{BB962C8B-B14F-4D97-AF65-F5344CB8AC3E}">
        <p14:creationId xmlns:p14="http://schemas.microsoft.com/office/powerpoint/2010/main" val="189831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  <p:sldLayoutId id="214748405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  <a:ea typeface="ＭＳ Ｐゴシック" charset="0"/>
          <a:cs typeface="ＭＳ Ｐゴシック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48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ＭＳ Ｐゴシック" charset="0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ＭＳ Ｐゴシック" charset="0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ＭＳ Ｐゴシック" charset="0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ＭＳ Ｐゴシック" charset="0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2000">
              <a:schemeClr val="tx1"/>
            </a:gs>
            <a:gs pos="47000">
              <a:srgbClr val="071634"/>
            </a:gs>
            <a:gs pos="100000">
              <a:schemeClr val="tx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85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0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2000">
              <a:schemeClr val="tx1"/>
            </a:gs>
            <a:gs pos="47000">
              <a:srgbClr val="071634"/>
            </a:gs>
            <a:gs pos="100000">
              <a:schemeClr val="tx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09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2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2000">
              <a:schemeClr val="tx1"/>
            </a:gs>
            <a:gs pos="47000">
              <a:srgbClr val="071634"/>
            </a:gs>
            <a:gs pos="100000">
              <a:schemeClr val="tx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94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92.xml"/><Relationship Id="rId1" Type="http://schemas.openxmlformats.org/officeDocument/2006/relationships/tags" Target="../tags/tag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6.xml"/><Relationship Id="rId4" Type="http://schemas.openxmlformats.org/officeDocument/2006/relationships/image" Target="../media/image2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99.xml"/><Relationship Id="rId1" Type="http://schemas.openxmlformats.org/officeDocument/2006/relationships/tags" Target="../tags/tag7.xml"/><Relationship Id="rId5" Type="http://schemas.openxmlformats.org/officeDocument/2006/relationships/image" Target="../media/image25.jpeg"/><Relationship Id="rId4" Type="http://schemas.openxmlformats.org/officeDocument/2006/relationships/image" Target="../media/image2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51.xml"/><Relationship Id="rId1" Type="http://schemas.openxmlformats.org/officeDocument/2006/relationships/tags" Target="../tags/tag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98.xml"/><Relationship Id="rId1" Type="http://schemas.openxmlformats.org/officeDocument/2006/relationships/tags" Target="../tags/tag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100.xml"/><Relationship Id="rId1" Type="http://schemas.openxmlformats.org/officeDocument/2006/relationships/tags" Target="../tags/tag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75.xml"/><Relationship Id="rId1" Type="http://schemas.openxmlformats.org/officeDocument/2006/relationships/tags" Target="../tags/tag11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1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13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14.xml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15.xml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16.xml"/><Relationship Id="rId4" Type="http://schemas.openxmlformats.org/officeDocument/2006/relationships/hyperlink" Target="mailto:https://carlnotsagan.github.io/ast400a/assignments/ica16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671" name="Rectangle 164967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B95AA9-8A85-1572-3273-EB489E05326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91" b="21316"/>
          <a:stretch>
            <a:fillRect/>
          </a:stretch>
        </p:blipFill>
        <p:spPr>
          <a:xfrm>
            <a:off x="0" y="-99061"/>
            <a:ext cx="9143980" cy="5341620"/>
          </a:xfrm>
          <a:prstGeom prst="rect">
            <a:avLst/>
          </a:prstGeom>
        </p:spPr>
      </p:pic>
      <p:sp>
        <p:nvSpPr>
          <p:cNvPr id="16496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42990" y="718064"/>
            <a:ext cx="6858000" cy="37073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0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" panose="02000503020000020003" pitchFamily="2" charset="0"/>
              </a:rPr>
              <a:t>The Landscape of Supernovae</a:t>
            </a:r>
            <a:br>
              <a:rPr lang="en-US" sz="40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" panose="02000503020000020003" pitchFamily="2" charset="0"/>
              </a:rPr>
            </a:br>
            <a:br>
              <a:rPr lang="en-US" sz="40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" panose="02000503020000020003" pitchFamily="2" charset="0"/>
              </a:rPr>
            </a:br>
            <a:r>
              <a:rPr lang="en-US" sz="27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" panose="02000503020000020003" pitchFamily="2" charset="0"/>
              </a:rPr>
              <a:t>ASTR 400A – Theoretical Astrophysics</a:t>
            </a:r>
            <a:br>
              <a:rPr lang="en-US" sz="27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" panose="02000503020000020003" pitchFamily="2" charset="0"/>
              </a:rPr>
            </a:br>
            <a:r>
              <a:rPr lang="en-US" sz="27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" panose="02000503020000020003" pitchFamily="2" charset="0"/>
              </a:rPr>
              <a:t>Fall 2026</a:t>
            </a:r>
            <a:br>
              <a:rPr lang="en-US" sz="27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" panose="02000503020000020003" pitchFamily="2" charset="0"/>
              </a:rPr>
            </a:br>
            <a:br>
              <a:rPr lang="en-US" sz="27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" panose="02000503020000020003" pitchFamily="2" charset="0"/>
              </a:rPr>
            </a:br>
            <a:r>
              <a:rPr lang="en-US" sz="27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" panose="02000503020000020003" pitchFamily="2" charset="0"/>
              </a:rPr>
              <a:t>Prof. Carl Fields</a:t>
            </a:r>
            <a:br>
              <a:rPr lang="en-US" sz="27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" panose="02000503020000020003" pitchFamily="2" charset="0"/>
              </a:rPr>
            </a:br>
            <a:r>
              <a:rPr lang="en-US" sz="27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" panose="02000503020000020003" pitchFamily="2" charset="0"/>
              </a:rPr>
              <a:t>TA &amp; GRA Brain Hsu (Guest Lecture)</a:t>
            </a:r>
            <a:br>
              <a:rPr lang="en-US" sz="27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" panose="02000503020000020003" pitchFamily="2" charset="0"/>
              </a:rPr>
            </a:br>
            <a:br>
              <a:rPr lang="en-US" sz="27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" panose="02000503020000020003" pitchFamily="2" charset="0"/>
              </a:rPr>
            </a:br>
            <a:r>
              <a:rPr lang="en-US" sz="27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" panose="02000503020000020003" pitchFamily="2" charset="0"/>
              </a:rPr>
              <a:t>10/27/2026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11B9EB-2EE0-7A8C-A178-DB1E7553B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19704"/>
            <a:ext cx="6858000" cy="823796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imes New Roman" pitchFamily="18" charset="0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imes New Roman" pitchFamily="18" charset="0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imes New Roman" pitchFamily="18" charset="0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imes New Roman" pitchFamily="18" charset="0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Book" panose="02000503020000020003" pitchFamily="2" charset="0"/>
                <a:ea typeface="+mn-ea"/>
                <a:cs typeface="+mn-cs"/>
              </a:rPr>
              <a:t>Background: SN 1987A – NASA/ESA/CSA JWST/</a:t>
            </a:r>
            <a:r>
              <a:rPr 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Book" panose="02000503020000020003" pitchFamily="2" charset="0"/>
                <a:ea typeface="+mn-ea"/>
                <a:cs typeface="+mn-cs"/>
              </a:rPr>
              <a:t>NIRCam</a:t>
            </a:r>
            <a:endParaRPr lang="en-US" sz="1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Book" panose="02000503020000020003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213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sndAc>
      <p:endSnd/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ED9AA0B1-B19C-0D44-B064-70B8CCC22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7294" y="122635"/>
            <a:ext cx="6618685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spcBef>
                <a:spcPct val="0"/>
              </a:spcBef>
              <a:buNone/>
              <a:defRPr/>
            </a:pPr>
            <a:r>
              <a:rPr lang="en-US" altLang="en-US" sz="1500" dirty="0">
                <a:solidFill>
                  <a:srgbClr val="000000"/>
                </a:solidFill>
                <a:latin typeface="Arial" panose="020B0604020202020204" pitchFamily="34" charset="0"/>
              </a:rPr>
              <a:t>schematic core evolution.  Temp vs. Density diagram</a:t>
            </a:r>
          </a:p>
        </p:txBody>
      </p:sp>
      <p:pic>
        <p:nvPicPr>
          <p:cNvPr id="73" name="Picture 72" descr="scan.jpg">
            <a:extLst>
              <a:ext uri="{FF2B5EF4-FFF2-40B4-BE49-F238E27FC236}">
                <a16:creationId xmlns:a16="http://schemas.microsoft.com/office/drawing/2014/main" id="{DF2094FD-C483-BE45-884D-E3038406E1C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973" t="11883" r="49661" b="50088"/>
          <a:stretch/>
        </p:blipFill>
        <p:spPr>
          <a:xfrm rot="5400000">
            <a:off x="2314327" y="116191"/>
            <a:ext cx="4515344" cy="5371893"/>
          </a:xfrm>
          <a:prstGeom prst="rect">
            <a:avLst/>
          </a:prstGeom>
          <a:ln>
            <a:solidFill>
              <a:srgbClr val="FF603B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4" name="Freeform 73">
            <a:extLst>
              <a:ext uri="{FF2B5EF4-FFF2-40B4-BE49-F238E27FC236}">
                <a16:creationId xmlns:a16="http://schemas.microsoft.com/office/drawing/2014/main" id="{56EE9C23-3F28-EE47-BE04-15C3B0BB925A}"/>
              </a:ext>
            </a:extLst>
          </p:cNvPr>
          <p:cNvSpPr/>
          <p:nvPr/>
        </p:nvSpPr>
        <p:spPr>
          <a:xfrm>
            <a:off x="3279475" y="3173426"/>
            <a:ext cx="1711130" cy="744135"/>
          </a:xfrm>
          <a:custGeom>
            <a:avLst/>
            <a:gdLst>
              <a:gd name="connsiteX0" fmla="*/ 0 w 1398483"/>
              <a:gd name="connsiteY0" fmla="*/ 7559 h 521607"/>
              <a:gd name="connsiteX1" fmla="*/ 37796 w 1398483"/>
              <a:gd name="connsiteY1" fmla="*/ 0 h 521607"/>
              <a:gd name="connsiteX2" fmla="*/ 128509 w 1398483"/>
              <a:gd name="connsiteY2" fmla="*/ 22677 h 521607"/>
              <a:gd name="connsiteX3" fmla="*/ 188984 w 1398483"/>
              <a:gd name="connsiteY3" fmla="*/ 37796 h 521607"/>
              <a:gd name="connsiteX4" fmla="*/ 257018 w 1398483"/>
              <a:gd name="connsiteY4" fmla="*/ 52914 h 521607"/>
              <a:gd name="connsiteX5" fmla="*/ 302374 w 1398483"/>
              <a:gd name="connsiteY5" fmla="*/ 68032 h 521607"/>
              <a:gd name="connsiteX6" fmla="*/ 325052 w 1398483"/>
              <a:gd name="connsiteY6" fmla="*/ 75591 h 521607"/>
              <a:gd name="connsiteX7" fmla="*/ 355290 w 1398483"/>
              <a:gd name="connsiteY7" fmla="*/ 83150 h 521607"/>
              <a:gd name="connsiteX8" fmla="*/ 393087 w 1398483"/>
              <a:gd name="connsiteY8" fmla="*/ 90709 h 521607"/>
              <a:gd name="connsiteX9" fmla="*/ 461121 w 1398483"/>
              <a:gd name="connsiteY9" fmla="*/ 113387 h 521607"/>
              <a:gd name="connsiteX10" fmla="*/ 529155 w 1398483"/>
              <a:gd name="connsiteY10" fmla="*/ 136064 h 521607"/>
              <a:gd name="connsiteX11" fmla="*/ 551833 w 1398483"/>
              <a:gd name="connsiteY11" fmla="*/ 143623 h 521607"/>
              <a:gd name="connsiteX12" fmla="*/ 574511 w 1398483"/>
              <a:gd name="connsiteY12" fmla="*/ 151182 h 521607"/>
              <a:gd name="connsiteX13" fmla="*/ 597190 w 1398483"/>
              <a:gd name="connsiteY13" fmla="*/ 166300 h 521607"/>
              <a:gd name="connsiteX14" fmla="*/ 665224 w 1398483"/>
              <a:gd name="connsiteY14" fmla="*/ 188978 h 521607"/>
              <a:gd name="connsiteX15" fmla="*/ 710580 w 1398483"/>
              <a:gd name="connsiteY15" fmla="*/ 204096 h 521607"/>
              <a:gd name="connsiteX16" fmla="*/ 733258 w 1398483"/>
              <a:gd name="connsiteY16" fmla="*/ 211655 h 521607"/>
              <a:gd name="connsiteX17" fmla="*/ 755936 w 1398483"/>
              <a:gd name="connsiteY17" fmla="*/ 226773 h 521607"/>
              <a:gd name="connsiteX18" fmla="*/ 801292 w 1398483"/>
              <a:gd name="connsiteY18" fmla="*/ 241891 h 521607"/>
              <a:gd name="connsiteX19" fmla="*/ 823971 w 1398483"/>
              <a:gd name="connsiteY19" fmla="*/ 249451 h 521607"/>
              <a:gd name="connsiteX20" fmla="*/ 892005 w 1398483"/>
              <a:gd name="connsiteY20" fmla="*/ 279687 h 521607"/>
              <a:gd name="connsiteX21" fmla="*/ 937361 w 1398483"/>
              <a:gd name="connsiteY21" fmla="*/ 302364 h 521607"/>
              <a:gd name="connsiteX22" fmla="*/ 982717 w 1398483"/>
              <a:gd name="connsiteY22" fmla="*/ 317482 h 521607"/>
              <a:gd name="connsiteX23" fmla="*/ 997836 w 1398483"/>
              <a:gd name="connsiteY23" fmla="*/ 332601 h 521607"/>
              <a:gd name="connsiteX24" fmla="*/ 1065870 w 1398483"/>
              <a:gd name="connsiteY24" fmla="*/ 355278 h 521607"/>
              <a:gd name="connsiteX25" fmla="*/ 1088548 w 1398483"/>
              <a:gd name="connsiteY25" fmla="*/ 362837 h 521607"/>
              <a:gd name="connsiteX26" fmla="*/ 1111227 w 1398483"/>
              <a:gd name="connsiteY26" fmla="*/ 377955 h 521607"/>
              <a:gd name="connsiteX27" fmla="*/ 1133905 w 1398483"/>
              <a:gd name="connsiteY27" fmla="*/ 385514 h 521607"/>
              <a:gd name="connsiteX28" fmla="*/ 1164142 w 1398483"/>
              <a:gd name="connsiteY28" fmla="*/ 400633 h 521607"/>
              <a:gd name="connsiteX29" fmla="*/ 1186820 w 1398483"/>
              <a:gd name="connsiteY29" fmla="*/ 415751 h 521607"/>
              <a:gd name="connsiteX30" fmla="*/ 1209498 w 1398483"/>
              <a:gd name="connsiteY30" fmla="*/ 423310 h 521607"/>
              <a:gd name="connsiteX31" fmla="*/ 1254855 w 1398483"/>
              <a:gd name="connsiteY31" fmla="*/ 453546 h 521607"/>
              <a:gd name="connsiteX32" fmla="*/ 1277533 w 1398483"/>
              <a:gd name="connsiteY32" fmla="*/ 461106 h 521607"/>
              <a:gd name="connsiteX33" fmla="*/ 1300211 w 1398483"/>
              <a:gd name="connsiteY33" fmla="*/ 476224 h 521607"/>
              <a:gd name="connsiteX34" fmla="*/ 1322889 w 1398483"/>
              <a:gd name="connsiteY34" fmla="*/ 483783 h 521607"/>
              <a:gd name="connsiteX35" fmla="*/ 1345567 w 1398483"/>
              <a:gd name="connsiteY35" fmla="*/ 498901 h 521607"/>
              <a:gd name="connsiteX36" fmla="*/ 1368245 w 1398483"/>
              <a:gd name="connsiteY36" fmla="*/ 506460 h 521607"/>
              <a:gd name="connsiteX37" fmla="*/ 1398483 w 1398483"/>
              <a:gd name="connsiteY37" fmla="*/ 521578 h 521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398483" h="521607">
                <a:moveTo>
                  <a:pt x="0" y="7559"/>
                </a:moveTo>
                <a:cubicBezTo>
                  <a:pt x="12599" y="5039"/>
                  <a:pt x="24948" y="0"/>
                  <a:pt x="37796" y="0"/>
                </a:cubicBezTo>
                <a:cubicBezTo>
                  <a:pt x="77356" y="0"/>
                  <a:pt x="90983" y="13295"/>
                  <a:pt x="128509" y="22677"/>
                </a:cubicBezTo>
                <a:cubicBezTo>
                  <a:pt x="148667" y="27717"/>
                  <a:pt x="168609" y="33721"/>
                  <a:pt x="188984" y="37796"/>
                </a:cubicBezTo>
                <a:cubicBezTo>
                  <a:pt x="210565" y="42112"/>
                  <a:pt x="235666" y="46509"/>
                  <a:pt x="257018" y="52914"/>
                </a:cubicBezTo>
                <a:cubicBezTo>
                  <a:pt x="272282" y="57493"/>
                  <a:pt x="287255" y="62993"/>
                  <a:pt x="302374" y="68032"/>
                </a:cubicBezTo>
                <a:cubicBezTo>
                  <a:pt x="309933" y="70552"/>
                  <a:pt x="317322" y="73659"/>
                  <a:pt x="325052" y="75591"/>
                </a:cubicBezTo>
                <a:cubicBezTo>
                  <a:pt x="335131" y="78111"/>
                  <a:pt x="345148" y="80896"/>
                  <a:pt x="355290" y="83150"/>
                </a:cubicBezTo>
                <a:cubicBezTo>
                  <a:pt x="367833" y="85937"/>
                  <a:pt x="380691" y="87328"/>
                  <a:pt x="393087" y="90709"/>
                </a:cubicBezTo>
                <a:cubicBezTo>
                  <a:pt x="393134" y="90722"/>
                  <a:pt x="449759" y="109600"/>
                  <a:pt x="461121" y="113387"/>
                </a:cubicBezTo>
                <a:lnTo>
                  <a:pt x="529155" y="136064"/>
                </a:lnTo>
                <a:lnTo>
                  <a:pt x="551833" y="143623"/>
                </a:lnTo>
                <a:cubicBezTo>
                  <a:pt x="559392" y="146143"/>
                  <a:pt x="567881" y="146762"/>
                  <a:pt x="574511" y="151182"/>
                </a:cubicBezTo>
                <a:cubicBezTo>
                  <a:pt x="582071" y="156221"/>
                  <a:pt x="588888" y="162610"/>
                  <a:pt x="597190" y="166300"/>
                </a:cubicBezTo>
                <a:cubicBezTo>
                  <a:pt x="597200" y="166305"/>
                  <a:pt x="653879" y="185197"/>
                  <a:pt x="665224" y="188978"/>
                </a:cubicBezTo>
                <a:lnTo>
                  <a:pt x="710580" y="204096"/>
                </a:lnTo>
                <a:cubicBezTo>
                  <a:pt x="718139" y="206616"/>
                  <a:pt x="726628" y="207235"/>
                  <a:pt x="733258" y="211655"/>
                </a:cubicBezTo>
                <a:cubicBezTo>
                  <a:pt x="740817" y="216694"/>
                  <a:pt x="747634" y="223083"/>
                  <a:pt x="755936" y="226773"/>
                </a:cubicBezTo>
                <a:cubicBezTo>
                  <a:pt x="770499" y="233245"/>
                  <a:pt x="786173" y="236852"/>
                  <a:pt x="801292" y="241891"/>
                </a:cubicBezTo>
                <a:cubicBezTo>
                  <a:pt x="808852" y="244411"/>
                  <a:pt x="817341" y="245031"/>
                  <a:pt x="823971" y="249451"/>
                </a:cubicBezTo>
                <a:cubicBezTo>
                  <a:pt x="859909" y="273409"/>
                  <a:pt x="838030" y="261696"/>
                  <a:pt x="892005" y="279687"/>
                </a:cubicBezTo>
                <a:cubicBezTo>
                  <a:pt x="974712" y="307255"/>
                  <a:pt x="849437" y="263288"/>
                  <a:pt x="937361" y="302364"/>
                </a:cubicBezTo>
                <a:cubicBezTo>
                  <a:pt x="951924" y="308836"/>
                  <a:pt x="982717" y="317482"/>
                  <a:pt x="982717" y="317482"/>
                </a:cubicBezTo>
                <a:cubicBezTo>
                  <a:pt x="987757" y="322522"/>
                  <a:pt x="991461" y="329414"/>
                  <a:pt x="997836" y="332601"/>
                </a:cubicBezTo>
                <a:lnTo>
                  <a:pt x="1065870" y="355278"/>
                </a:lnTo>
                <a:cubicBezTo>
                  <a:pt x="1073429" y="357798"/>
                  <a:pt x="1081918" y="358417"/>
                  <a:pt x="1088548" y="362837"/>
                </a:cubicBezTo>
                <a:cubicBezTo>
                  <a:pt x="1096108" y="367876"/>
                  <a:pt x="1103101" y="373892"/>
                  <a:pt x="1111227" y="377955"/>
                </a:cubicBezTo>
                <a:cubicBezTo>
                  <a:pt x="1118354" y="381518"/>
                  <a:pt x="1126581" y="382375"/>
                  <a:pt x="1133905" y="385514"/>
                </a:cubicBezTo>
                <a:cubicBezTo>
                  <a:pt x="1144263" y="389953"/>
                  <a:pt x="1154358" y="395042"/>
                  <a:pt x="1164142" y="400633"/>
                </a:cubicBezTo>
                <a:cubicBezTo>
                  <a:pt x="1172030" y="405140"/>
                  <a:pt x="1178694" y="411688"/>
                  <a:pt x="1186820" y="415751"/>
                </a:cubicBezTo>
                <a:cubicBezTo>
                  <a:pt x="1193947" y="419314"/>
                  <a:pt x="1202532" y="419440"/>
                  <a:pt x="1209498" y="423310"/>
                </a:cubicBezTo>
                <a:cubicBezTo>
                  <a:pt x="1225382" y="432134"/>
                  <a:pt x="1237617" y="447800"/>
                  <a:pt x="1254855" y="453546"/>
                </a:cubicBezTo>
                <a:cubicBezTo>
                  <a:pt x="1262414" y="456066"/>
                  <a:pt x="1270406" y="457542"/>
                  <a:pt x="1277533" y="461106"/>
                </a:cubicBezTo>
                <a:cubicBezTo>
                  <a:pt x="1285659" y="465169"/>
                  <a:pt x="1292085" y="472161"/>
                  <a:pt x="1300211" y="476224"/>
                </a:cubicBezTo>
                <a:cubicBezTo>
                  <a:pt x="1307338" y="479787"/>
                  <a:pt x="1315762" y="480220"/>
                  <a:pt x="1322889" y="483783"/>
                </a:cubicBezTo>
                <a:cubicBezTo>
                  <a:pt x="1331015" y="487846"/>
                  <a:pt x="1337441" y="494838"/>
                  <a:pt x="1345567" y="498901"/>
                </a:cubicBezTo>
                <a:cubicBezTo>
                  <a:pt x="1352694" y="502464"/>
                  <a:pt x="1361118" y="502897"/>
                  <a:pt x="1368245" y="506460"/>
                </a:cubicBezTo>
                <a:cubicBezTo>
                  <a:pt x="1401278" y="522976"/>
                  <a:pt x="1379547" y="521578"/>
                  <a:pt x="1398483" y="521578"/>
                </a:cubicBezTo>
              </a:path>
            </a:pathLst>
          </a:custGeom>
          <a:ln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498C1E7-0606-F44E-AA08-874B663D9B76}"/>
              </a:ext>
            </a:extLst>
          </p:cNvPr>
          <p:cNvSpPr txBox="1"/>
          <p:nvPr/>
        </p:nvSpPr>
        <p:spPr>
          <a:xfrm>
            <a:off x="3167283" y="2953165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200" dirty="0">
                <a:solidFill>
                  <a:srgbClr val="FF603B"/>
                </a:solidFill>
              </a:rPr>
              <a:t>p-p</a:t>
            </a:r>
          </a:p>
        </p:txBody>
      </p:sp>
      <p:sp>
        <p:nvSpPr>
          <p:cNvPr id="76" name="Freeform 75">
            <a:extLst>
              <a:ext uri="{FF2B5EF4-FFF2-40B4-BE49-F238E27FC236}">
                <a16:creationId xmlns:a16="http://schemas.microsoft.com/office/drawing/2014/main" id="{1B7E7F24-11E0-4C43-8C98-0B948F9165CF}"/>
              </a:ext>
            </a:extLst>
          </p:cNvPr>
          <p:cNvSpPr/>
          <p:nvPr/>
        </p:nvSpPr>
        <p:spPr>
          <a:xfrm>
            <a:off x="4160306" y="3144001"/>
            <a:ext cx="273057" cy="1145159"/>
          </a:xfrm>
          <a:custGeom>
            <a:avLst/>
            <a:gdLst>
              <a:gd name="connsiteX0" fmla="*/ 0 w 230224"/>
              <a:gd name="connsiteY0" fmla="*/ 0 h 965524"/>
              <a:gd name="connsiteX1" fmla="*/ 22279 w 230224"/>
              <a:gd name="connsiteY1" fmla="*/ 59417 h 965524"/>
              <a:gd name="connsiteX2" fmla="*/ 44559 w 230224"/>
              <a:gd name="connsiteY2" fmla="*/ 133688 h 965524"/>
              <a:gd name="connsiteX3" fmla="*/ 51986 w 230224"/>
              <a:gd name="connsiteY3" fmla="*/ 155970 h 965524"/>
              <a:gd name="connsiteX4" fmla="*/ 59412 w 230224"/>
              <a:gd name="connsiteY4" fmla="*/ 178251 h 965524"/>
              <a:gd name="connsiteX5" fmla="*/ 74266 w 230224"/>
              <a:gd name="connsiteY5" fmla="*/ 193105 h 965524"/>
              <a:gd name="connsiteX6" fmla="*/ 81692 w 230224"/>
              <a:gd name="connsiteY6" fmla="*/ 230241 h 965524"/>
              <a:gd name="connsiteX7" fmla="*/ 96545 w 230224"/>
              <a:gd name="connsiteY7" fmla="*/ 274803 h 965524"/>
              <a:gd name="connsiteX8" fmla="*/ 103972 w 230224"/>
              <a:gd name="connsiteY8" fmla="*/ 304512 h 965524"/>
              <a:gd name="connsiteX9" fmla="*/ 118825 w 230224"/>
              <a:gd name="connsiteY9" fmla="*/ 356501 h 965524"/>
              <a:gd name="connsiteX10" fmla="*/ 133678 w 230224"/>
              <a:gd name="connsiteY10" fmla="*/ 475335 h 965524"/>
              <a:gd name="connsiteX11" fmla="*/ 141105 w 230224"/>
              <a:gd name="connsiteY11" fmla="*/ 497616 h 965524"/>
              <a:gd name="connsiteX12" fmla="*/ 155958 w 230224"/>
              <a:gd name="connsiteY12" fmla="*/ 557033 h 965524"/>
              <a:gd name="connsiteX13" fmla="*/ 163385 w 230224"/>
              <a:gd name="connsiteY13" fmla="*/ 609023 h 965524"/>
              <a:gd name="connsiteX14" fmla="*/ 170811 w 230224"/>
              <a:gd name="connsiteY14" fmla="*/ 646158 h 965524"/>
              <a:gd name="connsiteX15" fmla="*/ 178238 w 230224"/>
              <a:gd name="connsiteY15" fmla="*/ 690721 h 965524"/>
              <a:gd name="connsiteX16" fmla="*/ 185665 w 230224"/>
              <a:gd name="connsiteY16" fmla="*/ 727856 h 965524"/>
              <a:gd name="connsiteX17" fmla="*/ 193091 w 230224"/>
              <a:gd name="connsiteY17" fmla="*/ 757565 h 965524"/>
              <a:gd name="connsiteX18" fmla="*/ 207944 w 230224"/>
              <a:gd name="connsiteY18" fmla="*/ 846690 h 965524"/>
              <a:gd name="connsiteX19" fmla="*/ 215371 w 230224"/>
              <a:gd name="connsiteY19" fmla="*/ 868971 h 965524"/>
              <a:gd name="connsiteX20" fmla="*/ 222798 w 230224"/>
              <a:gd name="connsiteY20" fmla="*/ 935815 h 965524"/>
              <a:gd name="connsiteX21" fmla="*/ 230224 w 230224"/>
              <a:gd name="connsiteY21" fmla="*/ 958097 h 965524"/>
              <a:gd name="connsiteX22" fmla="*/ 222798 w 230224"/>
              <a:gd name="connsiteY22" fmla="*/ 965524 h 96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30224" h="965524">
                <a:moveTo>
                  <a:pt x="0" y="0"/>
                </a:moveTo>
                <a:cubicBezTo>
                  <a:pt x="7850" y="19628"/>
                  <a:pt x="16457" y="39037"/>
                  <a:pt x="22279" y="59417"/>
                </a:cubicBezTo>
                <a:cubicBezTo>
                  <a:pt x="44721" y="137970"/>
                  <a:pt x="9272" y="27822"/>
                  <a:pt x="44559" y="133688"/>
                </a:cubicBezTo>
                <a:lnTo>
                  <a:pt x="51986" y="155970"/>
                </a:lnTo>
                <a:cubicBezTo>
                  <a:pt x="54461" y="163397"/>
                  <a:pt x="53876" y="172715"/>
                  <a:pt x="59412" y="178251"/>
                </a:cubicBezTo>
                <a:lnTo>
                  <a:pt x="74266" y="193105"/>
                </a:lnTo>
                <a:cubicBezTo>
                  <a:pt x="76741" y="205484"/>
                  <a:pt x="78371" y="218062"/>
                  <a:pt x="81692" y="230241"/>
                </a:cubicBezTo>
                <a:cubicBezTo>
                  <a:pt x="85811" y="245347"/>
                  <a:pt x="92748" y="259613"/>
                  <a:pt x="96545" y="274803"/>
                </a:cubicBezTo>
                <a:cubicBezTo>
                  <a:pt x="99021" y="284706"/>
                  <a:pt x="101168" y="294697"/>
                  <a:pt x="103972" y="304512"/>
                </a:cubicBezTo>
                <a:cubicBezTo>
                  <a:pt x="113412" y="337553"/>
                  <a:pt x="111084" y="317794"/>
                  <a:pt x="118825" y="356501"/>
                </a:cubicBezTo>
                <a:cubicBezTo>
                  <a:pt x="135273" y="438747"/>
                  <a:pt x="116608" y="364368"/>
                  <a:pt x="133678" y="475335"/>
                </a:cubicBezTo>
                <a:cubicBezTo>
                  <a:pt x="134868" y="483073"/>
                  <a:pt x="139045" y="490063"/>
                  <a:pt x="141105" y="497616"/>
                </a:cubicBezTo>
                <a:cubicBezTo>
                  <a:pt x="146476" y="517312"/>
                  <a:pt x="153071" y="536823"/>
                  <a:pt x="155958" y="557033"/>
                </a:cubicBezTo>
                <a:cubicBezTo>
                  <a:pt x="158434" y="574363"/>
                  <a:pt x="160507" y="591755"/>
                  <a:pt x="163385" y="609023"/>
                </a:cubicBezTo>
                <a:cubicBezTo>
                  <a:pt x="165460" y="621475"/>
                  <a:pt x="168553" y="633738"/>
                  <a:pt x="170811" y="646158"/>
                </a:cubicBezTo>
                <a:cubicBezTo>
                  <a:pt x="173505" y="660974"/>
                  <a:pt x="175544" y="675905"/>
                  <a:pt x="178238" y="690721"/>
                </a:cubicBezTo>
                <a:cubicBezTo>
                  <a:pt x="180496" y="703141"/>
                  <a:pt x="182927" y="715533"/>
                  <a:pt x="185665" y="727856"/>
                </a:cubicBezTo>
                <a:cubicBezTo>
                  <a:pt x="187879" y="737821"/>
                  <a:pt x="191265" y="747522"/>
                  <a:pt x="193091" y="757565"/>
                </a:cubicBezTo>
                <a:cubicBezTo>
                  <a:pt x="201470" y="803654"/>
                  <a:pt x="197686" y="805655"/>
                  <a:pt x="207944" y="846690"/>
                </a:cubicBezTo>
                <a:cubicBezTo>
                  <a:pt x="209843" y="854285"/>
                  <a:pt x="212895" y="861544"/>
                  <a:pt x="215371" y="868971"/>
                </a:cubicBezTo>
                <a:cubicBezTo>
                  <a:pt x="217847" y="891252"/>
                  <a:pt x="219113" y="913702"/>
                  <a:pt x="222798" y="935815"/>
                </a:cubicBezTo>
                <a:cubicBezTo>
                  <a:pt x="224085" y="943537"/>
                  <a:pt x="230224" y="950268"/>
                  <a:pt x="230224" y="958097"/>
                </a:cubicBezTo>
                <a:lnTo>
                  <a:pt x="222798" y="965524"/>
                </a:lnTo>
              </a:path>
            </a:pathLst>
          </a:custGeom>
          <a:ln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800000"/>
              </a:solidFill>
              <a:latin typeface="Times New Roman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32EEA99-81A5-C04C-BEFA-7C591EA9E2F7}"/>
              </a:ext>
            </a:extLst>
          </p:cNvPr>
          <p:cNvSpPr txBox="1"/>
          <p:nvPr/>
        </p:nvSpPr>
        <p:spPr>
          <a:xfrm>
            <a:off x="4160722" y="3071911"/>
            <a:ext cx="4700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050" dirty="0">
                <a:solidFill>
                  <a:srgbClr val="800000"/>
                </a:solidFill>
              </a:rPr>
              <a:t>CNO</a:t>
            </a:r>
          </a:p>
        </p:txBody>
      </p:sp>
      <p:sp>
        <p:nvSpPr>
          <p:cNvPr id="78" name="Freeform 77">
            <a:extLst>
              <a:ext uri="{FF2B5EF4-FFF2-40B4-BE49-F238E27FC236}">
                <a16:creationId xmlns:a16="http://schemas.microsoft.com/office/drawing/2014/main" id="{0730910A-A05A-234F-9B37-E0D93E5900FF}"/>
              </a:ext>
            </a:extLst>
          </p:cNvPr>
          <p:cNvSpPr/>
          <p:nvPr/>
        </p:nvSpPr>
        <p:spPr>
          <a:xfrm>
            <a:off x="4583105" y="2122169"/>
            <a:ext cx="555721" cy="1682501"/>
          </a:xfrm>
          <a:custGeom>
            <a:avLst/>
            <a:gdLst>
              <a:gd name="connsiteX0" fmla="*/ 0 w 468548"/>
              <a:gd name="connsiteY0" fmla="*/ 0 h 1418576"/>
              <a:gd name="connsiteX1" fmla="*/ 37133 w 468548"/>
              <a:gd name="connsiteY1" fmla="*/ 7427 h 1418576"/>
              <a:gd name="connsiteX2" fmla="*/ 44560 w 468548"/>
              <a:gd name="connsiteY2" fmla="*/ 29708 h 1418576"/>
              <a:gd name="connsiteX3" fmla="*/ 74266 w 468548"/>
              <a:gd name="connsiteY3" fmla="*/ 66844 h 1418576"/>
              <a:gd name="connsiteX4" fmla="*/ 111399 w 468548"/>
              <a:gd name="connsiteY4" fmla="*/ 133688 h 1418576"/>
              <a:gd name="connsiteX5" fmla="*/ 126253 w 468548"/>
              <a:gd name="connsiteY5" fmla="*/ 148542 h 1418576"/>
              <a:gd name="connsiteX6" fmla="*/ 163386 w 468548"/>
              <a:gd name="connsiteY6" fmla="*/ 193104 h 1418576"/>
              <a:gd name="connsiteX7" fmla="*/ 185665 w 468548"/>
              <a:gd name="connsiteY7" fmla="*/ 237667 h 1418576"/>
              <a:gd name="connsiteX8" fmla="*/ 193092 w 468548"/>
              <a:gd name="connsiteY8" fmla="*/ 259948 h 1418576"/>
              <a:gd name="connsiteX9" fmla="*/ 207945 w 468548"/>
              <a:gd name="connsiteY9" fmla="*/ 282230 h 1418576"/>
              <a:gd name="connsiteX10" fmla="*/ 222798 w 468548"/>
              <a:gd name="connsiteY10" fmla="*/ 326792 h 1418576"/>
              <a:gd name="connsiteX11" fmla="*/ 230225 w 468548"/>
              <a:gd name="connsiteY11" fmla="*/ 349073 h 1418576"/>
              <a:gd name="connsiteX12" fmla="*/ 245078 w 468548"/>
              <a:gd name="connsiteY12" fmla="*/ 408490 h 1418576"/>
              <a:gd name="connsiteX13" fmla="*/ 259931 w 468548"/>
              <a:gd name="connsiteY13" fmla="*/ 475334 h 1418576"/>
              <a:gd name="connsiteX14" fmla="*/ 267358 w 468548"/>
              <a:gd name="connsiteY14" fmla="*/ 497616 h 1418576"/>
              <a:gd name="connsiteX15" fmla="*/ 274785 w 468548"/>
              <a:gd name="connsiteY15" fmla="*/ 527324 h 1418576"/>
              <a:gd name="connsiteX16" fmla="*/ 289638 w 468548"/>
              <a:gd name="connsiteY16" fmla="*/ 571887 h 1418576"/>
              <a:gd name="connsiteX17" fmla="*/ 297064 w 468548"/>
              <a:gd name="connsiteY17" fmla="*/ 594168 h 1418576"/>
              <a:gd name="connsiteX18" fmla="*/ 304491 w 468548"/>
              <a:gd name="connsiteY18" fmla="*/ 631303 h 1418576"/>
              <a:gd name="connsiteX19" fmla="*/ 319344 w 468548"/>
              <a:gd name="connsiteY19" fmla="*/ 698147 h 1418576"/>
              <a:gd name="connsiteX20" fmla="*/ 326771 w 468548"/>
              <a:gd name="connsiteY20" fmla="*/ 750137 h 1418576"/>
              <a:gd name="connsiteX21" fmla="*/ 334197 w 468548"/>
              <a:gd name="connsiteY21" fmla="*/ 772418 h 1418576"/>
              <a:gd name="connsiteX22" fmla="*/ 341624 w 468548"/>
              <a:gd name="connsiteY22" fmla="*/ 802127 h 1418576"/>
              <a:gd name="connsiteX23" fmla="*/ 363904 w 468548"/>
              <a:gd name="connsiteY23" fmla="*/ 868971 h 1418576"/>
              <a:gd name="connsiteX24" fmla="*/ 371330 w 468548"/>
              <a:gd name="connsiteY24" fmla="*/ 891252 h 1418576"/>
              <a:gd name="connsiteX25" fmla="*/ 378757 w 468548"/>
              <a:gd name="connsiteY25" fmla="*/ 920960 h 1418576"/>
              <a:gd name="connsiteX26" fmla="*/ 393610 w 468548"/>
              <a:gd name="connsiteY26" fmla="*/ 965523 h 1418576"/>
              <a:gd name="connsiteX27" fmla="*/ 401037 w 468548"/>
              <a:gd name="connsiteY27" fmla="*/ 1002658 h 1418576"/>
              <a:gd name="connsiteX28" fmla="*/ 423317 w 468548"/>
              <a:gd name="connsiteY28" fmla="*/ 1069502 h 1418576"/>
              <a:gd name="connsiteX29" fmla="*/ 430743 w 468548"/>
              <a:gd name="connsiteY29" fmla="*/ 1091784 h 1418576"/>
              <a:gd name="connsiteX30" fmla="*/ 438170 w 468548"/>
              <a:gd name="connsiteY30" fmla="*/ 1136346 h 1418576"/>
              <a:gd name="connsiteX31" fmla="*/ 453023 w 468548"/>
              <a:gd name="connsiteY31" fmla="*/ 1322024 h 1418576"/>
              <a:gd name="connsiteX32" fmla="*/ 467876 w 468548"/>
              <a:gd name="connsiteY32" fmla="*/ 1418576 h 141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68548" h="1418576">
                <a:moveTo>
                  <a:pt x="0" y="0"/>
                </a:moveTo>
                <a:cubicBezTo>
                  <a:pt x="12378" y="2476"/>
                  <a:pt x="26630" y="425"/>
                  <a:pt x="37133" y="7427"/>
                </a:cubicBezTo>
                <a:cubicBezTo>
                  <a:pt x="43647" y="11770"/>
                  <a:pt x="41059" y="22706"/>
                  <a:pt x="44560" y="29708"/>
                </a:cubicBezTo>
                <a:cubicBezTo>
                  <a:pt x="53928" y="48445"/>
                  <a:pt x="60451" y="53028"/>
                  <a:pt x="74266" y="66844"/>
                </a:cubicBezTo>
                <a:cubicBezTo>
                  <a:pt x="83605" y="94860"/>
                  <a:pt x="85865" y="108154"/>
                  <a:pt x="111399" y="133688"/>
                </a:cubicBezTo>
                <a:cubicBezTo>
                  <a:pt x="116350" y="138639"/>
                  <a:pt x="121879" y="143074"/>
                  <a:pt x="126253" y="148542"/>
                </a:cubicBezTo>
                <a:cubicBezTo>
                  <a:pt x="167616" y="200247"/>
                  <a:pt x="110456" y="140171"/>
                  <a:pt x="163386" y="193104"/>
                </a:cubicBezTo>
                <a:cubicBezTo>
                  <a:pt x="182048" y="249101"/>
                  <a:pt x="156876" y="180087"/>
                  <a:pt x="185665" y="237667"/>
                </a:cubicBezTo>
                <a:cubicBezTo>
                  <a:pt x="189166" y="244669"/>
                  <a:pt x="189591" y="252946"/>
                  <a:pt x="193092" y="259948"/>
                </a:cubicBezTo>
                <a:cubicBezTo>
                  <a:pt x="197084" y="267932"/>
                  <a:pt x="204320" y="274073"/>
                  <a:pt x="207945" y="282230"/>
                </a:cubicBezTo>
                <a:cubicBezTo>
                  <a:pt x="214304" y="296538"/>
                  <a:pt x="217847" y="311938"/>
                  <a:pt x="222798" y="326792"/>
                </a:cubicBezTo>
                <a:cubicBezTo>
                  <a:pt x="225274" y="334219"/>
                  <a:pt x="228326" y="341478"/>
                  <a:pt x="230225" y="349073"/>
                </a:cubicBezTo>
                <a:cubicBezTo>
                  <a:pt x="235176" y="368879"/>
                  <a:pt x="241074" y="388471"/>
                  <a:pt x="245078" y="408490"/>
                </a:cubicBezTo>
                <a:cubicBezTo>
                  <a:pt x="250181" y="434005"/>
                  <a:pt x="252941" y="450869"/>
                  <a:pt x="259931" y="475334"/>
                </a:cubicBezTo>
                <a:cubicBezTo>
                  <a:pt x="262082" y="482862"/>
                  <a:pt x="265207" y="490088"/>
                  <a:pt x="267358" y="497616"/>
                </a:cubicBezTo>
                <a:cubicBezTo>
                  <a:pt x="270162" y="507431"/>
                  <a:pt x="271852" y="517547"/>
                  <a:pt x="274785" y="527324"/>
                </a:cubicBezTo>
                <a:cubicBezTo>
                  <a:pt x="279284" y="542321"/>
                  <a:pt x="284687" y="557033"/>
                  <a:pt x="289638" y="571887"/>
                </a:cubicBezTo>
                <a:cubicBezTo>
                  <a:pt x="292113" y="579314"/>
                  <a:pt x="295529" y="586491"/>
                  <a:pt x="297064" y="594168"/>
                </a:cubicBezTo>
                <a:cubicBezTo>
                  <a:pt x="299540" y="606546"/>
                  <a:pt x="301753" y="618980"/>
                  <a:pt x="304491" y="631303"/>
                </a:cubicBezTo>
                <a:cubicBezTo>
                  <a:pt x="313394" y="671369"/>
                  <a:pt x="311877" y="653340"/>
                  <a:pt x="319344" y="698147"/>
                </a:cubicBezTo>
                <a:cubicBezTo>
                  <a:pt x="322222" y="715415"/>
                  <a:pt x="323338" y="732971"/>
                  <a:pt x="326771" y="750137"/>
                </a:cubicBezTo>
                <a:cubicBezTo>
                  <a:pt x="328306" y="757814"/>
                  <a:pt x="332046" y="764891"/>
                  <a:pt x="334197" y="772418"/>
                </a:cubicBezTo>
                <a:cubicBezTo>
                  <a:pt x="337001" y="782233"/>
                  <a:pt x="338691" y="792350"/>
                  <a:pt x="341624" y="802127"/>
                </a:cubicBezTo>
                <a:cubicBezTo>
                  <a:pt x="341631" y="802149"/>
                  <a:pt x="360187" y="857820"/>
                  <a:pt x="363904" y="868971"/>
                </a:cubicBezTo>
                <a:cubicBezTo>
                  <a:pt x="366379" y="876398"/>
                  <a:pt x="369431" y="883657"/>
                  <a:pt x="371330" y="891252"/>
                </a:cubicBezTo>
                <a:cubicBezTo>
                  <a:pt x="373806" y="901155"/>
                  <a:pt x="375824" y="911183"/>
                  <a:pt x="378757" y="920960"/>
                </a:cubicBezTo>
                <a:cubicBezTo>
                  <a:pt x="383256" y="935957"/>
                  <a:pt x="390539" y="950169"/>
                  <a:pt x="393610" y="965523"/>
                </a:cubicBezTo>
                <a:cubicBezTo>
                  <a:pt x="396086" y="977901"/>
                  <a:pt x="397716" y="990479"/>
                  <a:pt x="401037" y="1002658"/>
                </a:cubicBezTo>
                <a:cubicBezTo>
                  <a:pt x="401047" y="1002695"/>
                  <a:pt x="419598" y="1058343"/>
                  <a:pt x="423317" y="1069502"/>
                </a:cubicBezTo>
                <a:cubicBezTo>
                  <a:pt x="425793" y="1076929"/>
                  <a:pt x="429456" y="1084062"/>
                  <a:pt x="430743" y="1091784"/>
                </a:cubicBezTo>
                <a:lnTo>
                  <a:pt x="438170" y="1136346"/>
                </a:lnTo>
                <a:cubicBezTo>
                  <a:pt x="439393" y="1155920"/>
                  <a:pt x="445507" y="1284440"/>
                  <a:pt x="453023" y="1322024"/>
                </a:cubicBezTo>
                <a:cubicBezTo>
                  <a:pt x="473356" y="1423694"/>
                  <a:pt x="467876" y="1305917"/>
                  <a:pt x="467876" y="1418576"/>
                </a:cubicBezTo>
              </a:path>
            </a:pathLst>
          </a:cu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49F6159-20C9-3345-A9DD-60F2C5E63451}"/>
              </a:ext>
            </a:extLst>
          </p:cNvPr>
          <p:cNvSpPr txBox="1"/>
          <p:nvPr/>
        </p:nvSpPr>
        <p:spPr>
          <a:xfrm>
            <a:off x="4734665" y="2084137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200" dirty="0">
                <a:solidFill>
                  <a:srgbClr val="0000FF"/>
                </a:solidFill>
              </a:rPr>
              <a:t>3α</a:t>
            </a:r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80BCF768-B84C-8F44-B2BF-DB3CD5ACF3AF}"/>
              </a:ext>
            </a:extLst>
          </p:cNvPr>
          <p:cNvSpPr/>
          <p:nvPr/>
        </p:nvSpPr>
        <p:spPr>
          <a:xfrm>
            <a:off x="5490359" y="1250086"/>
            <a:ext cx="229016" cy="1841063"/>
          </a:xfrm>
          <a:custGeom>
            <a:avLst/>
            <a:gdLst>
              <a:gd name="connsiteX0" fmla="*/ 0 w 178525"/>
              <a:gd name="connsiteY0" fmla="*/ 0 h 1218045"/>
              <a:gd name="connsiteX1" fmla="*/ 14854 w 178525"/>
              <a:gd name="connsiteY1" fmla="*/ 59417 h 1218045"/>
              <a:gd name="connsiteX2" fmla="*/ 29707 w 178525"/>
              <a:gd name="connsiteY2" fmla="*/ 81698 h 1218045"/>
              <a:gd name="connsiteX3" fmla="*/ 51987 w 178525"/>
              <a:gd name="connsiteY3" fmla="*/ 148542 h 1218045"/>
              <a:gd name="connsiteX4" fmla="*/ 59413 w 178525"/>
              <a:gd name="connsiteY4" fmla="*/ 170824 h 1218045"/>
              <a:gd name="connsiteX5" fmla="*/ 66840 w 178525"/>
              <a:gd name="connsiteY5" fmla="*/ 193105 h 1218045"/>
              <a:gd name="connsiteX6" fmla="*/ 81693 w 178525"/>
              <a:gd name="connsiteY6" fmla="*/ 252522 h 1218045"/>
              <a:gd name="connsiteX7" fmla="*/ 89120 w 178525"/>
              <a:gd name="connsiteY7" fmla="*/ 282230 h 1218045"/>
              <a:gd name="connsiteX8" fmla="*/ 96546 w 178525"/>
              <a:gd name="connsiteY8" fmla="*/ 304512 h 1218045"/>
              <a:gd name="connsiteX9" fmla="*/ 111399 w 178525"/>
              <a:gd name="connsiteY9" fmla="*/ 401064 h 1218045"/>
              <a:gd name="connsiteX10" fmla="*/ 118826 w 178525"/>
              <a:gd name="connsiteY10" fmla="*/ 423345 h 1218045"/>
              <a:gd name="connsiteX11" fmla="*/ 133679 w 178525"/>
              <a:gd name="connsiteY11" fmla="*/ 482762 h 1218045"/>
              <a:gd name="connsiteX12" fmla="*/ 148532 w 178525"/>
              <a:gd name="connsiteY12" fmla="*/ 571887 h 1218045"/>
              <a:gd name="connsiteX13" fmla="*/ 155959 w 178525"/>
              <a:gd name="connsiteY13" fmla="*/ 623877 h 1218045"/>
              <a:gd name="connsiteX14" fmla="*/ 170812 w 178525"/>
              <a:gd name="connsiteY14" fmla="*/ 757565 h 1218045"/>
              <a:gd name="connsiteX15" fmla="*/ 163386 w 178525"/>
              <a:gd name="connsiteY15" fmla="*/ 898680 h 1218045"/>
              <a:gd name="connsiteX16" fmla="*/ 178239 w 178525"/>
              <a:gd name="connsiteY16" fmla="*/ 1173482 h 1218045"/>
              <a:gd name="connsiteX17" fmla="*/ 178239 w 178525"/>
              <a:gd name="connsiteY17" fmla="*/ 1218045 h 1218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8525" h="1218045">
                <a:moveTo>
                  <a:pt x="0" y="0"/>
                </a:moveTo>
                <a:cubicBezTo>
                  <a:pt x="2825" y="14127"/>
                  <a:pt x="7241" y="44190"/>
                  <a:pt x="14854" y="59417"/>
                </a:cubicBezTo>
                <a:cubicBezTo>
                  <a:pt x="18846" y="67401"/>
                  <a:pt x="24756" y="74271"/>
                  <a:pt x="29707" y="81698"/>
                </a:cubicBezTo>
                <a:lnTo>
                  <a:pt x="51987" y="148542"/>
                </a:lnTo>
                <a:lnTo>
                  <a:pt x="59413" y="170824"/>
                </a:lnTo>
                <a:cubicBezTo>
                  <a:pt x="61888" y="178251"/>
                  <a:pt x="64941" y="185510"/>
                  <a:pt x="66840" y="193105"/>
                </a:cubicBezTo>
                <a:lnTo>
                  <a:pt x="81693" y="252522"/>
                </a:lnTo>
                <a:cubicBezTo>
                  <a:pt x="84169" y="262425"/>
                  <a:pt x="85893" y="272546"/>
                  <a:pt x="89120" y="282230"/>
                </a:cubicBezTo>
                <a:lnTo>
                  <a:pt x="96546" y="304512"/>
                </a:lnTo>
                <a:cubicBezTo>
                  <a:pt x="98912" y="321077"/>
                  <a:pt x="107281" y="382531"/>
                  <a:pt x="111399" y="401064"/>
                </a:cubicBezTo>
                <a:cubicBezTo>
                  <a:pt x="113097" y="408706"/>
                  <a:pt x="116927" y="415750"/>
                  <a:pt x="118826" y="423345"/>
                </a:cubicBezTo>
                <a:cubicBezTo>
                  <a:pt x="136754" y="495059"/>
                  <a:pt x="116701" y="431822"/>
                  <a:pt x="133679" y="482762"/>
                </a:cubicBezTo>
                <a:cubicBezTo>
                  <a:pt x="157952" y="652676"/>
                  <a:pt x="126813" y="441563"/>
                  <a:pt x="148532" y="571887"/>
                </a:cubicBezTo>
                <a:cubicBezTo>
                  <a:pt x="151410" y="589155"/>
                  <a:pt x="153645" y="606525"/>
                  <a:pt x="155959" y="623877"/>
                </a:cubicBezTo>
                <a:cubicBezTo>
                  <a:pt x="164371" y="686965"/>
                  <a:pt x="164020" y="689632"/>
                  <a:pt x="170812" y="757565"/>
                </a:cubicBezTo>
                <a:cubicBezTo>
                  <a:pt x="168337" y="804603"/>
                  <a:pt x="163386" y="851577"/>
                  <a:pt x="163386" y="898680"/>
                </a:cubicBezTo>
                <a:cubicBezTo>
                  <a:pt x="163386" y="943055"/>
                  <a:pt x="176006" y="1122123"/>
                  <a:pt x="178239" y="1173482"/>
                </a:cubicBezTo>
                <a:cubicBezTo>
                  <a:pt x="178884" y="1188322"/>
                  <a:pt x="178239" y="1203191"/>
                  <a:pt x="178239" y="1218045"/>
                </a:cubicBezTo>
              </a:path>
            </a:pathLst>
          </a:custGeom>
          <a:ln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F465900-F858-7F45-85D4-130E0CEC103D}"/>
              </a:ext>
            </a:extLst>
          </p:cNvPr>
          <p:cNvCxnSpPr/>
          <p:nvPr/>
        </p:nvCxnSpPr>
        <p:spPr>
          <a:xfrm flipV="1">
            <a:off x="6010053" y="1188447"/>
            <a:ext cx="0" cy="1717715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4338386-FBD0-6A4E-AE31-CD9C909D573A}"/>
              </a:ext>
            </a:extLst>
          </p:cNvPr>
          <p:cNvCxnSpPr/>
          <p:nvPr/>
        </p:nvCxnSpPr>
        <p:spPr>
          <a:xfrm flipV="1">
            <a:off x="6263051" y="999224"/>
            <a:ext cx="7026" cy="1539083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7A5D4D32-8FBB-2C4A-A525-9E987FCB699D}"/>
              </a:ext>
            </a:extLst>
          </p:cNvPr>
          <p:cNvSpPr txBox="1"/>
          <p:nvPr/>
        </p:nvSpPr>
        <p:spPr>
          <a:xfrm>
            <a:off x="5338222" y="1789208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200" dirty="0">
                <a:solidFill>
                  <a:srgbClr val="008000"/>
                </a:solidFill>
              </a:rPr>
              <a:t>C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46304C0-CC97-1F4C-AE1B-6EF9CFD115DB}"/>
              </a:ext>
            </a:extLst>
          </p:cNvPr>
          <p:cNvSpPr txBox="1"/>
          <p:nvPr/>
        </p:nvSpPr>
        <p:spPr>
          <a:xfrm>
            <a:off x="5703952" y="1529517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200" dirty="0">
                <a:solidFill>
                  <a:srgbClr val="008000"/>
                </a:solidFill>
              </a:rPr>
              <a:t>O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9848FF7-4142-314F-8F10-08D51977B3CA}"/>
              </a:ext>
            </a:extLst>
          </p:cNvPr>
          <p:cNvSpPr txBox="1"/>
          <p:nvPr/>
        </p:nvSpPr>
        <p:spPr>
          <a:xfrm>
            <a:off x="6281070" y="1049605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200" dirty="0">
                <a:solidFill>
                  <a:srgbClr val="008000"/>
                </a:solidFill>
              </a:rPr>
              <a:t>Si</a:t>
            </a:r>
          </a:p>
        </p:txBody>
      </p:sp>
      <p:sp>
        <p:nvSpPr>
          <p:cNvPr id="86" name="Oval 18">
            <a:extLst>
              <a:ext uri="{FF2B5EF4-FFF2-40B4-BE49-F238E27FC236}">
                <a16:creationId xmlns:a16="http://schemas.microsoft.com/office/drawing/2014/main" id="{7EEDE6AE-3ACA-604C-9288-9E0EDC160C89}"/>
              </a:ext>
            </a:extLst>
          </p:cNvPr>
          <p:cNvSpPr/>
          <p:nvPr/>
        </p:nvSpPr>
        <p:spPr>
          <a:xfrm>
            <a:off x="5502424" y="2467460"/>
            <a:ext cx="907083" cy="2069561"/>
          </a:xfrm>
          <a:custGeom>
            <a:avLst/>
            <a:gdLst>
              <a:gd name="connsiteX0" fmla="*/ 0 w 809499"/>
              <a:gd name="connsiteY0" fmla="*/ 1314597 h 2629194"/>
              <a:gd name="connsiteX1" fmla="*/ 404750 w 809499"/>
              <a:gd name="connsiteY1" fmla="*/ 0 h 2629194"/>
              <a:gd name="connsiteX2" fmla="*/ 809500 w 809499"/>
              <a:gd name="connsiteY2" fmla="*/ 1314597 h 2629194"/>
              <a:gd name="connsiteX3" fmla="*/ 404750 w 809499"/>
              <a:gd name="connsiteY3" fmla="*/ 2629194 h 2629194"/>
              <a:gd name="connsiteX4" fmla="*/ 0 w 809499"/>
              <a:gd name="connsiteY4" fmla="*/ 1314597 h 2629194"/>
              <a:gd name="connsiteX0" fmla="*/ 26 w 809526"/>
              <a:gd name="connsiteY0" fmla="*/ 1314597 h 1836525"/>
              <a:gd name="connsiteX1" fmla="*/ 404776 w 809526"/>
              <a:gd name="connsiteY1" fmla="*/ 0 h 1836525"/>
              <a:gd name="connsiteX2" fmla="*/ 809526 w 809526"/>
              <a:gd name="connsiteY2" fmla="*/ 1314597 h 1836525"/>
              <a:gd name="connsiteX3" fmla="*/ 389922 w 809526"/>
              <a:gd name="connsiteY3" fmla="*/ 1797359 h 1836525"/>
              <a:gd name="connsiteX4" fmla="*/ 26 w 809526"/>
              <a:gd name="connsiteY4" fmla="*/ 1314597 h 1836525"/>
              <a:gd name="connsiteX0" fmla="*/ 26 w 809526"/>
              <a:gd name="connsiteY0" fmla="*/ 1314597 h 1797359"/>
              <a:gd name="connsiteX1" fmla="*/ 404776 w 809526"/>
              <a:gd name="connsiteY1" fmla="*/ 0 h 1797359"/>
              <a:gd name="connsiteX2" fmla="*/ 809526 w 809526"/>
              <a:gd name="connsiteY2" fmla="*/ 1314597 h 1797359"/>
              <a:gd name="connsiteX3" fmla="*/ 389922 w 809526"/>
              <a:gd name="connsiteY3" fmla="*/ 1797359 h 1797359"/>
              <a:gd name="connsiteX4" fmla="*/ 26 w 809526"/>
              <a:gd name="connsiteY4" fmla="*/ 1314597 h 1797359"/>
              <a:gd name="connsiteX0" fmla="*/ 397 w 809897"/>
              <a:gd name="connsiteY0" fmla="*/ 1314597 h 1797359"/>
              <a:gd name="connsiteX1" fmla="*/ 405147 w 809897"/>
              <a:gd name="connsiteY1" fmla="*/ 0 h 1797359"/>
              <a:gd name="connsiteX2" fmla="*/ 809897 w 809897"/>
              <a:gd name="connsiteY2" fmla="*/ 1314597 h 1797359"/>
              <a:gd name="connsiteX3" fmla="*/ 390293 w 809897"/>
              <a:gd name="connsiteY3" fmla="*/ 1797359 h 1797359"/>
              <a:gd name="connsiteX4" fmla="*/ 397 w 809897"/>
              <a:gd name="connsiteY4" fmla="*/ 1314597 h 1797359"/>
              <a:gd name="connsiteX0" fmla="*/ 55 w 809555"/>
              <a:gd name="connsiteY0" fmla="*/ 1314597 h 1422507"/>
              <a:gd name="connsiteX1" fmla="*/ 404805 w 809555"/>
              <a:gd name="connsiteY1" fmla="*/ 0 h 1422507"/>
              <a:gd name="connsiteX2" fmla="*/ 809555 w 809555"/>
              <a:gd name="connsiteY2" fmla="*/ 1314597 h 1422507"/>
              <a:gd name="connsiteX3" fmla="*/ 427084 w 809555"/>
              <a:gd name="connsiteY3" fmla="*/ 1344306 h 1422507"/>
              <a:gd name="connsiteX4" fmla="*/ 55 w 809555"/>
              <a:gd name="connsiteY4" fmla="*/ 1314597 h 1422507"/>
              <a:gd name="connsiteX0" fmla="*/ 55 w 809555"/>
              <a:gd name="connsiteY0" fmla="*/ 1314597 h 1364227"/>
              <a:gd name="connsiteX1" fmla="*/ 404805 w 809555"/>
              <a:gd name="connsiteY1" fmla="*/ 0 h 1364227"/>
              <a:gd name="connsiteX2" fmla="*/ 809555 w 809555"/>
              <a:gd name="connsiteY2" fmla="*/ 1314597 h 1364227"/>
              <a:gd name="connsiteX3" fmla="*/ 427084 w 809555"/>
              <a:gd name="connsiteY3" fmla="*/ 1344306 h 1364227"/>
              <a:gd name="connsiteX4" fmla="*/ 55 w 809555"/>
              <a:gd name="connsiteY4" fmla="*/ 1314597 h 1364227"/>
              <a:gd name="connsiteX0" fmla="*/ 2019 w 811519"/>
              <a:gd name="connsiteY0" fmla="*/ 1314597 h 1583851"/>
              <a:gd name="connsiteX1" fmla="*/ 406769 w 811519"/>
              <a:gd name="connsiteY1" fmla="*/ 0 h 1583851"/>
              <a:gd name="connsiteX2" fmla="*/ 811519 w 811519"/>
              <a:gd name="connsiteY2" fmla="*/ 1314597 h 1583851"/>
              <a:gd name="connsiteX3" fmla="*/ 429048 w 811519"/>
              <a:gd name="connsiteY3" fmla="*/ 1344306 h 1583851"/>
              <a:gd name="connsiteX4" fmla="*/ 2019 w 811519"/>
              <a:gd name="connsiteY4" fmla="*/ 1314597 h 1583851"/>
              <a:gd name="connsiteX0" fmla="*/ 416 w 809916"/>
              <a:gd name="connsiteY0" fmla="*/ 1314597 h 1352199"/>
              <a:gd name="connsiteX1" fmla="*/ 405166 w 809916"/>
              <a:gd name="connsiteY1" fmla="*/ 0 h 1352199"/>
              <a:gd name="connsiteX2" fmla="*/ 809916 w 809916"/>
              <a:gd name="connsiteY2" fmla="*/ 1314597 h 1352199"/>
              <a:gd name="connsiteX3" fmla="*/ 427445 w 809916"/>
              <a:gd name="connsiteY3" fmla="*/ 1344306 h 1352199"/>
              <a:gd name="connsiteX4" fmla="*/ 416 w 809916"/>
              <a:gd name="connsiteY4" fmla="*/ 1314597 h 1352199"/>
              <a:gd name="connsiteX0" fmla="*/ 298 w 802084"/>
              <a:gd name="connsiteY0" fmla="*/ 1314601 h 1351170"/>
              <a:gd name="connsiteX1" fmla="*/ 405048 w 802084"/>
              <a:gd name="connsiteY1" fmla="*/ 4 h 1351170"/>
              <a:gd name="connsiteX2" fmla="*/ 802084 w 802084"/>
              <a:gd name="connsiteY2" fmla="*/ 1331500 h 1351170"/>
              <a:gd name="connsiteX3" fmla="*/ 427327 w 802084"/>
              <a:gd name="connsiteY3" fmla="*/ 1344310 h 1351170"/>
              <a:gd name="connsiteX4" fmla="*/ 298 w 802084"/>
              <a:gd name="connsiteY4" fmla="*/ 1314601 h 1351170"/>
              <a:gd name="connsiteX0" fmla="*/ 298 w 802084"/>
              <a:gd name="connsiteY0" fmla="*/ 1314601 h 1351170"/>
              <a:gd name="connsiteX1" fmla="*/ 405048 w 802084"/>
              <a:gd name="connsiteY1" fmla="*/ 4 h 1351170"/>
              <a:gd name="connsiteX2" fmla="*/ 802084 w 802084"/>
              <a:gd name="connsiteY2" fmla="*/ 1331500 h 1351170"/>
              <a:gd name="connsiteX3" fmla="*/ 427327 w 802084"/>
              <a:gd name="connsiteY3" fmla="*/ 1344310 h 1351170"/>
              <a:gd name="connsiteX4" fmla="*/ 298 w 802084"/>
              <a:gd name="connsiteY4" fmla="*/ 1314601 h 1351170"/>
              <a:gd name="connsiteX0" fmla="*/ 567 w 802353"/>
              <a:gd name="connsiteY0" fmla="*/ 1314602 h 1421799"/>
              <a:gd name="connsiteX1" fmla="*/ 521020 w 802353"/>
              <a:gd name="connsiteY1" fmla="*/ 5 h 1421799"/>
              <a:gd name="connsiteX2" fmla="*/ 802353 w 802353"/>
              <a:gd name="connsiteY2" fmla="*/ 1331501 h 1421799"/>
              <a:gd name="connsiteX3" fmla="*/ 427596 w 802353"/>
              <a:gd name="connsiteY3" fmla="*/ 1344311 h 1421799"/>
              <a:gd name="connsiteX4" fmla="*/ 567 w 802353"/>
              <a:gd name="connsiteY4" fmla="*/ 1314602 h 1421799"/>
              <a:gd name="connsiteX0" fmla="*/ 4323 w 806109"/>
              <a:gd name="connsiteY0" fmla="*/ 1314603 h 1471677"/>
              <a:gd name="connsiteX1" fmla="*/ 524776 w 806109"/>
              <a:gd name="connsiteY1" fmla="*/ 6 h 1471677"/>
              <a:gd name="connsiteX2" fmla="*/ 806109 w 806109"/>
              <a:gd name="connsiteY2" fmla="*/ 1331502 h 1471677"/>
              <a:gd name="connsiteX3" fmla="*/ 431352 w 806109"/>
              <a:gd name="connsiteY3" fmla="*/ 1344312 h 1471677"/>
              <a:gd name="connsiteX4" fmla="*/ 4323 w 806109"/>
              <a:gd name="connsiteY4" fmla="*/ 1314603 h 1471677"/>
              <a:gd name="connsiteX0" fmla="*/ 4323 w 806109"/>
              <a:gd name="connsiteY0" fmla="*/ 1314603 h 1456699"/>
              <a:gd name="connsiteX1" fmla="*/ 524776 w 806109"/>
              <a:gd name="connsiteY1" fmla="*/ 6 h 1456699"/>
              <a:gd name="connsiteX2" fmla="*/ 806109 w 806109"/>
              <a:gd name="connsiteY2" fmla="*/ 1331502 h 1456699"/>
              <a:gd name="connsiteX3" fmla="*/ 431352 w 806109"/>
              <a:gd name="connsiteY3" fmla="*/ 1344312 h 1456699"/>
              <a:gd name="connsiteX4" fmla="*/ 4323 w 806109"/>
              <a:gd name="connsiteY4" fmla="*/ 1314603 h 1456699"/>
              <a:gd name="connsiteX0" fmla="*/ 151 w 801937"/>
              <a:gd name="connsiteY0" fmla="*/ 1314603 h 1349420"/>
              <a:gd name="connsiteX1" fmla="*/ 520604 w 801937"/>
              <a:gd name="connsiteY1" fmla="*/ 6 h 1349420"/>
              <a:gd name="connsiteX2" fmla="*/ 801937 w 801937"/>
              <a:gd name="connsiteY2" fmla="*/ 1331502 h 1349420"/>
              <a:gd name="connsiteX3" fmla="*/ 427180 w 801937"/>
              <a:gd name="connsiteY3" fmla="*/ 1344312 h 1349420"/>
              <a:gd name="connsiteX4" fmla="*/ 151 w 801937"/>
              <a:gd name="connsiteY4" fmla="*/ 1314603 h 1349420"/>
              <a:gd name="connsiteX0" fmla="*/ 113 w 801899"/>
              <a:gd name="connsiteY0" fmla="*/ 1314603 h 1349420"/>
              <a:gd name="connsiteX1" fmla="*/ 520566 w 801899"/>
              <a:gd name="connsiteY1" fmla="*/ 6 h 1349420"/>
              <a:gd name="connsiteX2" fmla="*/ 801899 w 801899"/>
              <a:gd name="connsiteY2" fmla="*/ 1331502 h 1349420"/>
              <a:gd name="connsiteX3" fmla="*/ 427142 w 801899"/>
              <a:gd name="connsiteY3" fmla="*/ 1344312 h 1349420"/>
              <a:gd name="connsiteX4" fmla="*/ 113 w 801899"/>
              <a:gd name="connsiteY4" fmla="*/ 1314603 h 1349420"/>
              <a:gd name="connsiteX0" fmla="*/ 110 w 809609"/>
              <a:gd name="connsiteY0" fmla="*/ 1331495 h 1348374"/>
              <a:gd name="connsiteX1" fmla="*/ 528276 w 809609"/>
              <a:gd name="connsiteY1" fmla="*/ 0 h 1348374"/>
              <a:gd name="connsiteX2" fmla="*/ 809609 w 809609"/>
              <a:gd name="connsiteY2" fmla="*/ 1331496 h 1348374"/>
              <a:gd name="connsiteX3" fmla="*/ 434852 w 809609"/>
              <a:gd name="connsiteY3" fmla="*/ 1344306 h 1348374"/>
              <a:gd name="connsiteX4" fmla="*/ 110 w 809609"/>
              <a:gd name="connsiteY4" fmla="*/ 1331495 h 1348374"/>
              <a:gd name="connsiteX0" fmla="*/ 1764 w 811263"/>
              <a:gd name="connsiteY0" fmla="*/ 1370924 h 1476852"/>
              <a:gd name="connsiteX1" fmla="*/ 608563 w 811263"/>
              <a:gd name="connsiteY1" fmla="*/ 0 h 1476852"/>
              <a:gd name="connsiteX2" fmla="*/ 811263 w 811263"/>
              <a:gd name="connsiteY2" fmla="*/ 1370925 h 1476852"/>
              <a:gd name="connsiteX3" fmla="*/ 436506 w 811263"/>
              <a:gd name="connsiteY3" fmla="*/ 1383735 h 1476852"/>
              <a:gd name="connsiteX4" fmla="*/ 1764 w 811263"/>
              <a:gd name="connsiteY4" fmla="*/ 1370924 h 1476852"/>
              <a:gd name="connsiteX0" fmla="*/ 1210 w 810709"/>
              <a:gd name="connsiteY0" fmla="*/ 1376557 h 1482902"/>
              <a:gd name="connsiteX1" fmla="*/ 576556 w 810709"/>
              <a:gd name="connsiteY1" fmla="*/ 0 h 1482902"/>
              <a:gd name="connsiteX2" fmla="*/ 810709 w 810709"/>
              <a:gd name="connsiteY2" fmla="*/ 1376558 h 1482902"/>
              <a:gd name="connsiteX3" fmla="*/ 435952 w 810709"/>
              <a:gd name="connsiteY3" fmla="*/ 1389368 h 1482902"/>
              <a:gd name="connsiteX4" fmla="*/ 1210 w 810709"/>
              <a:gd name="connsiteY4" fmla="*/ 1376557 h 1482902"/>
              <a:gd name="connsiteX0" fmla="*/ 143 w 809642"/>
              <a:gd name="connsiteY0" fmla="*/ 1376557 h 1398414"/>
              <a:gd name="connsiteX1" fmla="*/ 575489 w 809642"/>
              <a:gd name="connsiteY1" fmla="*/ 0 h 1398414"/>
              <a:gd name="connsiteX2" fmla="*/ 809642 w 809642"/>
              <a:gd name="connsiteY2" fmla="*/ 1376558 h 1398414"/>
              <a:gd name="connsiteX3" fmla="*/ 434885 w 809642"/>
              <a:gd name="connsiteY3" fmla="*/ 1389368 h 1398414"/>
              <a:gd name="connsiteX4" fmla="*/ 143 w 809642"/>
              <a:gd name="connsiteY4" fmla="*/ 1376557 h 1398414"/>
              <a:gd name="connsiteX0" fmla="*/ 270 w 809769"/>
              <a:gd name="connsiteY0" fmla="*/ 1376557 h 1398120"/>
              <a:gd name="connsiteX1" fmla="*/ 575616 w 809769"/>
              <a:gd name="connsiteY1" fmla="*/ 0 h 1398120"/>
              <a:gd name="connsiteX2" fmla="*/ 809769 w 809769"/>
              <a:gd name="connsiteY2" fmla="*/ 1376558 h 1398120"/>
              <a:gd name="connsiteX3" fmla="*/ 435012 w 809769"/>
              <a:gd name="connsiteY3" fmla="*/ 1389368 h 1398120"/>
              <a:gd name="connsiteX4" fmla="*/ 270 w 809769"/>
              <a:gd name="connsiteY4" fmla="*/ 1376557 h 139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9769" h="1398120">
                <a:moveTo>
                  <a:pt x="270" y="1376557"/>
                </a:moveTo>
                <a:cubicBezTo>
                  <a:pt x="99301" y="1012823"/>
                  <a:pt x="440700" y="0"/>
                  <a:pt x="575616" y="0"/>
                </a:cubicBezTo>
                <a:cubicBezTo>
                  <a:pt x="710532" y="0"/>
                  <a:pt x="763489" y="498444"/>
                  <a:pt x="809769" y="1376558"/>
                </a:cubicBezTo>
                <a:cubicBezTo>
                  <a:pt x="809769" y="1404442"/>
                  <a:pt x="569928" y="1389368"/>
                  <a:pt x="435012" y="1389368"/>
                </a:cubicBezTo>
                <a:cubicBezTo>
                  <a:pt x="300096" y="1389368"/>
                  <a:pt x="-10444" y="1415909"/>
                  <a:pt x="270" y="1376557"/>
                </a:cubicBezTo>
                <a:close/>
              </a:path>
            </a:pathLst>
          </a:custGeom>
          <a:solidFill>
            <a:srgbClr val="CC0099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4F7C699-308D-FD4E-A731-F0F38FC85A89}"/>
              </a:ext>
            </a:extLst>
          </p:cNvPr>
          <p:cNvSpPr txBox="1"/>
          <p:nvPr/>
        </p:nvSpPr>
        <p:spPr>
          <a:xfrm>
            <a:off x="5833885" y="3778243"/>
            <a:ext cx="45397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dirty="0">
                <a:solidFill>
                  <a:srgbClr val="ABE7FF"/>
                </a:solidFill>
              </a:rPr>
              <a:t>pair</a:t>
            </a:r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92726651-7044-8348-A4AD-2006144C14F9}"/>
              </a:ext>
            </a:extLst>
          </p:cNvPr>
          <p:cNvSpPr/>
          <p:nvPr/>
        </p:nvSpPr>
        <p:spPr>
          <a:xfrm>
            <a:off x="6159789" y="915348"/>
            <a:ext cx="177268" cy="1550368"/>
          </a:xfrm>
          <a:custGeom>
            <a:avLst/>
            <a:gdLst>
              <a:gd name="connsiteX0" fmla="*/ 59413 w 149461"/>
              <a:gd name="connsiteY0" fmla="*/ 0 h 1307170"/>
              <a:gd name="connsiteX1" fmla="*/ 89119 w 149461"/>
              <a:gd name="connsiteY1" fmla="*/ 37136 h 1307170"/>
              <a:gd name="connsiteX2" fmla="*/ 66839 w 149461"/>
              <a:gd name="connsiteY2" fmla="*/ 89126 h 1307170"/>
              <a:gd name="connsiteX3" fmla="*/ 44560 w 149461"/>
              <a:gd name="connsiteY3" fmla="*/ 103980 h 1307170"/>
              <a:gd name="connsiteX4" fmla="*/ 22280 w 149461"/>
              <a:gd name="connsiteY4" fmla="*/ 111407 h 1307170"/>
              <a:gd name="connsiteX5" fmla="*/ 0 w 149461"/>
              <a:gd name="connsiteY5" fmla="*/ 126261 h 1307170"/>
              <a:gd name="connsiteX6" fmla="*/ 22280 w 149461"/>
              <a:gd name="connsiteY6" fmla="*/ 178251 h 1307170"/>
              <a:gd name="connsiteX7" fmla="*/ 44560 w 149461"/>
              <a:gd name="connsiteY7" fmla="*/ 193105 h 1307170"/>
              <a:gd name="connsiteX8" fmla="*/ 81693 w 149461"/>
              <a:gd name="connsiteY8" fmla="*/ 230241 h 1307170"/>
              <a:gd name="connsiteX9" fmla="*/ 89119 w 149461"/>
              <a:gd name="connsiteY9" fmla="*/ 297085 h 1307170"/>
              <a:gd name="connsiteX10" fmla="*/ 66839 w 149461"/>
              <a:gd name="connsiteY10" fmla="*/ 304512 h 1307170"/>
              <a:gd name="connsiteX11" fmla="*/ 44560 w 149461"/>
              <a:gd name="connsiteY11" fmla="*/ 319366 h 1307170"/>
              <a:gd name="connsiteX12" fmla="*/ 22280 w 149461"/>
              <a:gd name="connsiteY12" fmla="*/ 326793 h 1307170"/>
              <a:gd name="connsiteX13" fmla="*/ 7427 w 149461"/>
              <a:gd name="connsiteY13" fmla="*/ 349074 h 1307170"/>
              <a:gd name="connsiteX14" fmla="*/ 37133 w 149461"/>
              <a:gd name="connsiteY14" fmla="*/ 393637 h 1307170"/>
              <a:gd name="connsiteX15" fmla="*/ 74266 w 149461"/>
              <a:gd name="connsiteY15" fmla="*/ 430772 h 1307170"/>
              <a:gd name="connsiteX16" fmla="*/ 111399 w 149461"/>
              <a:gd name="connsiteY16" fmla="*/ 497616 h 1307170"/>
              <a:gd name="connsiteX17" fmla="*/ 89119 w 149461"/>
              <a:gd name="connsiteY17" fmla="*/ 519898 h 1307170"/>
              <a:gd name="connsiteX18" fmla="*/ 74266 w 149461"/>
              <a:gd name="connsiteY18" fmla="*/ 542179 h 1307170"/>
              <a:gd name="connsiteX19" fmla="*/ 29706 w 149461"/>
              <a:gd name="connsiteY19" fmla="*/ 571887 h 1307170"/>
              <a:gd name="connsiteX20" fmla="*/ 22280 w 149461"/>
              <a:gd name="connsiteY20" fmla="*/ 594169 h 1307170"/>
              <a:gd name="connsiteX21" fmla="*/ 44560 w 149461"/>
              <a:gd name="connsiteY21" fmla="*/ 646158 h 1307170"/>
              <a:gd name="connsiteX22" fmla="*/ 89119 w 149461"/>
              <a:gd name="connsiteY22" fmla="*/ 661013 h 1307170"/>
              <a:gd name="connsiteX23" fmla="*/ 111399 w 149461"/>
              <a:gd name="connsiteY23" fmla="*/ 668440 h 1307170"/>
              <a:gd name="connsiteX24" fmla="*/ 126252 w 149461"/>
              <a:gd name="connsiteY24" fmla="*/ 690721 h 1307170"/>
              <a:gd name="connsiteX25" fmla="*/ 66839 w 149461"/>
              <a:gd name="connsiteY25" fmla="*/ 764992 h 1307170"/>
              <a:gd name="connsiteX26" fmla="*/ 44560 w 149461"/>
              <a:gd name="connsiteY26" fmla="*/ 772419 h 1307170"/>
              <a:gd name="connsiteX27" fmla="*/ 14853 w 149461"/>
              <a:gd name="connsiteY27" fmla="*/ 809555 h 1307170"/>
              <a:gd name="connsiteX28" fmla="*/ 7427 w 149461"/>
              <a:gd name="connsiteY28" fmla="*/ 831836 h 1307170"/>
              <a:gd name="connsiteX29" fmla="*/ 14853 w 149461"/>
              <a:gd name="connsiteY29" fmla="*/ 854117 h 1307170"/>
              <a:gd name="connsiteX30" fmla="*/ 81693 w 149461"/>
              <a:gd name="connsiteY30" fmla="*/ 891253 h 1307170"/>
              <a:gd name="connsiteX31" fmla="*/ 103972 w 149461"/>
              <a:gd name="connsiteY31" fmla="*/ 898680 h 1307170"/>
              <a:gd name="connsiteX32" fmla="*/ 126252 w 149461"/>
              <a:gd name="connsiteY32" fmla="*/ 906107 h 1307170"/>
              <a:gd name="connsiteX33" fmla="*/ 148532 w 149461"/>
              <a:gd name="connsiteY33" fmla="*/ 928388 h 1307170"/>
              <a:gd name="connsiteX34" fmla="*/ 118826 w 149461"/>
              <a:gd name="connsiteY34" fmla="*/ 965524 h 1307170"/>
              <a:gd name="connsiteX35" fmla="*/ 96546 w 149461"/>
              <a:gd name="connsiteY35" fmla="*/ 972951 h 1307170"/>
              <a:gd name="connsiteX36" fmla="*/ 74266 w 149461"/>
              <a:gd name="connsiteY36" fmla="*/ 987805 h 1307170"/>
              <a:gd name="connsiteX37" fmla="*/ 29706 w 149461"/>
              <a:gd name="connsiteY37" fmla="*/ 1010086 h 1307170"/>
              <a:gd name="connsiteX38" fmla="*/ 14853 w 149461"/>
              <a:gd name="connsiteY38" fmla="*/ 1032368 h 1307170"/>
              <a:gd name="connsiteX39" fmla="*/ 14853 w 149461"/>
              <a:gd name="connsiteY39" fmla="*/ 1076930 h 1307170"/>
              <a:gd name="connsiteX40" fmla="*/ 37133 w 149461"/>
              <a:gd name="connsiteY40" fmla="*/ 1091784 h 1307170"/>
              <a:gd name="connsiteX41" fmla="*/ 81693 w 149461"/>
              <a:gd name="connsiteY41" fmla="*/ 1106639 h 1307170"/>
              <a:gd name="connsiteX42" fmla="*/ 118826 w 149461"/>
              <a:gd name="connsiteY42" fmla="*/ 1136347 h 1307170"/>
              <a:gd name="connsiteX43" fmla="*/ 126252 w 149461"/>
              <a:gd name="connsiteY43" fmla="*/ 1158628 h 1307170"/>
              <a:gd name="connsiteX44" fmla="*/ 103972 w 149461"/>
              <a:gd name="connsiteY44" fmla="*/ 1195764 h 1307170"/>
              <a:gd name="connsiteX45" fmla="*/ 74266 w 149461"/>
              <a:gd name="connsiteY45" fmla="*/ 1203191 h 1307170"/>
              <a:gd name="connsiteX46" fmla="*/ 7427 w 149461"/>
              <a:gd name="connsiteY46" fmla="*/ 1218045 h 1307170"/>
              <a:gd name="connsiteX47" fmla="*/ 29706 w 149461"/>
              <a:gd name="connsiteY47" fmla="*/ 1262608 h 1307170"/>
              <a:gd name="connsiteX48" fmla="*/ 51986 w 149461"/>
              <a:gd name="connsiteY48" fmla="*/ 1277462 h 1307170"/>
              <a:gd name="connsiteX49" fmla="*/ 96546 w 149461"/>
              <a:gd name="connsiteY49" fmla="*/ 1307170 h 1307170"/>
              <a:gd name="connsiteX50" fmla="*/ 89119 w 149461"/>
              <a:gd name="connsiteY50" fmla="*/ 1299743 h 1307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49461" h="1307170">
                <a:moveTo>
                  <a:pt x="59413" y="0"/>
                </a:moveTo>
                <a:cubicBezTo>
                  <a:pt x="69315" y="12379"/>
                  <a:pt x="84564" y="21953"/>
                  <a:pt x="89119" y="37136"/>
                </a:cubicBezTo>
                <a:cubicBezTo>
                  <a:pt x="95987" y="60030"/>
                  <a:pt x="81928" y="77054"/>
                  <a:pt x="66839" y="89126"/>
                </a:cubicBezTo>
                <a:cubicBezTo>
                  <a:pt x="59870" y="94702"/>
                  <a:pt x="52543" y="99988"/>
                  <a:pt x="44560" y="103980"/>
                </a:cubicBezTo>
                <a:cubicBezTo>
                  <a:pt x="37558" y="107481"/>
                  <a:pt x="29282" y="107906"/>
                  <a:pt x="22280" y="111407"/>
                </a:cubicBezTo>
                <a:cubicBezTo>
                  <a:pt x="14297" y="115399"/>
                  <a:pt x="7427" y="121310"/>
                  <a:pt x="0" y="126261"/>
                </a:cubicBezTo>
                <a:cubicBezTo>
                  <a:pt x="5681" y="148987"/>
                  <a:pt x="5184" y="161154"/>
                  <a:pt x="22280" y="178251"/>
                </a:cubicBezTo>
                <a:cubicBezTo>
                  <a:pt x="28591" y="184563"/>
                  <a:pt x="37843" y="187227"/>
                  <a:pt x="44560" y="193105"/>
                </a:cubicBezTo>
                <a:cubicBezTo>
                  <a:pt x="57734" y="204633"/>
                  <a:pt x="81693" y="230241"/>
                  <a:pt x="81693" y="230241"/>
                </a:cubicBezTo>
                <a:cubicBezTo>
                  <a:pt x="86645" y="245097"/>
                  <a:pt x="107686" y="278517"/>
                  <a:pt x="89119" y="297085"/>
                </a:cubicBezTo>
                <a:cubicBezTo>
                  <a:pt x="83584" y="302621"/>
                  <a:pt x="74266" y="302036"/>
                  <a:pt x="66839" y="304512"/>
                </a:cubicBezTo>
                <a:cubicBezTo>
                  <a:pt x="59413" y="309463"/>
                  <a:pt x="52543" y="315374"/>
                  <a:pt x="44560" y="319366"/>
                </a:cubicBezTo>
                <a:cubicBezTo>
                  <a:pt x="37558" y="322867"/>
                  <a:pt x="28393" y="321902"/>
                  <a:pt x="22280" y="326793"/>
                </a:cubicBezTo>
                <a:cubicBezTo>
                  <a:pt x="15310" y="332369"/>
                  <a:pt x="12378" y="341647"/>
                  <a:pt x="7427" y="349074"/>
                </a:cubicBezTo>
                <a:cubicBezTo>
                  <a:pt x="20477" y="388232"/>
                  <a:pt x="6227" y="356548"/>
                  <a:pt x="37133" y="393637"/>
                </a:cubicBezTo>
                <a:cubicBezTo>
                  <a:pt x="68077" y="430772"/>
                  <a:pt x="33419" y="403539"/>
                  <a:pt x="74266" y="430772"/>
                </a:cubicBezTo>
                <a:cubicBezTo>
                  <a:pt x="108314" y="481849"/>
                  <a:pt x="98327" y="458399"/>
                  <a:pt x="111399" y="497616"/>
                </a:cubicBezTo>
                <a:cubicBezTo>
                  <a:pt x="103972" y="505043"/>
                  <a:pt x="95843" y="511829"/>
                  <a:pt x="89119" y="519898"/>
                </a:cubicBezTo>
                <a:cubicBezTo>
                  <a:pt x="83405" y="526755"/>
                  <a:pt x="80983" y="536301"/>
                  <a:pt x="74266" y="542179"/>
                </a:cubicBezTo>
                <a:cubicBezTo>
                  <a:pt x="60831" y="553935"/>
                  <a:pt x="29706" y="571887"/>
                  <a:pt x="29706" y="571887"/>
                </a:cubicBezTo>
                <a:cubicBezTo>
                  <a:pt x="27231" y="579314"/>
                  <a:pt x="22280" y="586340"/>
                  <a:pt x="22280" y="594169"/>
                </a:cubicBezTo>
                <a:cubicBezTo>
                  <a:pt x="22280" y="606015"/>
                  <a:pt x="32431" y="638577"/>
                  <a:pt x="44560" y="646158"/>
                </a:cubicBezTo>
                <a:cubicBezTo>
                  <a:pt x="57837" y="654456"/>
                  <a:pt x="74266" y="656061"/>
                  <a:pt x="89119" y="661013"/>
                </a:cubicBezTo>
                <a:lnTo>
                  <a:pt x="111399" y="668440"/>
                </a:lnTo>
                <a:cubicBezTo>
                  <a:pt x="116350" y="675867"/>
                  <a:pt x="126252" y="681795"/>
                  <a:pt x="126252" y="690721"/>
                </a:cubicBezTo>
                <a:cubicBezTo>
                  <a:pt x="126252" y="728550"/>
                  <a:pt x="101057" y="753585"/>
                  <a:pt x="66839" y="764992"/>
                </a:cubicBezTo>
                <a:lnTo>
                  <a:pt x="44560" y="772419"/>
                </a:lnTo>
                <a:cubicBezTo>
                  <a:pt x="30742" y="786237"/>
                  <a:pt x="24222" y="790814"/>
                  <a:pt x="14853" y="809555"/>
                </a:cubicBezTo>
                <a:cubicBezTo>
                  <a:pt x="11352" y="816557"/>
                  <a:pt x="9902" y="824409"/>
                  <a:pt x="7427" y="831836"/>
                </a:cubicBezTo>
                <a:cubicBezTo>
                  <a:pt x="9902" y="839263"/>
                  <a:pt x="10511" y="847603"/>
                  <a:pt x="14853" y="854117"/>
                </a:cubicBezTo>
                <a:cubicBezTo>
                  <a:pt x="33910" y="882704"/>
                  <a:pt x="48477" y="880180"/>
                  <a:pt x="81693" y="891253"/>
                </a:cubicBezTo>
                <a:lnTo>
                  <a:pt x="103972" y="898680"/>
                </a:lnTo>
                <a:lnTo>
                  <a:pt x="126252" y="906107"/>
                </a:lnTo>
                <a:cubicBezTo>
                  <a:pt x="133679" y="913534"/>
                  <a:pt x="145211" y="918424"/>
                  <a:pt x="148532" y="928388"/>
                </a:cubicBezTo>
                <a:cubicBezTo>
                  <a:pt x="154650" y="946742"/>
                  <a:pt x="128958" y="960457"/>
                  <a:pt x="118826" y="965524"/>
                </a:cubicBezTo>
                <a:cubicBezTo>
                  <a:pt x="111824" y="969025"/>
                  <a:pt x="103548" y="969450"/>
                  <a:pt x="96546" y="972951"/>
                </a:cubicBezTo>
                <a:cubicBezTo>
                  <a:pt x="88563" y="976943"/>
                  <a:pt x="82249" y="983813"/>
                  <a:pt x="74266" y="987805"/>
                </a:cubicBezTo>
                <a:cubicBezTo>
                  <a:pt x="12770" y="1018554"/>
                  <a:pt x="93558" y="967516"/>
                  <a:pt x="29706" y="1010086"/>
                </a:cubicBezTo>
                <a:cubicBezTo>
                  <a:pt x="24755" y="1017513"/>
                  <a:pt x="18845" y="1024384"/>
                  <a:pt x="14853" y="1032368"/>
                </a:cubicBezTo>
                <a:cubicBezTo>
                  <a:pt x="7237" y="1047602"/>
                  <a:pt x="2667" y="1061696"/>
                  <a:pt x="14853" y="1076930"/>
                </a:cubicBezTo>
                <a:cubicBezTo>
                  <a:pt x="20429" y="1083900"/>
                  <a:pt x="28977" y="1088159"/>
                  <a:pt x="37133" y="1091784"/>
                </a:cubicBezTo>
                <a:cubicBezTo>
                  <a:pt x="51440" y="1098143"/>
                  <a:pt x="81693" y="1106639"/>
                  <a:pt x="81693" y="1106639"/>
                </a:cubicBezTo>
                <a:cubicBezTo>
                  <a:pt x="91810" y="1113385"/>
                  <a:pt x="111772" y="1124590"/>
                  <a:pt x="118826" y="1136347"/>
                </a:cubicBezTo>
                <a:cubicBezTo>
                  <a:pt x="122854" y="1143060"/>
                  <a:pt x="123777" y="1151201"/>
                  <a:pt x="126252" y="1158628"/>
                </a:cubicBezTo>
                <a:cubicBezTo>
                  <a:pt x="121170" y="1173876"/>
                  <a:pt x="120285" y="1187607"/>
                  <a:pt x="103972" y="1195764"/>
                </a:cubicBezTo>
                <a:cubicBezTo>
                  <a:pt x="94843" y="1200329"/>
                  <a:pt x="84230" y="1200977"/>
                  <a:pt x="74266" y="1203191"/>
                </a:cubicBezTo>
                <a:cubicBezTo>
                  <a:pt x="-10588" y="1222049"/>
                  <a:pt x="79873" y="1199932"/>
                  <a:pt x="7427" y="1218045"/>
                </a:cubicBezTo>
                <a:cubicBezTo>
                  <a:pt x="13467" y="1236166"/>
                  <a:pt x="15310" y="1248210"/>
                  <a:pt x="29706" y="1262608"/>
                </a:cubicBezTo>
                <a:cubicBezTo>
                  <a:pt x="36017" y="1268920"/>
                  <a:pt x="45129" y="1271748"/>
                  <a:pt x="51986" y="1277462"/>
                </a:cubicBezTo>
                <a:cubicBezTo>
                  <a:pt x="68060" y="1290858"/>
                  <a:pt x="73053" y="1307170"/>
                  <a:pt x="96546" y="1307170"/>
                </a:cubicBezTo>
                <a:cubicBezTo>
                  <a:pt x="100047" y="1307170"/>
                  <a:pt x="91595" y="1302219"/>
                  <a:pt x="89119" y="1299743"/>
                </a:cubicBezTo>
              </a:path>
            </a:pathLst>
          </a:custGeom>
          <a:ln>
            <a:solidFill>
              <a:srgbClr val="CC0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FA7D319-4720-2040-A353-92C2E609EDC0}"/>
              </a:ext>
            </a:extLst>
          </p:cNvPr>
          <p:cNvSpPr txBox="1"/>
          <p:nvPr/>
        </p:nvSpPr>
        <p:spPr>
          <a:xfrm rot="18724945">
            <a:off x="3094852" y="4079348"/>
            <a:ext cx="4491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900" b="1" dirty="0">
                <a:solidFill>
                  <a:srgbClr val="FF0000"/>
                </a:solidFill>
              </a:rPr>
              <a:t>1 M</a:t>
            </a:r>
            <a:r>
              <a:rPr lang="en-US" sz="900" b="1" baseline="-25000" dirty="0">
                <a:solidFill>
                  <a:srgbClr val="FF0000"/>
                </a:solidFill>
                <a:latin typeface="Wingdings"/>
                <a:ea typeface="Wingdings"/>
                <a:cs typeface="Wingdings"/>
                <a:sym typeface="Wingdings"/>
              </a:rPr>
              <a:t></a:t>
            </a:r>
            <a:endParaRPr lang="en-US" sz="900" b="1" baseline="-25000" dirty="0">
              <a:solidFill>
                <a:srgbClr val="FF000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40E1F1F-B67F-1E44-A592-32A6797E9C16}"/>
              </a:ext>
            </a:extLst>
          </p:cNvPr>
          <p:cNvSpPr txBox="1"/>
          <p:nvPr/>
        </p:nvSpPr>
        <p:spPr>
          <a:xfrm rot="18900029">
            <a:off x="3491022" y="4394675"/>
            <a:ext cx="5068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900" b="1" dirty="0">
                <a:solidFill>
                  <a:srgbClr val="FF0000"/>
                </a:solidFill>
              </a:rPr>
              <a:t>10 M</a:t>
            </a:r>
            <a:r>
              <a:rPr lang="en-US" sz="900" b="1" baseline="-25000" dirty="0">
                <a:solidFill>
                  <a:srgbClr val="FF0000"/>
                </a:solidFill>
                <a:latin typeface="Wingdings"/>
                <a:ea typeface="Wingdings"/>
                <a:cs typeface="Wingdings"/>
                <a:sym typeface="Wingdings"/>
              </a:rPr>
              <a:t></a:t>
            </a:r>
            <a:endParaRPr lang="en-US" sz="900" b="1" baseline="-25000" dirty="0">
              <a:solidFill>
                <a:srgbClr val="FF000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4864BD4-88AC-624B-82BF-2F349E890EDC}"/>
              </a:ext>
            </a:extLst>
          </p:cNvPr>
          <p:cNvSpPr txBox="1"/>
          <p:nvPr/>
        </p:nvSpPr>
        <p:spPr>
          <a:xfrm rot="18900029">
            <a:off x="3679383" y="4462534"/>
            <a:ext cx="5068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900" b="1" dirty="0">
                <a:solidFill>
                  <a:srgbClr val="FF0000"/>
                </a:solidFill>
              </a:rPr>
              <a:t>60 M</a:t>
            </a:r>
            <a:r>
              <a:rPr lang="en-US" sz="900" b="1" baseline="-25000" dirty="0">
                <a:solidFill>
                  <a:srgbClr val="FF0000"/>
                </a:solidFill>
                <a:latin typeface="Wingdings"/>
                <a:ea typeface="Wingdings"/>
                <a:cs typeface="Wingdings"/>
                <a:sym typeface="Wingdings"/>
              </a:rPr>
              <a:t></a:t>
            </a:r>
            <a:endParaRPr lang="en-US" sz="900" b="1" baseline="-25000" dirty="0">
              <a:solidFill>
                <a:srgbClr val="FF0000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53CB73D-2025-F947-8197-CF79E9CC0744}"/>
              </a:ext>
            </a:extLst>
          </p:cNvPr>
          <p:cNvSpPr txBox="1"/>
          <p:nvPr/>
        </p:nvSpPr>
        <p:spPr>
          <a:xfrm rot="18812447">
            <a:off x="2679816" y="3744585"/>
            <a:ext cx="5357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900" b="1" dirty="0">
                <a:solidFill>
                  <a:srgbClr val="FF0000"/>
                </a:solidFill>
              </a:rPr>
              <a:t>0.1 M</a:t>
            </a:r>
            <a:r>
              <a:rPr lang="en-US" sz="900" b="1" baseline="-25000" dirty="0">
                <a:solidFill>
                  <a:srgbClr val="FF0000"/>
                </a:solidFill>
                <a:latin typeface="Wingdings"/>
                <a:ea typeface="Wingdings"/>
                <a:cs typeface="Wingdings"/>
                <a:sym typeface="Wingdings"/>
              </a:rPr>
              <a:t></a:t>
            </a:r>
            <a:endParaRPr lang="en-US" sz="900" b="1" baseline="-25000" dirty="0">
              <a:solidFill>
                <a:srgbClr val="FF0000"/>
              </a:solidFill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B5AE713-2150-3543-BB97-72B4B8E68978}"/>
              </a:ext>
            </a:extLst>
          </p:cNvPr>
          <p:cNvCxnSpPr>
            <a:cxnSpLocks/>
          </p:cNvCxnSpPr>
          <p:nvPr/>
        </p:nvCxnSpPr>
        <p:spPr>
          <a:xfrm flipV="1">
            <a:off x="4378614" y="2705696"/>
            <a:ext cx="1661427" cy="1670696"/>
          </a:xfrm>
          <a:prstGeom prst="line">
            <a:avLst/>
          </a:prstGeom>
          <a:ln w="952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Arc 103">
            <a:extLst>
              <a:ext uri="{FF2B5EF4-FFF2-40B4-BE49-F238E27FC236}">
                <a16:creationId xmlns:a16="http://schemas.microsoft.com/office/drawing/2014/main" id="{EFA65B2D-64D6-7A4F-A3E7-3042BC492BE6}"/>
              </a:ext>
            </a:extLst>
          </p:cNvPr>
          <p:cNvSpPr/>
          <p:nvPr/>
        </p:nvSpPr>
        <p:spPr>
          <a:xfrm flipH="1">
            <a:off x="6715293" y="823360"/>
            <a:ext cx="342680" cy="7363837"/>
          </a:xfrm>
          <a:prstGeom prst="arc">
            <a:avLst>
              <a:gd name="adj1" fmla="val 16190672"/>
              <a:gd name="adj2" fmla="val 0"/>
            </a:avLst>
          </a:prstGeom>
          <a:ln w="76200" cmpd="sng">
            <a:solidFill>
              <a:srgbClr val="CC00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685800" eaLnBrk="0" hangingPunct="0">
              <a:defRPr/>
            </a:pPr>
            <a:endParaRPr lang="en-US" sz="18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D8F4853-F21A-5842-A57D-418252A63D64}"/>
              </a:ext>
            </a:extLst>
          </p:cNvPr>
          <p:cNvSpPr txBox="1"/>
          <p:nvPr/>
        </p:nvSpPr>
        <p:spPr>
          <a:xfrm rot="18900029">
            <a:off x="3183390" y="4389863"/>
            <a:ext cx="648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900" b="1" dirty="0">
                <a:solidFill>
                  <a:srgbClr val="C00000"/>
                </a:solidFill>
              </a:rPr>
              <a:t>8-9 M</a:t>
            </a:r>
            <a:r>
              <a:rPr lang="en-US" sz="900" b="1" baseline="-25000" dirty="0">
                <a:solidFill>
                  <a:srgbClr val="C00000"/>
                </a:solidFill>
                <a:latin typeface="Wingdings"/>
                <a:ea typeface="Wingdings"/>
                <a:cs typeface="Wingdings"/>
                <a:sym typeface="Wingdings"/>
              </a:rPr>
              <a:t></a:t>
            </a:r>
            <a:endParaRPr lang="en-US" sz="900" b="1" baseline="-25000" dirty="0">
              <a:solidFill>
                <a:srgbClr val="C00000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8B7E055-1048-5A46-BEED-6E4E73E9CF5C}"/>
              </a:ext>
            </a:extLst>
          </p:cNvPr>
          <p:cNvSpPr txBox="1"/>
          <p:nvPr/>
        </p:nvSpPr>
        <p:spPr>
          <a:xfrm rot="18900029">
            <a:off x="3089462" y="4430393"/>
            <a:ext cx="4491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900" b="1" dirty="0">
                <a:solidFill>
                  <a:srgbClr val="FF0000"/>
                </a:solidFill>
              </a:rPr>
              <a:t>6 M</a:t>
            </a:r>
            <a:r>
              <a:rPr lang="en-US" sz="900" b="1" baseline="-25000" dirty="0">
                <a:solidFill>
                  <a:srgbClr val="FF0000"/>
                </a:solidFill>
                <a:latin typeface="Wingdings"/>
                <a:ea typeface="Wingdings"/>
                <a:cs typeface="Wingdings"/>
                <a:sym typeface="Wingdings"/>
              </a:rPr>
              <a:t></a:t>
            </a:r>
            <a:endParaRPr lang="en-US" sz="900" b="1" baseline="-25000" dirty="0">
              <a:solidFill>
                <a:srgbClr val="FF0000"/>
              </a:solidFill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BB474CF-0AA1-6F45-9C34-03094EEF64D9}"/>
              </a:ext>
            </a:extLst>
          </p:cNvPr>
          <p:cNvSpPr/>
          <p:nvPr/>
        </p:nvSpPr>
        <p:spPr>
          <a:xfrm>
            <a:off x="3762971" y="744736"/>
            <a:ext cx="3096815" cy="3621881"/>
          </a:xfrm>
          <a:custGeom>
            <a:avLst/>
            <a:gdLst>
              <a:gd name="connsiteX0" fmla="*/ 0 w 4129087"/>
              <a:gd name="connsiteY0" fmla="*/ 4829175 h 4829175"/>
              <a:gd name="connsiteX1" fmla="*/ 764381 w 4129087"/>
              <a:gd name="connsiteY1" fmla="*/ 4043363 h 4829175"/>
              <a:gd name="connsiteX2" fmla="*/ 807244 w 4129087"/>
              <a:gd name="connsiteY2" fmla="*/ 3993357 h 4829175"/>
              <a:gd name="connsiteX3" fmla="*/ 885825 w 4129087"/>
              <a:gd name="connsiteY3" fmla="*/ 3886200 h 4829175"/>
              <a:gd name="connsiteX4" fmla="*/ 914400 w 4129087"/>
              <a:gd name="connsiteY4" fmla="*/ 3807619 h 4829175"/>
              <a:gd name="connsiteX5" fmla="*/ 935831 w 4129087"/>
              <a:gd name="connsiteY5" fmla="*/ 3686175 h 4829175"/>
              <a:gd name="connsiteX6" fmla="*/ 1193006 w 4129087"/>
              <a:gd name="connsiteY6" fmla="*/ 3378994 h 4829175"/>
              <a:gd name="connsiteX7" fmla="*/ 1607344 w 4129087"/>
              <a:gd name="connsiteY7" fmla="*/ 2914650 h 4829175"/>
              <a:gd name="connsiteX8" fmla="*/ 1785937 w 4129087"/>
              <a:gd name="connsiteY8" fmla="*/ 2671763 h 4829175"/>
              <a:gd name="connsiteX9" fmla="*/ 1835944 w 4129087"/>
              <a:gd name="connsiteY9" fmla="*/ 2521744 h 4829175"/>
              <a:gd name="connsiteX10" fmla="*/ 1914525 w 4129087"/>
              <a:gd name="connsiteY10" fmla="*/ 2371725 h 4829175"/>
              <a:gd name="connsiteX11" fmla="*/ 2414587 w 4129087"/>
              <a:gd name="connsiteY11" fmla="*/ 1778794 h 4829175"/>
              <a:gd name="connsiteX12" fmla="*/ 4129087 w 4129087"/>
              <a:gd name="connsiteY12" fmla="*/ 0 h 4829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129087" h="4829175">
                <a:moveTo>
                  <a:pt x="0" y="4829175"/>
                </a:moveTo>
                <a:lnTo>
                  <a:pt x="764381" y="4043363"/>
                </a:lnTo>
                <a:cubicBezTo>
                  <a:pt x="898922" y="3904060"/>
                  <a:pt x="787003" y="4019551"/>
                  <a:pt x="807244" y="3993357"/>
                </a:cubicBezTo>
                <a:cubicBezTo>
                  <a:pt x="827485" y="3967163"/>
                  <a:pt x="867966" y="3917156"/>
                  <a:pt x="885825" y="3886200"/>
                </a:cubicBezTo>
                <a:cubicBezTo>
                  <a:pt x="903684" y="3855244"/>
                  <a:pt x="906066" y="3840956"/>
                  <a:pt x="914400" y="3807619"/>
                </a:cubicBezTo>
                <a:cubicBezTo>
                  <a:pt x="922734" y="3774282"/>
                  <a:pt x="889397" y="3757612"/>
                  <a:pt x="935831" y="3686175"/>
                </a:cubicBezTo>
                <a:cubicBezTo>
                  <a:pt x="982265" y="3614738"/>
                  <a:pt x="1081087" y="3507581"/>
                  <a:pt x="1193006" y="3378994"/>
                </a:cubicBezTo>
                <a:cubicBezTo>
                  <a:pt x="1304925" y="3250407"/>
                  <a:pt x="1508522" y="3032522"/>
                  <a:pt x="1607344" y="2914650"/>
                </a:cubicBezTo>
                <a:cubicBezTo>
                  <a:pt x="1706166" y="2796778"/>
                  <a:pt x="1747837" y="2737247"/>
                  <a:pt x="1785937" y="2671763"/>
                </a:cubicBezTo>
                <a:cubicBezTo>
                  <a:pt x="1824037" y="2606279"/>
                  <a:pt x="1814513" y="2571750"/>
                  <a:pt x="1835944" y="2521744"/>
                </a:cubicBezTo>
                <a:cubicBezTo>
                  <a:pt x="1857375" y="2471738"/>
                  <a:pt x="1818085" y="2495550"/>
                  <a:pt x="1914525" y="2371725"/>
                </a:cubicBezTo>
                <a:cubicBezTo>
                  <a:pt x="2010965" y="2247900"/>
                  <a:pt x="2045493" y="2174082"/>
                  <a:pt x="2414587" y="1778794"/>
                </a:cubicBezTo>
                <a:cubicBezTo>
                  <a:pt x="2783681" y="1383506"/>
                  <a:pt x="3456384" y="691753"/>
                  <a:pt x="4129087" y="0"/>
                </a:cubicBezTo>
              </a:path>
            </a:pathLst>
          </a:custGeom>
          <a:noFill/>
          <a:ln w="127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Freeform 106">
            <a:extLst>
              <a:ext uri="{FF2B5EF4-FFF2-40B4-BE49-F238E27FC236}">
                <a16:creationId xmlns:a16="http://schemas.microsoft.com/office/drawing/2014/main" id="{A8F42E3A-4F32-D843-9171-6D3D7C295BAB}"/>
              </a:ext>
            </a:extLst>
          </p:cNvPr>
          <p:cNvSpPr/>
          <p:nvPr/>
        </p:nvSpPr>
        <p:spPr>
          <a:xfrm>
            <a:off x="3689748" y="1437679"/>
            <a:ext cx="2191346" cy="2909293"/>
          </a:xfrm>
          <a:custGeom>
            <a:avLst/>
            <a:gdLst>
              <a:gd name="connsiteX0" fmla="*/ 0 w 4129087"/>
              <a:gd name="connsiteY0" fmla="*/ 4829175 h 4829175"/>
              <a:gd name="connsiteX1" fmla="*/ 764381 w 4129087"/>
              <a:gd name="connsiteY1" fmla="*/ 4043363 h 4829175"/>
              <a:gd name="connsiteX2" fmla="*/ 807244 w 4129087"/>
              <a:gd name="connsiteY2" fmla="*/ 3993357 h 4829175"/>
              <a:gd name="connsiteX3" fmla="*/ 885825 w 4129087"/>
              <a:gd name="connsiteY3" fmla="*/ 3886200 h 4829175"/>
              <a:gd name="connsiteX4" fmla="*/ 914400 w 4129087"/>
              <a:gd name="connsiteY4" fmla="*/ 3807619 h 4829175"/>
              <a:gd name="connsiteX5" fmla="*/ 935831 w 4129087"/>
              <a:gd name="connsiteY5" fmla="*/ 3686175 h 4829175"/>
              <a:gd name="connsiteX6" fmla="*/ 1193006 w 4129087"/>
              <a:gd name="connsiteY6" fmla="*/ 3378994 h 4829175"/>
              <a:gd name="connsiteX7" fmla="*/ 1607344 w 4129087"/>
              <a:gd name="connsiteY7" fmla="*/ 2914650 h 4829175"/>
              <a:gd name="connsiteX8" fmla="*/ 1785937 w 4129087"/>
              <a:gd name="connsiteY8" fmla="*/ 2671763 h 4829175"/>
              <a:gd name="connsiteX9" fmla="*/ 1835944 w 4129087"/>
              <a:gd name="connsiteY9" fmla="*/ 2521744 h 4829175"/>
              <a:gd name="connsiteX10" fmla="*/ 1914525 w 4129087"/>
              <a:gd name="connsiteY10" fmla="*/ 2371725 h 4829175"/>
              <a:gd name="connsiteX11" fmla="*/ 2414587 w 4129087"/>
              <a:gd name="connsiteY11" fmla="*/ 1778794 h 4829175"/>
              <a:gd name="connsiteX12" fmla="*/ 4129087 w 4129087"/>
              <a:gd name="connsiteY12" fmla="*/ 0 h 4829175"/>
              <a:gd name="connsiteX0" fmla="*/ 0 w 2893218"/>
              <a:gd name="connsiteY0" fmla="*/ 3714750 h 3714750"/>
              <a:gd name="connsiteX1" fmla="*/ 764381 w 2893218"/>
              <a:gd name="connsiteY1" fmla="*/ 2928938 h 3714750"/>
              <a:gd name="connsiteX2" fmla="*/ 807244 w 2893218"/>
              <a:gd name="connsiteY2" fmla="*/ 2878932 h 3714750"/>
              <a:gd name="connsiteX3" fmla="*/ 885825 w 2893218"/>
              <a:gd name="connsiteY3" fmla="*/ 2771775 h 3714750"/>
              <a:gd name="connsiteX4" fmla="*/ 914400 w 2893218"/>
              <a:gd name="connsiteY4" fmla="*/ 2693194 h 3714750"/>
              <a:gd name="connsiteX5" fmla="*/ 935831 w 2893218"/>
              <a:gd name="connsiteY5" fmla="*/ 2571750 h 3714750"/>
              <a:gd name="connsiteX6" fmla="*/ 1193006 w 2893218"/>
              <a:gd name="connsiteY6" fmla="*/ 2264569 h 3714750"/>
              <a:gd name="connsiteX7" fmla="*/ 1607344 w 2893218"/>
              <a:gd name="connsiteY7" fmla="*/ 1800225 h 3714750"/>
              <a:gd name="connsiteX8" fmla="*/ 1785937 w 2893218"/>
              <a:gd name="connsiteY8" fmla="*/ 1557338 h 3714750"/>
              <a:gd name="connsiteX9" fmla="*/ 1835944 w 2893218"/>
              <a:gd name="connsiteY9" fmla="*/ 1407319 h 3714750"/>
              <a:gd name="connsiteX10" fmla="*/ 1914525 w 2893218"/>
              <a:gd name="connsiteY10" fmla="*/ 1257300 h 3714750"/>
              <a:gd name="connsiteX11" fmla="*/ 2414587 w 2893218"/>
              <a:gd name="connsiteY11" fmla="*/ 664369 h 3714750"/>
              <a:gd name="connsiteX12" fmla="*/ 2893218 w 2893218"/>
              <a:gd name="connsiteY12" fmla="*/ 0 h 3714750"/>
              <a:gd name="connsiteX0" fmla="*/ 0 w 2893218"/>
              <a:gd name="connsiteY0" fmla="*/ 3714750 h 3714750"/>
              <a:gd name="connsiteX1" fmla="*/ 764381 w 2893218"/>
              <a:gd name="connsiteY1" fmla="*/ 2928938 h 3714750"/>
              <a:gd name="connsiteX2" fmla="*/ 807244 w 2893218"/>
              <a:gd name="connsiteY2" fmla="*/ 2878932 h 3714750"/>
              <a:gd name="connsiteX3" fmla="*/ 885825 w 2893218"/>
              <a:gd name="connsiteY3" fmla="*/ 2771775 h 3714750"/>
              <a:gd name="connsiteX4" fmla="*/ 914400 w 2893218"/>
              <a:gd name="connsiteY4" fmla="*/ 2693194 h 3714750"/>
              <a:gd name="connsiteX5" fmla="*/ 935831 w 2893218"/>
              <a:gd name="connsiteY5" fmla="*/ 2571750 h 3714750"/>
              <a:gd name="connsiteX6" fmla="*/ 1193006 w 2893218"/>
              <a:gd name="connsiteY6" fmla="*/ 2264569 h 3714750"/>
              <a:gd name="connsiteX7" fmla="*/ 1607344 w 2893218"/>
              <a:gd name="connsiteY7" fmla="*/ 1800225 h 3714750"/>
              <a:gd name="connsiteX8" fmla="*/ 1785937 w 2893218"/>
              <a:gd name="connsiteY8" fmla="*/ 1557338 h 3714750"/>
              <a:gd name="connsiteX9" fmla="*/ 1835944 w 2893218"/>
              <a:gd name="connsiteY9" fmla="*/ 1407319 h 3714750"/>
              <a:gd name="connsiteX10" fmla="*/ 1914525 w 2893218"/>
              <a:gd name="connsiteY10" fmla="*/ 1257300 h 3714750"/>
              <a:gd name="connsiteX11" fmla="*/ 2414587 w 2893218"/>
              <a:gd name="connsiteY11" fmla="*/ 664369 h 3714750"/>
              <a:gd name="connsiteX12" fmla="*/ 2893218 w 2893218"/>
              <a:gd name="connsiteY12" fmla="*/ 0 h 3714750"/>
              <a:gd name="connsiteX0" fmla="*/ 0 w 2957512"/>
              <a:gd name="connsiteY0" fmla="*/ 3857625 h 3857625"/>
              <a:gd name="connsiteX1" fmla="*/ 764381 w 2957512"/>
              <a:gd name="connsiteY1" fmla="*/ 3071813 h 3857625"/>
              <a:gd name="connsiteX2" fmla="*/ 807244 w 2957512"/>
              <a:gd name="connsiteY2" fmla="*/ 3021807 h 3857625"/>
              <a:gd name="connsiteX3" fmla="*/ 885825 w 2957512"/>
              <a:gd name="connsiteY3" fmla="*/ 2914650 h 3857625"/>
              <a:gd name="connsiteX4" fmla="*/ 914400 w 2957512"/>
              <a:gd name="connsiteY4" fmla="*/ 2836069 h 3857625"/>
              <a:gd name="connsiteX5" fmla="*/ 935831 w 2957512"/>
              <a:gd name="connsiteY5" fmla="*/ 2714625 h 3857625"/>
              <a:gd name="connsiteX6" fmla="*/ 1193006 w 2957512"/>
              <a:gd name="connsiteY6" fmla="*/ 2407444 h 3857625"/>
              <a:gd name="connsiteX7" fmla="*/ 1607344 w 2957512"/>
              <a:gd name="connsiteY7" fmla="*/ 1943100 h 3857625"/>
              <a:gd name="connsiteX8" fmla="*/ 1785937 w 2957512"/>
              <a:gd name="connsiteY8" fmla="*/ 1700213 h 3857625"/>
              <a:gd name="connsiteX9" fmla="*/ 1835944 w 2957512"/>
              <a:gd name="connsiteY9" fmla="*/ 1550194 h 3857625"/>
              <a:gd name="connsiteX10" fmla="*/ 1914525 w 2957512"/>
              <a:gd name="connsiteY10" fmla="*/ 1400175 h 3857625"/>
              <a:gd name="connsiteX11" fmla="*/ 2414587 w 2957512"/>
              <a:gd name="connsiteY11" fmla="*/ 807244 h 3857625"/>
              <a:gd name="connsiteX12" fmla="*/ 2957512 w 2957512"/>
              <a:gd name="connsiteY12" fmla="*/ 0 h 3857625"/>
              <a:gd name="connsiteX0" fmla="*/ 0 w 2957512"/>
              <a:gd name="connsiteY0" fmla="*/ 3857625 h 3857625"/>
              <a:gd name="connsiteX1" fmla="*/ 764381 w 2957512"/>
              <a:gd name="connsiteY1" fmla="*/ 3071813 h 3857625"/>
              <a:gd name="connsiteX2" fmla="*/ 807244 w 2957512"/>
              <a:gd name="connsiteY2" fmla="*/ 3021807 h 3857625"/>
              <a:gd name="connsiteX3" fmla="*/ 885825 w 2957512"/>
              <a:gd name="connsiteY3" fmla="*/ 2914650 h 3857625"/>
              <a:gd name="connsiteX4" fmla="*/ 914400 w 2957512"/>
              <a:gd name="connsiteY4" fmla="*/ 2836069 h 3857625"/>
              <a:gd name="connsiteX5" fmla="*/ 935831 w 2957512"/>
              <a:gd name="connsiteY5" fmla="*/ 2714625 h 3857625"/>
              <a:gd name="connsiteX6" fmla="*/ 1193006 w 2957512"/>
              <a:gd name="connsiteY6" fmla="*/ 2407444 h 3857625"/>
              <a:gd name="connsiteX7" fmla="*/ 1607344 w 2957512"/>
              <a:gd name="connsiteY7" fmla="*/ 1943100 h 3857625"/>
              <a:gd name="connsiteX8" fmla="*/ 1785937 w 2957512"/>
              <a:gd name="connsiteY8" fmla="*/ 1700213 h 3857625"/>
              <a:gd name="connsiteX9" fmla="*/ 1835944 w 2957512"/>
              <a:gd name="connsiteY9" fmla="*/ 1550194 h 3857625"/>
              <a:gd name="connsiteX10" fmla="*/ 1914525 w 2957512"/>
              <a:gd name="connsiteY10" fmla="*/ 1400175 h 3857625"/>
              <a:gd name="connsiteX11" fmla="*/ 2414587 w 2957512"/>
              <a:gd name="connsiteY11" fmla="*/ 807244 h 3857625"/>
              <a:gd name="connsiteX12" fmla="*/ 2957512 w 2957512"/>
              <a:gd name="connsiteY12" fmla="*/ 0 h 3857625"/>
              <a:gd name="connsiteX0" fmla="*/ 0 w 2921794"/>
              <a:gd name="connsiteY0" fmla="*/ 3879057 h 3879057"/>
              <a:gd name="connsiteX1" fmla="*/ 764381 w 2921794"/>
              <a:gd name="connsiteY1" fmla="*/ 3093245 h 3879057"/>
              <a:gd name="connsiteX2" fmla="*/ 807244 w 2921794"/>
              <a:gd name="connsiteY2" fmla="*/ 3043239 h 3879057"/>
              <a:gd name="connsiteX3" fmla="*/ 885825 w 2921794"/>
              <a:gd name="connsiteY3" fmla="*/ 2936082 h 3879057"/>
              <a:gd name="connsiteX4" fmla="*/ 914400 w 2921794"/>
              <a:gd name="connsiteY4" fmla="*/ 2857501 h 3879057"/>
              <a:gd name="connsiteX5" fmla="*/ 935831 w 2921794"/>
              <a:gd name="connsiteY5" fmla="*/ 2736057 h 3879057"/>
              <a:gd name="connsiteX6" fmla="*/ 1193006 w 2921794"/>
              <a:gd name="connsiteY6" fmla="*/ 2428876 h 3879057"/>
              <a:gd name="connsiteX7" fmla="*/ 1607344 w 2921794"/>
              <a:gd name="connsiteY7" fmla="*/ 1964532 h 3879057"/>
              <a:gd name="connsiteX8" fmla="*/ 1785937 w 2921794"/>
              <a:gd name="connsiteY8" fmla="*/ 1721645 h 3879057"/>
              <a:gd name="connsiteX9" fmla="*/ 1835944 w 2921794"/>
              <a:gd name="connsiteY9" fmla="*/ 1571626 h 3879057"/>
              <a:gd name="connsiteX10" fmla="*/ 1914525 w 2921794"/>
              <a:gd name="connsiteY10" fmla="*/ 1421607 h 3879057"/>
              <a:gd name="connsiteX11" fmla="*/ 2414587 w 2921794"/>
              <a:gd name="connsiteY11" fmla="*/ 828676 h 3879057"/>
              <a:gd name="connsiteX12" fmla="*/ 2921794 w 2921794"/>
              <a:gd name="connsiteY12" fmla="*/ 0 h 3879057"/>
              <a:gd name="connsiteX0" fmla="*/ 0 w 2921794"/>
              <a:gd name="connsiteY0" fmla="*/ 3879057 h 3879057"/>
              <a:gd name="connsiteX1" fmla="*/ 764381 w 2921794"/>
              <a:gd name="connsiteY1" fmla="*/ 3093245 h 3879057"/>
              <a:gd name="connsiteX2" fmla="*/ 807244 w 2921794"/>
              <a:gd name="connsiteY2" fmla="*/ 3043239 h 3879057"/>
              <a:gd name="connsiteX3" fmla="*/ 885825 w 2921794"/>
              <a:gd name="connsiteY3" fmla="*/ 2936082 h 3879057"/>
              <a:gd name="connsiteX4" fmla="*/ 914400 w 2921794"/>
              <a:gd name="connsiteY4" fmla="*/ 2857501 h 3879057"/>
              <a:gd name="connsiteX5" fmla="*/ 935831 w 2921794"/>
              <a:gd name="connsiteY5" fmla="*/ 2736057 h 3879057"/>
              <a:gd name="connsiteX6" fmla="*/ 1193006 w 2921794"/>
              <a:gd name="connsiteY6" fmla="*/ 2428876 h 3879057"/>
              <a:gd name="connsiteX7" fmla="*/ 1607344 w 2921794"/>
              <a:gd name="connsiteY7" fmla="*/ 1964532 h 3879057"/>
              <a:gd name="connsiteX8" fmla="*/ 1785937 w 2921794"/>
              <a:gd name="connsiteY8" fmla="*/ 1721645 h 3879057"/>
              <a:gd name="connsiteX9" fmla="*/ 1835944 w 2921794"/>
              <a:gd name="connsiteY9" fmla="*/ 1571626 h 3879057"/>
              <a:gd name="connsiteX10" fmla="*/ 1914525 w 2921794"/>
              <a:gd name="connsiteY10" fmla="*/ 1421607 h 3879057"/>
              <a:gd name="connsiteX11" fmla="*/ 2414587 w 2921794"/>
              <a:gd name="connsiteY11" fmla="*/ 828676 h 3879057"/>
              <a:gd name="connsiteX12" fmla="*/ 2921794 w 2921794"/>
              <a:gd name="connsiteY12" fmla="*/ 0 h 387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21794" h="3879057">
                <a:moveTo>
                  <a:pt x="0" y="3879057"/>
                </a:moveTo>
                <a:lnTo>
                  <a:pt x="764381" y="3093245"/>
                </a:lnTo>
                <a:cubicBezTo>
                  <a:pt x="898922" y="2953942"/>
                  <a:pt x="787003" y="3069433"/>
                  <a:pt x="807244" y="3043239"/>
                </a:cubicBezTo>
                <a:cubicBezTo>
                  <a:pt x="827485" y="3017045"/>
                  <a:pt x="867966" y="2967038"/>
                  <a:pt x="885825" y="2936082"/>
                </a:cubicBezTo>
                <a:cubicBezTo>
                  <a:pt x="903684" y="2905126"/>
                  <a:pt x="906066" y="2890838"/>
                  <a:pt x="914400" y="2857501"/>
                </a:cubicBezTo>
                <a:cubicBezTo>
                  <a:pt x="922734" y="2824164"/>
                  <a:pt x="889397" y="2807494"/>
                  <a:pt x="935831" y="2736057"/>
                </a:cubicBezTo>
                <a:cubicBezTo>
                  <a:pt x="982265" y="2664620"/>
                  <a:pt x="1081087" y="2557463"/>
                  <a:pt x="1193006" y="2428876"/>
                </a:cubicBezTo>
                <a:cubicBezTo>
                  <a:pt x="1304925" y="2300289"/>
                  <a:pt x="1508522" y="2082404"/>
                  <a:pt x="1607344" y="1964532"/>
                </a:cubicBezTo>
                <a:cubicBezTo>
                  <a:pt x="1706166" y="1846660"/>
                  <a:pt x="1747837" y="1787129"/>
                  <a:pt x="1785937" y="1721645"/>
                </a:cubicBezTo>
                <a:cubicBezTo>
                  <a:pt x="1824037" y="1656161"/>
                  <a:pt x="1814513" y="1621632"/>
                  <a:pt x="1835944" y="1571626"/>
                </a:cubicBezTo>
                <a:cubicBezTo>
                  <a:pt x="1857375" y="1521620"/>
                  <a:pt x="1818085" y="1545432"/>
                  <a:pt x="1914525" y="1421607"/>
                </a:cubicBezTo>
                <a:cubicBezTo>
                  <a:pt x="2010965" y="1297782"/>
                  <a:pt x="2045493" y="1223964"/>
                  <a:pt x="2414587" y="828676"/>
                </a:cubicBezTo>
                <a:cubicBezTo>
                  <a:pt x="2783681" y="433388"/>
                  <a:pt x="2906315" y="255983"/>
                  <a:pt x="292179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 dirty="0">
              <a:solidFill>
                <a:srgbClr val="FFFFFF"/>
              </a:solidFill>
              <a:highlight>
                <a:srgbClr val="800000"/>
              </a:highlight>
              <a:latin typeface="Times New Roman"/>
            </a:endParaRPr>
          </a:p>
        </p:txBody>
      </p:sp>
      <p:sp>
        <p:nvSpPr>
          <p:cNvPr id="108" name="Freeform 107">
            <a:extLst>
              <a:ext uri="{FF2B5EF4-FFF2-40B4-BE49-F238E27FC236}">
                <a16:creationId xmlns:a16="http://schemas.microsoft.com/office/drawing/2014/main" id="{8C871B35-D118-804F-920A-B45151685B5F}"/>
              </a:ext>
            </a:extLst>
          </p:cNvPr>
          <p:cNvSpPr/>
          <p:nvPr/>
        </p:nvSpPr>
        <p:spPr>
          <a:xfrm>
            <a:off x="3352205" y="1780581"/>
            <a:ext cx="2079624" cy="2502098"/>
          </a:xfrm>
          <a:custGeom>
            <a:avLst/>
            <a:gdLst>
              <a:gd name="connsiteX0" fmla="*/ 0 w 4129087"/>
              <a:gd name="connsiteY0" fmla="*/ 4829175 h 4829175"/>
              <a:gd name="connsiteX1" fmla="*/ 764381 w 4129087"/>
              <a:gd name="connsiteY1" fmla="*/ 4043363 h 4829175"/>
              <a:gd name="connsiteX2" fmla="*/ 807244 w 4129087"/>
              <a:gd name="connsiteY2" fmla="*/ 3993357 h 4829175"/>
              <a:gd name="connsiteX3" fmla="*/ 885825 w 4129087"/>
              <a:gd name="connsiteY3" fmla="*/ 3886200 h 4829175"/>
              <a:gd name="connsiteX4" fmla="*/ 914400 w 4129087"/>
              <a:gd name="connsiteY4" fmla="*/ 3807619 h 4829175"/>
              <a:gd name="connsiteX5" fmla="*/ 935831 w 4129087"/>
              <a:gd name="connsiteY5" fmla="*/ 3686175 h 4829175"/>
              <a:gd name="connsiteX6" fmla="*/ 1193006 w 4129087"/>
              <a:gd name="connsiteY6" fmla="*/ 3378994 h 4829175"/>
              <a:gd name="connsiteX7" fmla="*/ 1607344 w 4129087"/>
              <a:gd name="connsiteY7" fmla="*/ 2914650 h 4829175"/>
              <a:gd name="connsiteX8" fmla="*/ 1785937 w 4129087"/>
              <a:gd name="connsiteY8" fmla="*/ 2671763 h 4829175"/>
              <a:gd name="connsiteX9" fmla="*/ 1835944 w 4129087"/>
              <a:gd name="connsiteY9" fmla="*/ 2521744 h 4829175"/>
              <a:gd name="connsiteX10" fmla="*/ 1914525 w 4129087"/>
              <a:gd name="connsiteY10" fmla="*/ 2371725 h 4829175"/>
              <a:gd name="connsiteX11" fmla="*/ 2414587 w 4129087"/>
              <a:gd name="connsiteY11" fmla="*/ 1778794 h 4829175"/>
              <a:gd name="connsiteX12" fmla="*/ 4129087 w 4129087"/>
              <a:gd name="connsiteY12" fmla="*/ 0 h 4829175"/>
              <a:gd name="connsiteX0" fmla="*/ 324866 w 2765416"/>
              <a:gd name="connsiteY0" fmla="*/ 3564731 h 3564731"/>
              <a:gd name="connsiteX1" fmla="*/ 1089247 w 2765416"/>
              <a:gd name="connsiteY1" fmla="*/ 2778919 h 3564731"/>
              <a:gd name="connsiteX2" fmla="*/ 1132110 w 2765416"/>
              <a:gd name="connsiteY2" fmla="*/ 2728913 h 3564731"/>
              <a:gd name="connsiteX3" fmla="*/ 1210691 w 2765416"/>
              <a:gd name="connsiteY3" fmla="*/ 2621756 h 3564731"/>
              <a:gd name="connsiteX4" fmla="*/ 1239266 w 2765416"/>
              <a:gd name="connsiteY4" fmla="*/ 2543175 h 3564731"/>
              <a:gd name="connsiteX5" fmla="*/ 1260697 w 2765416"/>
              <a:gd name="connsiteY5" fmla="*/ 2421731 h 3564731"/>
              <a:gd name="connsiteX6" fmla="*/ 1517872 w 2765416"/>
              <a:gd name="connsiteY6" fmla="*/ 2114550 h 3564731"/>
              <a:gd name="connsiteX7" fmla="*/ 1932210 w 2765416"/>
              <a:gd name="connsiteY7" fmla="*/ 1650206 h 3564731"/>
              <a:gd name="connsiteX8" fmla="*/ 2110803 w 2765416"/>
              <a:gd name="connsiteY8" fmla="*/ 1407319 h 3564731"/>
              <a:gd name="connsiteX9" fmla="*/ 2160810 w 2765416"/>
              <a:gd name="connsiteY9" fmla="*/ 1257300 h 3564731"/>
              <a:gd name="connsiteX10" fmla="*/ 2239391 w 2765416"/>
              <a:gd name="connsiteY10" fmla="*/ 1107281 h 3564731"/>
              <a:gd name="connsiteX11" fmla="*/ 2739453 w 2765416"/>
              <a:gd name="connsiteY11" fmla="*/ 514350 h 3564731"/>
              <a:gd name="connsiteX12" fmla="*/ 81978 w 2765416"/>
              <a:gd name="connsiteY12" fmla="*/ 0 h 3564731"/>
              <a:gd name="connsiteX0" fmla="*/ 242888 w 2712861"/>
              <a:gd name="connsiteY0" fmla="*/ 3565111 h 3565111"/>
              <a:gd name="connsiteX1" fmla="*/ 1007269 w 2712861"/>
              <a:gd name="connsiteY1" fmla="*/ 2779299 h 3565111"/>
              <a:gd name="connsiteX2" fmla="*/ 1050132 w 2712861"/>
              <a:gd name="connsiteY2" fmla="*/ 2729293 h 3565111"/>
              <a:gd name="connsiteX3" fmla="*/ 1128713 w 2712861"/>
              <a:gd name="connsiteY3" fmla="*/ 2622136 h 3565111"/>
              <a:gd name="connsiteX4" fmla="*/ 1157288 w 2712861"/>
              <a:gd name="connsiteY4" fmla="*/ 2543555 h 3565111"/>
              <a:gd name="connsiteX5" fmla="*/ 1178719 w 2712861"/>
              <a:gd name="connsiteY5" fmla="*/ 2422111 h 3565111"/>
              <a:gd name="connsiteX6" fmla="*/ 1435894 w 2712861"/>
              <a:gd name="connsiteY6" fmla="*/ 2114930 h 3565111"/>
              <a:gd name="connsiteX7" fmla="*/ 1850232 w 2712861"/>
              <a:gd name="connsiteY7" fmla="*/ 1650586 h 3565111"/>
              <a:gd name="connsiteX8" fmla="*/ 2028825 w 2712861"/>
              <a:gd name="connsiteY8" fmla="*/ 1407699 h 3565111"/>
              <a:gd name="connsiteX9" fmla="*/ 2078832 w 2712861"/>
              <a:gd name="connsiteY9" fmla="*/ 1257680 h 3565111"/>
              <a:gd name="connsiteX10" fmla="*/ 2157413 w 2712861"/>
              <a:gd name="connsiteY10" fmla="*/ 1107661 h 3565111"/>
              <a:gd name="connsiteX11" fmla="*/ 2657475 w 2712861"/>
              <a:gd name="connsiteY11" fmla="*/ 514730 h 3565111"/>
              <a:gd name="connsiteX12" fmla="*/ 0 w 2712861"/>
              <a:gd name="connsiteY12" fmla="*/ 380 h 3565111"/>
              <a:gd name="connsiteX0" fmla="*/ 542926 w 3005338"/>
              <a:gd name="connsiteY0" fmla="*/ 3330006 h 3330006"/>
              <a:gd name="connsiteX1" fmla="*/ 1307307 w 3005338"/>
              <a:gd name="connsiteY1" fmla="*/ 2544194 h 3330006"/>
              <a:gd name="connsiteX2" fmla="*/ 1350170 w 3005338"/>
              <a:gd name="connsiteY2" fmla="*/ 2494188 h 3330006"/>
              <a:gd name="connsiteX3" fmla="*/ 1428751 w 3005338"/>
              <a:gd name="connsiteY3" fmla="*/ 2387031 h 3330006"/>
              <a:gd name="connsiteX4" fmla="*/ 1457326 w 3005338"/>
              <a:gd name="connsiteY4" fmla="*/ 2308450 h 3330006"/>
              <a:gd name="connsiteX5" fmla="*/ 1478757 w 3005338"/>
              <a:gd name="connsiteY5" fmla="*/ 2187006 h 3330006"/>
              <a:gd name="connsiteX6" fmla="*/ 1735932 w 3005338"/>
              <a:gd name="connsiteY6" fmla="*/ 1879825 h 3330006"/>
              <a:gd name="connsiteX7" fmla="*/ 2150270 w 3005338"/>
              <a:gd name="connsiteY7" fmla="*/ 1415481 h 3330006"/>
              <a:gd name="connsiteX8" fmla="*/ 2328863 w 3005338"/>
              <a:gd name="connsiteY8" fmla="*/ 1172594 h 3330006"/>
              <a:gd name="connsiteX9" fmla="*/ 2378870 w 3005338"/>
              <a:gd name="connsiteY9" fmla="*/ 1022575 h 3330006"/>
              <a:gd name="connsiteX10" fmla="*/ 2457451 w 3005338"/>
              <a:gd name="connsiteY10" fmla="*/ 872556 h 3330006"/>
              <a:gd name="connsiteX11" fmla="*/ 2957513 w 3005338"/>
              <a:gd name="connsiteY11" fmla="*/ 279625 h 3330006"/>
              <a:gd name="connsiteX12" fmla="*/ 0 w 3005338"/>
              <a:gd name="connsiteY12" fmla="*/ 29594 h 3330006"/>
              <a:gd name="connsiteX0" fmla="*/ 542926 w 2956449"/>
              <a:gd name="connsiteY0" fmla="*/ 3327353 h 3327353"/>
              <a:gd name="connsiteX1" fmla="*/ 1307307 w 2956449"/>
              <a:gd name="connsiteY1" fmla="*/ 2541541 h 3327353"/>
              <a:gd name="connsiteX2" fmla="*/ 1350170 w 2956449"/>
              <a:gd name="connsiteY2" fmla="*/ 2491535 h 3327353"/>
              <a:gd name="connsiteX3" fmla="*/ 1428751 w 2956449"/>
              <a:gd name="connsiteY3" fmla="*/ 2384378 h 3327353"/>
              <a:gd name="connsiteX4" fmla="*/ 1457326 w 2956449"/>
              <a:gd name="connsiteY4" fmla="*/ 2305797 h 3327353"/>
              <a:gd name="connsiteX5" fmla="*/ 1478757 w 2956449"/>
              <a:gd name="connsiteY5" fmla="*/ 2184353 h 3327353"/>
              <a:gd name="connsiteX6" fmla="*/ 1735932 w 2956449"/>
              <a:gd name="connsiteY6" fmla="*/ 1877172 h 3327353"/>
              <a:gd name="connsiteX7" fmla="*/ 2150270 w 2956449"/>
              <a:gd name="connsiteY7" fmla="*/ 1412828 h 3327353"/>
              <a:gd name="connsiteX8" fmla="*/ 2328863 w 2956449"/>
              <a:gd name="connsiteY8" fmla="*/ 1169941 h 3327353"/>
              <a:gd name="connsiteX9" fmla="*/ 2378870 w 2956449"/>
              <a:gd name="connsiteY9" fmla="*/ 1019922 h 3327353"/>
              <a:gd name="connsiteX10" fmla="*/ 2457451 w 2956449"/>
              <a:gd name="connsiteY10" fmla="*/ 869903 h 3327353"/>
              <a:gd name="connsiteX11" fmla="*/ 2907507 w 2956449"/>
              <a:gd name="connsiteY11" fmla="*/ 284116 h 3327353"/>
              <a:gd name="connsiteX12" fmla="*/ 0 w 2956449"/>
              <a:gd name="connsiteY12" fmla="*/ 26941 h 3327353"/>
              <a:gd name="connsiteX0" fmla="*/ 542926 w 2930848"/>
              <a:gd name="connsiteY0" fmla="*/ 3353129 h 3353129"/>
              <a:gd name="connsiteX1" fmla="*/ 1307307 w 2930848"/>
              <a:gd name="connsiteY1" fmla="*/ 2567317 h 3353129"/>
              <a:gd name="connsiteX2" fmla="*/ 1350170 w 2930848"/>
              <a:gd name="connsiteY2" fmla="*/ 2517311 h 3353129"/>
              <a:gd name="connsiteX3" fmla="*/ 1428751 w 2930848"/>
              <a:gd name="connsiteY3" fmla="*/ 2410154 h 3353129"/>
              <a:gd name="connsiteX4" fmla="*/ 1457326 w 2930848"/>
              <a:gd name="connsiteY4" fmla="*/ 2331573 h 3353129"/>
              <a:gd name="connsiteX5" fmla="*/ 1478757 w 2930848"/>
              <a:gd name="connsiteY5" fmla="*/ 2210129 h 3353129"/>
              <a:gd name="connsiteX6" fmla="*/ 1735932 w 2930848"/>
              <a:gd name="connsiteY6" fmla="*/ 1902948 h 3353129"/>
              <a:gd name="connsiteX7" fmla="*/ 2150270 w 2930848"/>
              <a:gd name="connsiteY7" fmla="*/ 1438604 h 3353129"/>
              <a:gd name="connsiteX8" fmla="*/ 2328863 w 2930848"/>
              <a:gd name="connsiteY8" fmla="*/ 1195717 h 3353129"/>
              <a:gd name="connsiteX9" fmla="*/ 2378870 w 2930848"/>
              <a:gd name="connsiteY9" fmla="*/ 1045698 h 3353129"/>
              <a:gd name="connsiteX10" fmla="*/ 2457451 w 2930848"/>
              <a:gd name="connsiteY10" fmla="*/ 895679 h 3353129"/>
              <a:gd name="connsiteX11" fmla="*/ 2907507 w 2930848"/>
              <a:gd name="connsiteY11" fmla="*/ 309892 h 3353129"/>
              <a:gd name="connsiteX12" fmla="*/ 0 w 2930848"/>
              <a:gd name="connsiteY12" fmla="*/ 52717 h 3353129"/>
              <a:gd name="connsiteX0" fmla="*/ 407195 w 2796914"/>
              <a:gd name="connsiteY0" fmla="*/ 3373557 h 3373557"/>
              <a:gd name="connsiteX1" fmla="*/ 1171576 w 2796914"/>
              <a:gd name="connsiteY1" fmla="*/ 2587745 h 3373557"/>
              <a:gd name="connsiteX2" fmla="*/ 1214439 w 2796914"/>
              <a:gd name="connsiteY2" fmla="*/ 2537739 h 3373557"/>
              <a:gd name="connsiteX3" fmla="*/ 1293020 w 2796914"/>
              <a:gd name="connsiteY3" fmla="*/ 2430582 h 3373557"/>
              <a:gd name="connsiteX4" fmla="*/ 1321595 w 2796914"/>
              <a:gd name="connsiteY4" fmla="*/ 2352001 h 3373557"/>
              <a:gd name="connsiteX5" fmla="*/ 1343026 w 2796914"/>
              <a:gd name="connsiteY5" fmla="*/ 2230557 h 3373557"/>
              <a:gd name="connsiteX6" fmla="*/ 1600201 w 2796914"/>
              <a:gd name="connsiteY6" fmla="*/ 1923376 h 3373557"/>
              <a:gd name="connsiteX7" fmla="*/ 2014539 w 2796914"/>
              <a:gd name="connsiteY7" fmla="*/ 1459032 h 3373557"/>
              <a:gd name="connsiteX8" fmla="*/ 2193132 w 2796914"/>
              <a:gd name="connsiteY8" fmla="*/ 1216145 h 3373557"/>
              <a:gd name="connsiteX9" fmla="*/ 2243139 w 2796914"/>
              <a:gd name="connsiteY9" fmla="*/ 1066126 h 3373557"/>
              <a:gd name="connsiteX10" fmla="*/ 2321720 w 2796914"/>
              <a:gd name="connsiteY10" fmla="*/ 916107 h 3373557"/>
              <a:gd name="connsiteX11" fmla="*/ 2771776 w 2796914"/>
              <a:gd name="connsiteY11" fmla="*/ 330320 h 3373557"/>
              <a:gd name="connsiteX12" fmla="*/ 0 w 2796914"/>
              <a:gd name="connsiteY12" fmla="*/ 37427 h 3373557"/>
              <a:gd name="connsiteX0" fmla="*/ 407195 w 2796815"/>
              <a:gd name="connsiteY0" fmla="*/ 3352903 h 3352903"/>
              <a:gd name="connsiteX1" fmla="*/ 1171576 w 2796815"/>
              <a:gd name="connsiteY1" fmla="*/ 2567091 h 3352903"/>
              <a:gd name="connsiteX2" fmla="*/ 1214439 w 2796815"/>
              <a:gd name="connsiteY2" fmla="*/ 2517085 h 3352903"/>
              <a:gd name="connsiteX3" fmla="*/ 1293020 w 2796815"/>
              <a:gd name="connsiteY3" fmla="*/ 2409928 h 3352903"/>
              <a:gd name="connsiteX4" fmla="*/ 1321595 w 2796815"/>
              <a:gd name="connsiteY4" fmla="*/ 2331347 h 3352903"/>
              <a:gd name="connsiteX5" fmla="*/ 1343026 w 2796815"/>
              <a:gd name="connsiteY5" fmla="*/ 2209903 h 3352903"/>
              <a:gd name="connsiteX6" fmla="*/ 1600201 w 2796815"/>
              <a:gd name="connsiteY6" fmla="*/ 1902722 h 3352903"/>
              <a:gd name="connsiteX7" fmla="*/ 2014539 w 2796815"/>
              <a:gd name="connsiteY7" fmla="*/ 1438378 h 3352903"/>
              <a:gd name="connsiteX8" fmla="*/ 2193132 w 2796815"/>
              <a:gd name="connsiteY8" fmla="*/ 1195491 h 3352903"/>
              <a:gd name="connsiteX9" fmla="*/ 2243139 w 2796815"/>
              <a:gd name="connsiteY9" fmla="*/ 1045472 h 3352903"/>
              <a:gd name="connsiteX10" fmla="*/ 2321720 w 2796815"/>
              <a:gd name="connsiteY10" fmla="*/ 895453 h 3352903"/>
              <a:gd name="connsiteX11" fmla="*/ 2771776 w 2796815"/>
              <a:gd name="connsiteY11" fmla="*/ 309666 h 3352903"/>
              <a:gd name="connsiteX12" fmla="*/ 0 w 2796815"/>
              <a:gd name="connsiteY12" fmla="*/ 16773 h 3352903"/>
              <a:gd name="connsiteX0" fmla="*/ 407195 w 2771776"/>
              <a:gd name="connsiteY0" fmla="*/ 3345833 h 3345833"/>
              <a:gd name="connsiteX1" fmla="*/ 1171576 w 2771776"/>
              <a:gd name="connsiteY1" fmla="*/ 2560021 h 3345833"/>
              <a:gd name="connsiteX2" fmla="*/ 1214439 w 2771776"/>
              <a:gd name="connsiteY2" fmla="*/ 2510015 h 3345833"/>
              <a:gd name="connsiteX3" fmla="*/ 1293020 w 2771776"/>
              <a:gd name="connsiteY3" fmla="*/ 2402858 h 3345833"/>
              <a:gd name="connsiteX4" fmla="*/ 1321595 w 2771776"/>
              <a:gd name="connsiteY4" fmla="*/ 2324277 h 3345833"/>
              <a:gd name="connsiteX5" fmla="*/ 1343026 w 2771776"/>
              <a:gd name="connsiteY5" fmla="*/ 2202833 h 3345833"/>
              <a:gd name="connsiteX6" fmla="*/ 1600201 w 2771776"/>
              <a:gd name="connsiteY6" fmla="*/ 1895652 h 3345833"/>
              <a:gd name="connsiteX7" fmla="*/ 2014539 w 2771776"/>
              <a:gd name="connsiteY7" fmla="*/ 1431308 h 3345833"/>
              <a:gd name="connsiteX8" fmla="*/ 2193132 w 2771776"/>
              <a:gd name="connsiteY8" fmla="*/ 1188421 h 3345833"/>
              <a:gd name="connsiteX9" fmla="*/ 2243139 w 2771776"/>
              <a:gd name="connsiteY9" fmla="*/ 1038402 h 3345833"/>
              <a:gd name="connsiteX10" fmla="*/ 2321720 w 2771776"/>
              <a:gd name="connsiteY10" fmla="*/ 888383 h 3345833"/>
              <a:gd name="connsiteX11" fmla="*/ 2771776 w 2771776"/>
              <a:gd name="connsiteY11" fmla="*/ 302596 h 3345833"/>
              <a:gd name="connsiteX12" fmla="*/ 0 w 2771776"/>
              <a:gd name="connsiteY12" fmla="*/ 9703 h 3345833"/>
              <a:gd name="connsiteX0" fmla="*/ 407195 w 2772832"/>
              <a:gd name="connsiteY0" fmla="*/ 3345833 h 3345833"/>
              <a:gd name="connsiteX1" fmla="*/ 1171576 w 2772832"/>
              <a:gd name="connsiteY1" fmla="*/ 2560021 h 3345833"/>
              <a:gd name="connsiteX2" fmla="*/ 1214439 w 2772832"/>
              <a:gd name="connsiteY2" fmla="*/ 2510015 h 3345833"/>
              <a:gd name="connsiteX3" fmla="*/ 1293020 w 2772832"/>
              <a:gd name="connsiteY3" fmla="*/ 2402858 h 3345833"/>
              <a:gd name="connsiteX4" fmla="*/ 1321595 w 2772832"/>
              <a:gd name="connsiteY4" fmla="*/ 2324277 h 3345833"/>
              <a:gd name="connsiteX5" fmla="*/ 1343026 w 2772832"/>
              <a:gd name="connsiteY5" fmla="*/ 2202833 h 3345833"/>
              <a:gd name="connsiteX6" fmla="*/ 1600201 w 2772832"/>
              <a:gd name="connsiteY6" fmla="*/ 1895652 h 3345833"/>
              <a:gd name="connsiteX7" fmla="*/ 2014539 w 2772832"/>
              <a:gd name="connsiteY7" fmla="*/ 1431308 h 3345833"/>
              <a:gd name="connsiteX8" fmla="*/ 2193132 w 2772832"/>
              <a:gd name="connsiteY8" fmla="*/ 1188421 h 3345833"/>
              <a:gd name="connsiteX9" fmla="*/ 2243139 w 2772832"/>
              <a:gd name="connsiteY9" fmla="*/ 1038402 h 3345833"/>
              <a:gd name="connsiteX10" fmla="*/ 2321720 w 2772832"/>
              <a:gd name="connsiteY10" fmla="*/ 888383 h 3345833"/>
              <a:gd name="connsiteX11" fmla="*/ 2771776 w 2772832"/>
              <a:gd name="connsiteY11" fmla="*/ 302596 h 3345833"/>
              <a:gd name="connsiteX12" fmla="*/ 0 w 2772832"/>
              <a:gd name="connsiteY12" fmla="*/ 9703 h 3345833"/>
              <a:gd name="connsiteX0" fmla="*/ 407195 w 2772832"/>
              <a:gd name="connsiteY0" fmla="*/ 3336130 h 3336130"/>
              <a:gd name="connsiteX1" fmla="*/ 1171576 w 2772832"/>
              <a:gd name="connsiteY1" fmla="*/ 2550318 h 3336130"/>
              <a:gd name="connsiteX2" fmla="*/ 1214439 w 2772832"/>
              <a:gd name="connsiteY2" fmla="*/ 2500312 h 3336130"/>
              <a:gd name="connsiteX3" fmla="*/ 1293020 w 2772832"/>
              <a:gd name="connsiteY3" fmla="*/ 2393155 h 3336130"/>
              <a:gd name="connsiteX4" fmla="*/ 1321595 w 2772832"/>
              <a:gd name="connsiteY4" fmla="*/ 2314574 h 3336130"/>
              <a:gd name="connsiteX5" fmla="*/ 1343026 w 2772832"/>
              <a:gd name="connsiteY5" fmla="*/ 2193130 h 3336130"/>
              <a:gd name="connsiteX6" fmla="*/ 1600201 w 2772832"/>
              <a:gd name="connsiteY6" fmla="*/ 1885949 h 3336130"/>
              <a:gd name="connsiteX7" fmla="*/ 2014539 w 2772832"/>
              <a:gd name="connsiteY7" fmla="*/ 1421605 h 3336130"/>
              <a:gd name="connsiteX8" fmla="*/ 2193132 w 2772832"/>
              <a:gd name="connsiteY8" fmla="*/ 1178718 h 3336130"/>
              <a:gd name="connsiteX9" fmla="*/ 2243139 w 2772832"/>
              <a:gd name="connsiteY9" fmla="*/ 1028699 h 3336130"/>
              <a:gd name="connsiteX10" fmla="*/ 2321720 w 2772832"/>
              <a:gd name="connsiteY10" fmla="*/ 878680 h 3336130"/>
              <a:gd name="connsiteX11" fmla="*/ 2771776 w 2772832"/>
              <a:gd name="connsiteY11" fmla="*/ 292893 h 3336130"/>
              <a:gd name="connsiteX12" fmla="*/ 0 w 2772832"/>
              <a:gd name="connsiteY12" fmla="*/ 0 h 3336130"/>
              <a:gd name="connsiteX0" fmla="*/ 407195 w 2772832"/>
              <a:gd name="connsiteY0" fmla="*/ 3336130 h 3336130"/>
              <a:gd name="connsiteX1" fmla="*/ 1171576 w 2772832"/>
              <a:gd name="connsiteY1" fmla="*/ 2550318 h 3336130"/>
              <a:gd name="connsiteX2" fmla="*/ 1214439 w 2772832"/>
              <a:gd name="connsiteY2" fmla="*/ 2500312 h 3336130"/>
              <a:gd name="connsiteX3" fmla="*/ 1293020 w 2772832"/>
              <a:gd name="connsiteY3" fmla="*/ 2393155 h 3336130"/>
              <a:gd name="connsiteX4" fmla="*/ 1321595 w 2772832"/>
              <a:gd name="connsiteY4" fmla="*/ 2314574 h 3336130"/>
              <a:gd name="connsiteX5" fmla="*/ 1343026 w 2772832"/>
              <a:gd name="connsiteY5" fmla="*/ 2193130 h 3336130"/>
              <a:gd name="connsiteX6" fmla="*/ 1600201 w 2772832"/>
              <a:gd name="connsiteY6" fmla="*/ 1885949 h 3336130"/>
              <a:gd name="connsiteX7" fmla="*/ 2014539 w 2772832"/>
              <a:gd name="connsiteY7" fmla="*/ 1421605 h 3336130"/>
              <a:gd name="connsiteX8" fmla="*/ 2193132 w 2772832"/>
              <a:gd name="connsiteY8" fmla="*/ 1178718 h 3336130"/>
              <a:gd name="connsiteX9" fmla="*/ 2243139 w 2772832"/>
              <a:gd name="connsiteY9" fmla="*/ 1028699 h 3336130"/>
              <a:gd name="connsiteX10" fmla="*/ 2321720 w 2772832"/>
              <a:gd name="connsiteY10" fmla="*/ 878680 h 3336130"/>
              <a:gd name="connsiteX11" fmla="*/ 2771776 w 2772832"/>
              <a:gd name="connsiteY11" fmla="*/ 164305 h 3336130"/>
              <a:gd name="connsiteX12" fmla="*/ 0 w 2772832"/>
              <a:gd name="connsiteY12" fmla="*/ 0 h 3336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72832" h="3336130">
                <a:moveTo>
                  <a:pt x="407195" y="3336130"/>
                </a:moveTo>
                <a:lnTo>
                  <a:pt x="1171576" y="2550318"/>
                </a:lnTo>
                <a:cubicBezTo>
                  <a:pt x="1306117" y="2411015"/>
                  <a:pt x="1194198" y="2526506"/>
                  <a:pt x="1214439" y="2500312"/>
                </a:cubicBezTo>
                <a:cubicBezTo>
                  <a:pt x="1234680" y="2474118"/>
                  <a:pt x="1275161" y="2424111"/>
                  <a:pt x="1293020" y="2393155"/>
                </a:cubicBezTo>
                <a:cubicBezTo>
                  <a:pt x="1310879" y="2362199"/>
                  <a:pt x="1313261" y="2347911"/>
                  <a:pt x="1321595" y="2314574"/>
                </a:cubicBezTo>
                <a:cubicBezTo>
                  <a:pt x="1329929" y="2281237"/>
                  <a:pt x="1296592" y="2264567"/>
                  <a:pt x="1343026" y="2193130"/>
                </a:cubicBezTo>
                <a:cubicBezTo>
                  <a:pt x="1389460" y="2121693"/>
                  <a:pt x="1488282" y="2014536"/>
                  <a:pt x="1600201" y="1885949"/>
                </a:cubicBezTo>
                <a:cubicBezTo>
                  <a:pt x="1712120" y="1757362"/>
                  <a:pt x="1915717" y="1539477"/>
                  <a:pt x="2014539" y="1421605"/>
                </a:cubicBezTo>
                <a:cubicBezTo>
                  <a:pt x="2113361" y="1303733"/>
                  <a:pt x="2155032" y="1244202"/>
                  <a:pt x="2193132" y="1178718"/>
                </a:cubicBezTo>
                <a:cubicBezTo>
                  <a:pt x="2231232" y="1113234"/>
                  <a:pt x="2221708" y="1078705"/>
                  <a:pt x="2243139" y="1028699"/>
                </a:cubicBezTo>
                <a:cubicBezTo>
                  <a:pt x="2264570" y="978693"/>
                  <a:pt x="2233614" y="1022746"/>
                  <a:pt x="2321720" y="878680"/>
                </a:cubicBezTo>
                <a:cubicBezTo>
                  <a:pt x="2409826" y="734614"/>
                  <a:pt x="2795589" y="266699"/>
                  <a:pt x="2771776" y="164305"/>
                </a:cubicBezTo>
                <a:cubicBezTo>
                  <a:pt x="2726533" y="-88108"/>
                  <a:pt x="1477566" y="41672"/>
                  <a:pt x="0" y="0"/>
                </a:cubicBezTo>
              </a:path>
            </a:pathLst>
          </a:custGeom>
          <a:noFill/>
          <a:ln w="127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" name="Freeform 108">
            <a:extLst>
              <a:ext uri="{FF2B5EF4-FFF2-40B4-BE49-F238E27FC236}">
                <a16:creationId xmlns:a16="http://schemas.microsoft.com/office/drawing/2014/main" id="{3961ABC5-6E4A-654D-9023-D599ED683B6D}"/>
              </a:ext>
            </a:extLst>
          </p:cNvPr>
          <p:cNvSpPr/>
          <p:nvPr/>
        </p:nvSpPr>
        <p:spPr>
          <a:xfrm>
            <a:off x="3043237" y="1992329"/>
            <a:ext cx="1931034" cy="2120685"/>
          </a:xfrm>
          <a:custGeom>
            <a:avLst/>
            <a:gdLst>
              <a:gd name="connsiteX0" fmla="*/ 0 w 4129087"/>
              <a:gd name="connsiteY0" fmla="*/ 4829175 h 4829175"/>
              <a:gd name="connsiteX1" fmla="*/ 764381 w 4129087"/>
              <a:gd name="connsiteY1" fmla="*/ 4043363 h 4829175"/>
              <a:gd name="connsiteX2" fmla="*/ 807244 w 4129087"/>
              <a:gd name="connsiteY2" fmla="*/ 3993357 h 4829175"/>
              <a:gd name="connsiteX3" fmla="*/ 885825 w 4129087"/>
              <a:gd name="connsiteY3" fmla="*/ 3886200 h 4829175"/>
              <a:gd name="connsiteX4" fmla="*/ 914400 w 4129087"/>
              <a:gd name="connsiteY4" fmla="*/ 3807619 h 4829175"/>
              <a:gd name="connsiteX5" fmla="*/ 935831 w 4129087"/>
              <a:gd name="connsiteY5" fmla="*/ 3686175 h 4829175"/>
              <a:gd name="connsiteX6" fmla="*/ 1193006 w 4129087"/>
              <a:gd name="connsiteY6" fmla="*/ 3378994 h 4829175"/>
              <a:gd name="connsiteX7" fmla="*/ 1607344 w 4129087"/>
              <a:gd name="connsiteY7" fmla="*/ 2914650 h 4829175"/>
              <a:gd name="connsiteX8" fmla="*/ 1785937 w 4129087"/>
              <a:gd name="connsiteY8" fmla="*/ 2671763 h 4829175"/>
              <a:gd name="connsiteX9" fmla="*/ 1835944 w 4129087"/>
              <a:gd name="connsiteY9" fmla="*/ 2521744 h 4829175"/>
              <a:gd name="connsiteX10" fmla="*/ 1914525 w 4129087"/>
              <a:gd name="connsiteY10" fmla="*/ 2371725 h 4829175"/>
              <a:gd name="connsiteX11" fmla="*/ 2414587 w 4129087"/>
              <a:gd name="connsiteY11" fmla="*/ 1778794 h 4829175"/>
              <a:gd name="connsiteX12" fmla="*/ 4129087 w 4129087"/>
              <a:gd name="connsiteY12" fmla="*/ 0 h 4829175"/>
              <a:gd name="connsiteX0" fmla="*/ 324866 w 2765416"/>
              <a:gd name="connsiteY0" fmla="*/ 3564731 h 3564731"/>
              <a:gd name="connsiteX1" fmla="*/ 1089247 w 2765416"/>
              <a:gd name="connsiteY1" fmla="*/ 2778919 h 3564731"/>
              <a:gd name="connsiteX2" fmla="*/ 1132110 w 2765416"/>
              <a:gd name="connsiteY2" fmla="*/ 2728913 h 3564731"/>
              <a:gd name="connsiteX3" fmla="*/ 1210691 w 2765416"/>
              <a:gd name="connsiteY3" fmla="*/ 2621756 h 3564731"/>
              <a:gd name="connsiteX4" fmla="*/ 1239266 w 2765416"/>
              <a:gd name="connsiteY4" fmla="*/ 2543175 h 3564731"/>
              <a:gd name="connsiteX5" fmla="*/ 1260697 w 2765416"/>
              <a:gd name="connsiteY5" fmla="*/ 2421731 h 3564731"/>
              <a:gd name="connsiteX6" fmla="*/ 1517872 w 2765416"/>
              <a:gd name="connsiteY6" fmla="*/ 2114550 h 3564731"/>
              <a:gd name="connsiteX7" fmla="*/ 1932210 w 2765416"/>
              <a:gd name="connsiteY7" fmla="*/ 1650206 h 3564731"/>
              <a:gd name="connsiteX8" fmla="*/ 2110803 w 2765416"/>
              <a:gd name="connsiteY8" fmla="*/ 1407319 h 3564731"/>
              <a:gd name="connsiteX9" fmla="*/ 2160810 w 2765416"/>
              <a:gd name="connsiteY9" fmla="*/ 1257300 h 3564731"/>
              <a:gd name="connsiteX10" fmla="*/ 2239391 w 2765416"/>
              <a:gd name="connsiteY10" fmla="*/ 1107281 h 3564731"/>
              <a:gd name="connsiteX11" fmla="*/ 2739453 w 2765416"/>
              <a:gd name="connsiteY11" fmla="*/ 514350 h 3564731"/>
              <a:gd name="connsiteX12" fmla="*/ 81978 w 2765416"/>
              <a:gd name="connsiteY12" fmla="*/ 0 h 3564731"/>
              <a:gd name="connsiteX0" fmla="*/ 242888 w 2712861"/>
              <a:gd name="connsiteY0" fmla="*/ 3565111 h 3565111"/>
              <a:gd name="connsiteX1" fmla="*/ 1007269 w 2712861"/>
              <a:gd name="connsiteY1" fmla="*/ 2779299 h 3565111"/>
              <a:gd name="connsiteX2" fmla="*/ 1050132 w 2712861"/>
              <a:gd name="connsiteY2" fmla="*/ 2729293 h 3565111"/>
              <a:gd name="connsiteX3" fmla="*/ 1128713 w 2712861"/>
              <a:gd name="connsiteY3" fmla="*/ 2622136 h 3565111"/>
              <a:gd name="connsiteX4" fmla="*/ 1157288 w 2712861"/>
              <a:gd name="connsiteY4" fmla="*/ 2543555 h 3565111"/>
              <a:gd name="connsiteX5" fmla="*/ 1178719 w 2712861"/>
              <a:gd name="connsiteY5" fmla="*/ 2422111 h 3565111"/>
              <a:gd name="connsiteX6" fmla="*/ 1435894 w 2712861"/>
              <a:gd name="connsiteY6" fmla="*/ 2114930 h 3565111"/>
              <a:gd name="connsiteX7" fmla="*/ 1850232 w 2712861"/>
              <a:gd name="connsiteY7" fmla="*/ 1650586 h 3565111"/>
              <a:gd name="connsiteX8" fmla="*/ 2028825 w 2712861"/>
              <a:gd name="connsiteY8" fmla="*/ 1407699 h 3565111"/>
              <a:gd name="connsiteX9" fmla="*/ 2078832 w 2712861"/>
              <a:gd name="connsiteY9" fmla="*/ 1257680 h 3565111"/>
              <a:gd name="connsiteX10" fmla="*/ 2157413 w 2712861"/>
              <a:gd name="connsiteY10" fmla="*/ 1107661 h 3565111"/>
              <a:gd name="connsiteX11" fmla="*/ 2657475 w 2712861"/>
              <a:gd name="connsiteY11" fmla="*/ 514730 h 3565111"/>
              <a:gd name="connsiteX12" fmla="*/ 0 w 2712861"/>
              <a:gd name="connsiteY12" fmla="*/ 380 h 3565111"/>
              <a:gd name="connsiteX0" fmla="*/ 542926 w 3005338"/>
              <a:gd name="connsiteY0" fmla="*/ 3330006 h 3330006"/>
              <a:gd name="connsiteX1" fmla="*/ 1307307 w 3005338"/>
              <a:gd name="connsiteY1" fmla="*/ 2544194 h 3330006"/>
              <a:gd name="connsiteX2" fmla="*/ 1350170 w 3005338"/>
              <a:gd name="connsiteY2" fmla="*/ 2494188 h 3330006"/>
              <a:gd name="connsiteX3" fmla="*/ 1428751 w 3005338"/>
              <a:gd name="connsiteY3" fmla="*/ 2387031 h 3330006"/>
              <a:gd name="connsiteX4" fmla="*/ 1457326 w 3005338"/>
              <a:gd name="connsiteY4" fmla="*/ 2308450 h 3330006"/>
              <a:gd name="connsiteX5" fmla="*/ 1478757 w 3005338"/>
              <a:gd name="connsiteY5" fmla="*/ 2187006 h 3330006"/>
              <a:gd name="connsiteX6" fmla="*/ 1735932 w 3005338"/>
              <a:gd name="connsiteY6" fmla="*/ 1879825 h 3330006"/>
              <a:gd name="connsiteX7" fmla="*/ 2150270 w 3005338"/>
              <a:gd name="connsiteY7" fmla="*/ 1415481 h 3330006"/>
              <a:gd name="connsiteX8" fmla="*/ 2328863 w 3005338"/>
              <a:gd name="connsiteY8" fmla="*/ 1172594 h 3330006"/>
              <a:gd name="connsiteX9" fmla="*/ 2378870 w 3005338"/>
              <a:gd name="connsiteY9" fmla="*/ 1022575 h 3330006"/>
              <a:gd name="connsiteX10" fmla="*/ 2457451 w 3005338"/>
              <a:gd name="connsiteY10" fmla="*/ 872556 h 3330006"/>
              <a:gd name="connsiteX11" fmla="*/ 2957513 w 3005338"/>
              <a:gd name="connsiteY11" fmla="*/ 279625 h 3330006"/>
              <a:gd name="connsiteX12" fmla="*/ 0 w 3005338"/>
              <a:gd name="connsiteY12" fmla="*/ 29594 h 3330006"/>
              <a:gd name="connsiteX0" fmla="*/ 542926 w 2956449"/>
              <a:gd name="connsiteY0" fmla="*/ 3327353 h 3327353"/>
              <a:gd name="connsiteX1" fmla="*/ 1307307 w 2956449"/>
              <a:gd name="connsiteY1" fmla="*/ 2541541 h 3327353"/>
              <a:gd name="connsiteX2" fmla="*/ 1350170 w 2956449"/>
              <a:gd name="connsiteY2" fmla="*/ 2491535 h 3327353"/>
              <a:gd name="connsiteX3" fmla="*/ 1428751 w 2956449"/>
              <a:gd name="connsiteY3" fmla="*/ 2384378 h 3327353"/>
              <a:gd name="connsiteX4" fmla="*/ 1457326 w 2956449"/>
              <a:gd name="connsiteY4" fmla="*/ 2305797 h 3327353"/>
              <a:gd name="connsiteX5" fmla="*/ 1478757 w 2956449"/>
              <a:gd name="connsiteY5" fmla="*/ 2184353 h 3327353"/>
              <a:gd name="connsiteX6" fmla="*/ 1735932 w 2956449"/>
              <a:gd name="connsiteY6" fmla="*/ 1877172 h 3327353"/>
              <a:gd name="connsiteX7" fmla="*/ 2150270 w 2956449"/>
              <a:gd name="connsiteY7" fmla="*/ 1412828 h 3327353"/>
              <a:gd name="connsiteX8" fmla="*/ 2328863 w 2956449"/>
              <a:gd name="connsiteY8" fmla="*/ 1169941 h 3327353"/>
              <a:gd name="connsiteX9" fmla="*/ 2378870 w 2956449"/>
              <a:gd name="connsiteY9" fmla="*/ 1019922 h 3327353"/>
              <a:gd name="connsiteX10" fmla="*/ 2457451 w 2956449"/>
              <a:gd name="connsiteY10" fmla="*/ 869903 h 3327353"/>
              <a:gd name="connsiteX11" fmla="*/ 2907507 w 2956449"/>
              <a:gd name="connsiteY11" fmla="*/ 284116 h 3327353"/>
              <a:gd name="connsiteX12" fmla="*/ 0 w 2956449"/>
              <a:gd name="connsiteY12" fmla="*/ 26941 h 3327353"/>
              <a:gd name="connsiteX0" fmla="*/ 542926 w 2930848"/>
              <a:gd name="connsiteY0" fmla="*/ 3353129 h 3353129"/>
              <a:gd name="connsiteX1" fmla="*/ 1307307 w 2930848"/>
              <a:gd name="connsiteY1" fmla="*/ 2567317 h 3353129"/>
              <a:gd name="connsiteX2" fmla="*/ 1350170 w 2930848"/>
              <a:gd name="connsiteY2" fmla="*/ 2517311 h 3353129"/>
              <a:gd name="connsiteX3" fmla="*/ 1428751 w 2930848"/>
              <a:gd name="connsiteY3" fmla="*/ 2410154 h 3353129"/>
              <a:gd name="connsiteX4" fmla="*/ 1457326 w 2930848"/>
              <a:gd name="connsiteY4" fmla="*/ 2331573 h 3353129"/>
              <a:gd name="connsiteX5" fmla="*/ 1478757 w 2930848"/>
              <a:gd name="connsiteY5" fmla="*/ 2210129 h 3353129"/>
              <a:gd name="connsiteX6" fmla="*/ 1735932 w 2930848"/>
              <a:gd name="connsiteY6" fmla="*/ 1902948 h 3353129"/>
              <a:gd name="connsiteX7" fmla="*/ 2150270 w 2930848"/>
              <a:gd name="connsiteY7" fmla="*/ 1438604 h 3353129"/>
              <a:gd name="connsiteX8" fmla="*/ 2328863 w 2930848"/>
              <a:gd name="connsiteY8" fmla="*/ 1195717 h 3353129"/>
              <a:gd name="connsiteX9" fmla="*/ 2378870 w 2930848"/>
              <a:gd name="connsiteY9" fmla="*/ 1045698 h 3353129"/>
              <a:gd name="connsiteX10" fmla="*/ 2457451 w 2930848"/>
              <a:gd name="connsiteY10" fmla="*/ 895679 h 3353129"/>
              <a:gd name="connsiteX11" fmla="*/ 2907507 w 2930848"/>
              <a:gd name="connsiteY11" fmla="*/ 309892 h 3353129"/>
              <a:gd name="connsiteX12" fmla="*/ 0 w 2930848"/>
              <a:gd name="connsiteY12" fmla="*/ 52717 h 3353129"/>
              <a:gd name="connsiteX0" fmla="*/ 407195 w 2796914"/>
              <a:gd name="connsiteY0" fmla="*/ 3373557 h 3373557"/>
              <a:gd name="connsiteX1" fmla="*/ 1171576 w 2796914"/>
              <a:gd name="connsiteY1" fmla="*/ 2587745 h 3373557"/>
              <a:gd name="connsiteX2" fmla="*/ 1214439 w 2796914"/>
              <a:gd name="connsiteY2" fmla="*/ 2537739 h 3373557"/>
              <a:gd name="connsiteX3" fmla="*/ 1293020 w 2796914"/>
              <a:gd name="connsiteY3" fmla="*/ 2430582 h 3373557"/>
              <a:gd name="connsiteX4" fmla="*/ 1321595 w 2796914"/>
              <a:gd name="connsiteY4" fmla="*/ 2352001 h 3373557"/>
              <a:gd name="connsiteX5" fmla="*/ 1343026 w 2796914"/>
              <a:gd name="connsiteY5" fmla="*/ 2230557 h 3373557"/>
              <a:gd name="connsiteX6" fmla="*/ 1600201 w 2796914"/>
              <a:gd name="connsiteY6" fmla="*/ 1923376 h 3373557"/>
              <a:gd name="connsiteX7" fmla="*/ 2014539 w 2796914"/>
              <a:gd name="connsiteY7" fmla="*/ 1459032 h 3373557"/>
              <a:gd name="connsiteX8" fmla="*/ 2193132 w 2796914"/>
              <a:gd name="connsiteY8" fmla="*/ 1216145 h 3373557"/>
              <a:gd name="connsiteX9" fmla="*/ 2243139 w 2796914"/>
              <a:gd name="connsiteY9" fmla="*/ 1066126 h 3373557"/>
              <a:gd name="connsiteX10" fmla="*/ 2321720 w 2796914"/>
              <a:gd name="connsiteY10" fmla="*/ 916107 h 3373557"/>
              <a:gd name="connsiteX11" fmla="*/ 2771776 w 2796914"/>
              <a:gd name="connsiteY11" fmla="*/ 330320 h 3373557"/>
              <a:gd name="connsiteX12" fmla="*/ 0 w 2796914"/>
              <a:gd name="connsiteY12" fmla="*/ 37427 h 3373557"/>
              <a:gd name="connsiteX0" fmla="*/ 407195 w 2796815"/>
              <a:gd name="connsiteY0" fmla="*/ 3352903 h 3352903"/>
              <a:gd name="connsiteX1" fmla="*/ 1171576 w 2796815"/>
              <a:gd name="connsiteY1" fmla="*/ 2567091 h 3352903"/>
              <a:gd name="connsiteX2" fmla="*/ 1214439 w 2796815"/>
              <a:gd name="connsiteY2" fmla="*/ 2517085 h 3352903"/>
              <a:gd name="connsiteX3" fmla="*/ 1293020 w 2796815"/>
              <a:gd name="connsiteY3" fmla="*/ 2409928 h 3352903"/>
              <a:gd name="connsiteX4" fmla="*/ 1321595 w 2796815"/>
              <a:gd name="connsiteY4" fmla="*/ 2331347 h 3352903"/>
              <a:gd name="connsiteX5" fmla="*/ 1343026 w 2796815"/>
              <a:gd name="connsiteY5" fmla="*/ 2209903 h 3352903"/>
              <a:gd name="connsiteX6" fmla="*/ 1600201 w 2796815"/>
              <a:gd name="connsiteY6" fmla="*/ 1902722 h 3352903"/>
              <a:gd name="connsiteX7" fmla="*/ 2014539 w 2796815"/>
              <a:gd name="connsiteY7" fmla="*/ 1438378 h 3352903"/>
              <a:gd name="connsiteX8" fmla="*/ 2193132 w 2796815"/>
              <a:gd name="connsiteY8" fmla="*/ 1195491 h 3352903"/>
              <a:gd name="connsiteX9" fmla="*/ 2243139 w 2796815"/>
              <a:gd name="connsiteY9" fmla="*/ 1045472 h 3352903"/>
              <a:gd name="connsiteX10" fmla="*/ 2321720 w 2796815"/>
              <a:gd name="connsiteY10" fmla="*/ 895453 h 3352903"/>
              <a:gd name="connsiteX11" fmla="*/ 2771776 w 2796815"/>
              <a:gd name="connsiteY11" fmla="*/ 309666 h 3352903"/>
              <a:gd name="connsiteX12" fmla="*/ 0 w 2796815"/>
              <a:gd name="connsiteY12" fmla="*/ 16773 h 3352903"/>
              <a:gd name="connsiteX0" fmla="*/ 407195 w 2771776"/>
              <a:gd name="connsiteY0" fmla="*/ 3345833 h 3345833"/>
              <a:gd name="connsiteX1" fmla="*/ 1171576 w 2771776"/>
              <a:gd name="connsiteY1" fmla="*/ 2560021 h 3345833"/>
              <a:gd name="connsiteX2" fmla="*/ 1214439 w 2771776"/>
              <a:gd name="connsiteY2" fmla="*/ 2510015 h 3345833"/>
              <a:gd name="connsiteX3" fmla="*/ 1293020 w 2771776"/>
              <a:gd name="connsiteY3" fmla="*/ 2402858 h 3345833"/>
              <a:gd name="connsiteX4" fmla="*/ 1321595 w 2771776"/>
              <a:gd name="connsiteY4" fmla="*/ 2324277 h 3345833"/>
              <a:gd name="connsiteX5" fmla="*/ 1343026 w 2771776"/>
              <a:gd name="connsiteY5" fmla="*/ 2202833 h 3345833"/>
              <a:gd name="connsiteX6" fmla="*/ 1600201 w 2771776"/>
              <a:gd name="connsiteY6" fmla="*/ 1895652 h 3345833"/>
              <a:gd name="connsiteX7" fmla="*/ 2014539 w 2771776"/>
              <a:gd name="connsiteY7" fmla="*/ 1431308 h 3345833"/>
              <a:gd name="connsiteX8" fmla="*/ 2193132 w 2771776"/>
              <a:gd name="connsiteY8" fmla="*/ 1188421 h 3345833"/>
              <a:gd name="connsiteX9" fmla="*/ 2243139 w 2771776"/>
              <a:gd name="connsiteY9" fmla="*/ 1038402 h 3345833"/>
              <a:gd name="connsiteX10" fmla="*/ 2321720 w 2771776"/>
              <a:gd name="connsiteY10" fmla="*/ 888383 h 3345833"/>
              <a:gd name="connsiteX11" fmla="*/ 2771776 w 2771776"/>
              <a:gd name="connsiteY11" fmla="*/ 302596 h 3345833"/>
              <a:gd name="connsiteX12" fmla="*/ 0 w 2771776"/>
              <a:gd name="connsiteY12" fmla="*/ 9703 h 3345833"/>
              <a:gd name="connsiteX0" fmla="*/ 407195 w 2772832"/>
              <a:gd name="connsiteY0" fmla="*/ 3345833 h 3345833"/>
              <a:gd name="connsiteX1" fmla="*/ 1171576 w 2772832"/>
              <a:gd name="connsiteY1" fmla="*/ 2560021 h 3345833"/>
              <a:gd name="connsiteX2" fmla="*/ 1214439 w 2772832"/>
              <a:gd name="connsiteY2" fmla="*/ 2510015 h 3345833"/>
              <a:gd name="connsiteX3" fmla="*/ 1293020 w 2772832"/>
              <a:gd name="connsiteY3" fmla="*/ 2402858 h 3345833"/>
              <a:gd name="connsiteX4" fmla="*/ 1321595 w 2772832"/>
              <a:gd name="connsiteY4" fmla="*/ 2324277 h 3345833"/>
              <a:gd name="connsiteX5" fmla="*/ 1343026 w 2772832"/>
              <a:gd name="connsiteY5" fmla="*/ 2202833 h 3345833"/>
              <a:gd name="connsiteX6" fmla="*/ 1600201 w 2772832"/>
              <a:gd name="connsiteY6" fmla="*/ 1895652 h 3345833"/>
              <a:gd name="connsiteX7" fmla="*/ 2014539 w 2772832"/>
              <a:gd name="connsiteY7" fmla="*/ 1431308 h 3345833"/>
              <a:gd name="connsiteX8" fmla="*/ 2193132 w 2772832"/>
              <a:gd name="connsiteY8" fmla="*/ 1188421 h 3345833"/>
              <a:gd name="connsiteX9" fmla="*/ 2243139 w 2772832"/>
              <a:gd name="connsiteY9" fmla="*/ 1038402 h 3345833"/>
              <a:gd name="connsiteX10" fmla="*/ 2321720 w 2772832"/>
              <a:gd name="connsiteY10" fmla="*/ 888383 h 3345833"/>
              <a:gd name="connsiteX11" fmla="*/ 2771776 w 2772832"/>
              <a:gd name="connsiteY11" fmla="*/ 302596 h 3345833"/>
              <a:gd name="connsiteX12" fmla="*/ 0 w 2772832"/>
              <a:gd name="connsiteY12" fmla="*/ 9703 h 3345833"/>
              <a:gd name="connsiteX0" fmla="*/ 407195 w 2772832"/>
              <a:gd name="connsiteY0" fmla="*/ 3336130 h 3336130"/>
              <a:gd name="connsiteX1" fmla="*/ 1171576 w 2772832"/>
              <a:gd name="connsiteY1" fmla="*/ 2550318 h 3336130"/>
              <a:gd name="connsiteX2" fmla="*/ 1214439 w 2772832"/>
              <a:gd name="connsiteY2" fmla="*/ 2500312 h 3336130"/>
              <a:gd name="connsiteX3" fmla="*/ 1293020 w 2772832"/>
              <a:gd name="connsiteY3" fmla="*/ 2393155 h 3336130"/>
              <a:gd name="connsiteX4" fmla="*/ 1321595 w 2772832"/>
              <a:gd name="connsiteY4" fmla="*/ 2314574 h 3336130"/>
              <a:gd name="connsiteX5" fmla="*/ 1343026 w 2772832"/>
              <a:gd name="connsiteY5" fmla="*/ 2193130 h 3336130"/>
              <a:gd name="connsiteX6" fmla="*/ 1600201 w 2772832"/>
              <a:gd name="connsiteY6" fmla="*/ 1885949 h 3336130"/>
              <a:gd name="connsiteX7" fmla="*/ 2014539 w 2772832"/>
              <a:gd name="connsiteY7" fmla="*/ 1421605 h 3336130"/>
              <a:gd name="connsiteX8" fmla="*/ 2193132 w 2772832"/>
              <a:gd name="connsiteY8" fmla="*/ 1178718 h 3336130"/>
              <a:gd name="connsiteX9" fmla="*/ 2243139 w 2772832"/>
              <a:gd name="connsiteY9" fmla="*/ 1028699 h 3336130"/>
              <a:gd name="connsiteX10" fmla="*/ 2321720 w 2772832"/>
              <a:gd name="connsiteY10" fmla="*/ 878680 h 3336130"/>
              <a:gd name="connsiteX11" fmla="*/ 2771776 w 2772832"/>
              <a:gd name="connsiteY11" fmla="*/ 292893 h 3336130"/>
              <a:gd name="connsiteX12" fmla="*/ 0 w 2772832"/>
              <a:gd name="connsiteY12" fmla="*/ 0 h 3336130"/>
              <a:gd name="connsiteX0" fmla="*/ 407195 w 2772832"/>
              <a:gd name="connsiteY0" fmla="*/ 3336130 h 3336130"/>
              <a:gd name="connsiteX1" fmla="*/ 1171576 w 2772832"/>
              <a:gd name="connsiteY1" fmla="*/ 2550318 h 3336130"/>
              <a:gd name="connsiteX2" fmla="*/ 1214439 w 2772832"/>
              <a:gd name="connsiteY2" fmla="*/ 2500312 h 3336130"/>
              <a:gd name="connsiteX3" fmla="*/ 1293020 w 2772832"/>
              <a:gd name="connsiteY3" fmla="*/ 2393155 h 3336130"/>
              <a:gd name="connsiteX4" fmla="*/ 1321595 w 2772832"/>
              <a:gd name="connsiteY4" fmla="*/ 2314574 h 3336130"/>
              <a:gd name="connsiteX5" fmla="*/ 1343026 w 2772832"/>
              <a:gd name="connsiteY5" fmla="*/ 2193130 h 3336130"/>
              <a:gd name="connsiteX6" fmla="*/ 1600201 w 2772832"/>
              <a:gd name="connsiteY6" fmla="*/ 1885949 h 3336130"/>
              <a:gd name="connsiteX7" fmla="*/ 2014539 w 2772832"/>
              <a:gd name="connsiteY7" fmla="*/ 1421605 h 3336130"/>
              <a:gd name="connsiteX8" fmla="*/ 2193132 w 2772832"/>
              <a:gd name="connsiteY8" fmla="*/ 1178718 h 3336130"/>
              <a:gd name="connsiteX9" fmla="*/ 2243139 w 2772832"/>
              <a:gd name="connsiteY9" fmla="*/ 1028699 h 3336130"/>
              <a:gd name="connsiteX10" fmla="*/ 2321720 w 2772832"/>
              <a:gd name="connsiteY10" fmla="*/ 878680 h 3336130"/>
              <a:gd name="connsiteX11" fmla="*/ 2771776 w 2772832"/>
              <a:gd name="connsiteY11" fmla="*/ 164305 h 3336130"/>
              <a:gd name="connsiteX12" fmla="*/ 0 w 2772832"/>
              <a:gd name="connsiteY12" fmla="*/ 0 h 3336130"/>
              <a:gd name="connsiteX0" fmla="*/ 407195 w 2772832"/>
              <a:gd name="connsiteY0" fmla="*/ 3336130 h 3336130"/>
              <a:gd name="connsiteX1" fmla="*/ 1171576 w 2772832"/>
              <a:gd name="connsiteY1" fmla="*/ 2550318 h 3336130"/>
              <a:gd name="connsiteX2" fmla="*/ 1214439 w 2772832"/>
              <a:gd name="connsiteY2" fmla="*/ 2500312 h 3336130"/>
              <a:gd name="connsiteX3" fmla="*/ 1293020 w 2772832"/>
              <a:gd name="connsiteY3" fmla="*/ 2393155 h 3336130"/>
              <a:gd name="connsiteX4" fmla="*/ 1321595 w 2772832"/>
              <a:gd name="connsiteY4" fmla="*/ 2314574 h 3336130"/>
              <a:gd name="connsiteX5" fmla="*/ 1343026 w 2772832"/>
              <a:gd name="connsiteY5" fmla="*/ 2085974 h 3336130"/>
              <a:gd name="connsiteX6" fmla="*/ 1600201 w 2772832"/>
              <a:gd name="connsiteY6" fmla="*/ 1885949 h 3336130"/>
              <a:gd name="connsiteX7" fmla="*/ 2014539 w 2772832"/>
              <a:gd name="connsiteY7" fmla="*/ 1421605 h 3336130"/>
              <a:gd name="connsiteX8" fmla="*/ 2193132 w 2772832"/>
              <a:gd name="connsiteY8" fmla="*/ 1178718 h 3336130"/>
              <a:gd name="connsiteX9" fmla="*/ 2243139 w 2772832"/>
              <a:gd name="connsiteY9" fmla="*/ 1028699 h 3336130"/>
              <a:gd name="connsiteX10" fmla="*/ 2321720 w 2772832"/>
              <a:gd name="connsiteY10" fmla="*/ 878680 h 3336130"/>
              <a:gd name="connsiteX11" fmla="*/ 2771776 w 2772832"/>
              <a:gd name="connsiteY11" fmla="*/ 164305 h 3336130"/>
              <a:gd name="connsiteX12" fmla="*/ 0 w 2772832"/>
              <a:gd name="connsiteY12" fmla="*/ 0 h 3336130"/>
              <a:gd name="connsiteX0" fmla="*/ 407195 w 2772832"/>
              <a:gd name="connsiteY0" fmla="*/ 3336130 h 3336130"/>
              <a:gd name="connsiteX1" fmla="*/ 1171576 w 2772832"/>
              <a:gd name="connsiteY1" fmla="*/ 2550318 h 3336130"/>
              <a:gd name="connsiteX2" fmla="*/ 1214439 w 2772832"/>
              <a:gd name="connsiteY2" fmla="*/ 2500312 h 3336130"/>
              <a:gd name="connsiteX3" fmla="*/ 1293020 w 2772832"/>
              <a:gd name="connsiteY3" fmla="*/ 2393155 h 3336130"/>
              <a:gd name="connsiteX4" fmla="*/ 1321595 w 2772832"/>
              <a:gd name="connsiteY4" fmla="*/ 2314574 h 3336130"/>
              <a:gd name="connsiteX5" fmla="*/ 1343026 w 2772832"/>
              <a:gd name="connsiteY5" fmla="*/ 2085974 h 3336130"/>
              <a:gd name="connsiteX6" fmla="*/ 1593057 w 2772832"/>
              <a:gd name="connsiteY6" fmla="*/ 1728786 h 3336130"/>
              <a:gd name="connsiteX7" fmla="*/ 2014539 w 2772832"/>
              <a:gd name="connsiteY7" fmla="*/ 1421605 h 3336130"/>
              <a:gd name="connsiteX8" fmla="*/ 2193132 w 2772832"/>
              <a:gd name="connsiteY8" fmla="*/ 1178718 h 3336130"/>
              <a:gd name="connsiteX9" fmla="*/ 2243139 w 2772832"/>
              <a:gd name="connsiteY9" fmla="*/ 1028699 h 3336130"/>
              <a:gd name="connsiteX10" fmla="*/ 2321720 w 2772832"/>
              <a:gd name="connsiteY10" fmla="*/ 878680 h 3336130"/>
              <a:gd name="connsiteX11" fmla="*/ 2771776 w 2772832"/>
              <a:gd name="connsiteY11" fmla="*/ 164305 h 3336130"/>
              <a:gd name="connsiteX12" fmla="*/ 0 w 2772832"/>
              <a:gd name="connsiteY12" fmla="*/ 0 h 3336130"/>
              <a:gd name="connsiteX0" fmla="*/ 407195 w 2772832"/>
              <a:gd name="connsiteY0" fmla="*/ 3336130 h 3336130"/>
              <a:gd name="connsiteX1" fmla="*/ 1171576 w 2772832"/>
              <a:gd name="connsiteY1" fmla="*/ 2550318 h 3336130"/>
              <a:gd name="connsiteX2" fmla="*/ 1214439 w 2772832"/>
              <a:gd name="connsiteY2" fmla="*/ 2500312 h 3336130"/>
              <a:gd name="connsiteX3" fmla="*/ 1293020 w 2772832"/>
              <a:gd name="connsiteY3" fmla="*/ 2393155 h 3336130"/>
              <a:gd name="connsiteX4" fmla="*/ 1321595 w 2772832"/>
              <a:gd name="connsiteY4" fmla="*/ 2314574 h 3336130"/>
              <a:gd name="connsiteX5" fmla="*/ 1343026 w 2772832"/>
              <a:gd name="connsiteY5" fmla="*/ 2085974 h 3336130"/>
              <a:gd name="connsiteX6" fmla="*/ 1593057 w 2772832"/>
              <a:gd name="connsiteY6" fmla="*/ 1728786 h 3336130"/>
              <a:gd name="connsiteX7" fmla="*/ 2000251 w 2772832"/>
              <a:gd name="connsiteY7" fmla="*/ 1207293 h 3336130"/>
              <a:gd name="connsiteX8" fmla="*/ 2193132 w 2772832"/>
              <a:gd name="connsiteY8" fmla="*/ 1178718 h 3336130"/>
              <a:gd name="connsiteX9" fmla="*/ 2243139 w 2772832"/>
              <a:gd name="connsiteY9" fmla="*/ 1028699 h 3336130"/>
              <a:gd name="connsiteX10" fmla="*/ 2321720 w 2772832"/>
              <a:gd name="connsiteY10" fmla="*/ 878680 h 3336130"/>
              <a:gd name="connsiteX11" fmla="*/ 2771776 w 2772832"/>
              <a:gd name="connsiteY11" fmla="*/ 164305 h 3336130"/>
              <a:gd name="connsiteX12" fmla="*/ 0 w 2772832"/>
              <a:gd name="connsiteY12" fmla="*/ 0 h 3336130"/>
              <a:gd name="connsiteX0" fmla="*/ 407195 w 2772832"/>
              <a:gd name="connsiteY0" fmla="*/ 3336130 h 3336130"/>
              <a:gd name="connsiteX1" fmla="*/ 1171576 w 2772832"/>
              <a:gd name="connsiteY1" fmla="*/ 2550318 h 3336130"/>
              <a:gd name="connsiteX2" fmla="*/ 1214439 w 2772832"/>
              <a:gd name="connsiteY2" fmla="*/ 2500312 h 3336130"/>
              <a:gd name="connsiteX3" fmla="*/ 1293020 w 2772832"/>
              <a:gd name="connsiteY3" fmla="*/ 2393155 h 3336130"/>
              <a:gd name="connsiteX4" fmla="*/ 1321595 w 2772832"/>
              <a:gd name="connsiteY4" fmla="*/ 2314574 h 3336130"/>
              <a:gd name="connsiteX5" fmla="*/ 1343026 w 2772832"/>
              <a:gd name="connsiteY5" fmla="*/ 2085974 h 3336130"/>
              <a:gd name="connsiteX6" fmla="*/ 1593057 w 2772832"/>
              <a:gd name="connsiteY6" fmla="*/ 1728786 h 3336130"/>
              <a:gd name="connsiteX7" fmla="*/ 2000251 w 2772832"/>
              <a:gd name="connsiteY7" fmla="*/ 1207293 h 3336130"/>
              <a:gd name="connsiteX8" fmla="*/ 2085976 w 2772832"/>
              <a:gd name="connsiteY8" fmla="*/ 914400 h 3336130"/>
              <a:gd name="connsiteX9" fmla="*/ 2243139 w 2772832"/>
              <a:gd name="connsiteY9" fmla="*/ 1028699 h 3336130"/>
              <a:gd name="connsiteX10" fmla="*/ 2321720 w 2772832"/>
              <a:gd name="connsiteY10" fmla="*/ 878680 h 3336130"/>
              <a:gd name="connsiteX11" fmla="*/ 2771776 w 2772832"/>
              <a:gd name="connsiteY11" fmla="*/ 164305 h 3336130"/>
              <a:gd name="connsiteX12" fmla="*/ 0 w 2772832"/>
              <a:gd name="connsiteY12" fmla="*/ 0 h 3336130"/>
              <a:gd name="connsiteX0" fmla="*/ 414339 w 2779976"/>
              <a:gd name="connsiteY0" fmla="*/ 3228174 h 3228174"/>
              <a:gd name="connsiteX1" fmla="*/ 1178720 w 2779976"/>
              <a:gd name="connsiteY1" fmla="*/ 2442362 h 3228174"/>
              <a:gd name="connsiteX2" fmla="*/ 1221583 w 2779976"/>
              <a:gd name="connsiteY2" fmla="*/ 2392356 h 3228174"/>
              <a:gd name="connsiteX3" fmla="*/ 1300164 w 2779976"/>
              <a:gd name="connsiteY3" fmla="*/ 2285199 h 3228174"/>
              <a:gd name="connsiteX4" fmla="*/ 1328739 w 2779976"/>
              <a:gd name="connsiteY4" fmla="*/ 2206618 h 3228174"/>
              <a:gd name="connsiteX5" fmla="*/ 1350170 w 2779976"/>
              <a:gd name="connsiteY5" fmla="*/ 1978018 h 3228174"/>
              <a:gd name="connsiteX6" fmla="*/ 1600201 w 2779976"/>
              <a:gd name="connsiteY6" fmla="*/ 1620830 h 3228174"/>
              <a:gd name="connsiteX7" fmla="*/ 2007395 w 2779976"/>
              <a:gd name="connsiteY7" fmla="*/ 1099337 h 3228174"/>
              <a:gd name="connsiteX8" fmla="*/ 2093120 w 2779976"/>
              <a:gd name="connsiteY8" fmla="*/ 806444 h 3228174"/>
              <a:gd name="connsiteX9" fmla="*/ 2250283 w 2779976"/>
              <a:gd name="connsiteY9" fmla="*/ 920743 h 3228174"/>
              <a:gd name="connsiteX10" fmla="*/ 2328864 w 2779976"/>
              <a:gd name="connsiteY10" fmla="*/ 770724 h 3228174"/>
              <a:gd name="connsiteX11" fmla="*/ 2778920 w 2779976"/>
              <a:gd name="connsiteY11" fmla="*/ 56349 h 3228174"/>
              <a:gd name="connsiteX12" fmla="*/ 0 w 2779976"/>
              <a:gd name="connsiteY12" fmla="*/ 442113 h 3228174"/>
              <a:gd name="connsiteX0" fmla="*/ 414339 w 2573599"/>
              <a:gd name="connsiteY0" fmla="*/ 2827580 h 2827580"/>
              <a:gd name="connsiteX1" fmla="*/ 1178720 w 2573599"/>
              <a:gd name="connsiteY1" fmla="*/ 2041768 h 2827580"/>
              <a:gd name="connsiteX2" fmla="*/ 1221583 w 2573599"/>
              <a:gd name="connsiteY2" fmla="*/ 1991762 h 2827580"/>
              <a:gd name="connsiteX3" fmla="*/ 1300164 w 2573599"/>
              <a:gd name="connsiteY3" fmla="*/ 1884605 h 2827580"/>
              <a:gd name="connsiteX4" fmla="*/ 1328739 w 2573599"/>
              <a:gd name="connsiteY4" fmla="*/ 1806024 h 2827580"/>
              <a:gd name="connsiteX5" fmla="*/ 1350170 w 2573599"/>
              <a:gd name="connsiteY5" fmla="*/ 1577424 h 2827580"/>
              <a:gd name="connsiteX6" fmla="*/ 1600201 w 2573599"/>
              <a:gd name="connsiteY6" fmla="*/ 1220236 h 2827580"/>
              <a:gd name="connsiteX7" fmla="*/ 2007395 w 2573599"/>
              <a:gd name="connsiteY7" fmla="*/ 698743 h 2827580"/>
              <a:gd name="connsiteX8" fmla="*/ 2093120 w 2573599"/>
              <a:gd name="connsiteY8" fmla="*/ 405850 h 2827580"/>
              <a:gd name="connsiteX9" fmla="*/ 2250283 w 2573599"/>
              <a:gd name="connsiteY9" fmla="*/ 520149 h 2827580"/>
              <a:gd name="connsiteX10" fmla="*/ 2328864 w 2573599"/>
              <a:gd name="connsiteY10" fmla="*/ 370130 h 2827580"/>
              <a:gd name="connsiteX11" fmla="*/ 2571751 w 2573599"/>
              <a:gd name="connsiteY11" fmla="*/ 127242 h 2827580"/>
              <a:gd name="connsiteX12" fmla="*/ 0 w 2573599"/>
              <a:gd name="connsiteY12" fmla="*/ 41519 h 2827580"/>
              <a:gd name="connsiteX0" fmla="*/ 414339 w 2573658"/>
              <a:gd name="connsiteY0" fmla="*/ 2827580 h 2827580"/>
              <a:gd name="connsiteX1" fmla="*/ 1178720 w 2573658"/>
              <a:gd name="connsiteY1" fmla="*/ 2041768 h 2827580"/>
              <a:gd name="connsiteX2" fmla="*/ 1221583 w 2573658"/>
              <a:gd name="connsiteY2" fmla="*/ 1991762 h 2827580"/>
              <a:gd name="connsiteX3" fmla="*/ 1300164 w 2573658"/>
              <a:gd name="connsiteY3" fmla="*/ 1884605 h 2827580"/>
              <a:gd name="connsiteX4" fmla="*/ 1328739 w 2573658"/>
              <a:gd name="connsiteY4" fmla="*/ 1806024 h 2827580"/>
              <a:gd name="connsiteX5" fmla="*/ 1350170 w 2573658"/>
              <a:gd name="connsiteY5" fmla="*/ 1577424 h 2827580"/>
              <a:gd name="connsiteX6" fmla="*/ 1600201 w 2573658"/>
              <a:gd name="connsiteY6" fmla="*/ 1220236 h 2827580"/>
              <a:gd name="connsiteX7" fmla="*/ 2007395 w 2573658"/>
              <a:gd name="connsiteY7" fmla="*/ 698743 h 2827580"/>
              <a:gd name="connsiteX8" fmla="*/ 2093120 w 2573658"/>
              <a:gd name="connsiteY8" fmla="*/ 405850 h 2827580"/>
              <a:gd name="connsiteX9" fmla="*/ 2250283 w 2573658"/>
              <a:gd name="connsiteY9" fmla="*/ 520149 h 2827580"/>
              <a:gd name="connsiteX10" fmla="*/ 2336008 w 2573658"/>
              <a:gd name="connsiteY10" fmla="*/ 470142 h 2827580"/>
              <a:gd name="connsiteX11" fmla="*/ 2571751 w 2573658"/>
              <a:gd name="connsiteY11" fmla="*/ 127242 h 2827580"/>
              <a:gd name="connsiteX12" fmla="*/ 0 w 2573658"/>
              <a:gd name="connsiteY12" fmla="*/ 41519 h 2827580"/>
              <a:gd name="connsiteX0" fmla="*/ 414339 w 2573658"/>
              <a:gd name="connsiteY0" fmla="*/ 2827580 h 2827580"/>
              <a:gd name="connsiteX1" fmla="*/ 1178720 w 2573658"/>
              <a:gd name="connsiteY1" fmla="*/ 2041768 h 2827580"/>
              <a:gd name="connsiteX2" fmla="*/ 1221583 w 2573658"/>
              <a:gd name="connsiteY2" fmla="*/ 1991762 h 2827580"/>
              <a:gd name="connsiteX3" fmla="*/ 1300164 w 2573658"/>
              <a:gd name="connsiteY3" fmla="*/ 1884605 h 2827580"/>
              <a:gd name="connsiteX4" fmla="*/ 1328739 w 2573658"/>
              <a:gd name="connsiteY4" fmla="*/ 1806024 h 2827580"/>
              <a:gd name="connsiteX5" fmla="*/ 1350170 w 2573658"/>
              <a:gd name="connsiteY5" fmla="*/ 1577424 h 2827580"/>
              <a:gd name="connsiteX6" fmla="*/ 1600201 w 2573658"/>
              <a:gd name="connsiteY6" fmla="*/ 1220236 h 2827580"/>
              <a:gd name="connsiteX7" fmla="*/ 2007395 w 2573658"/>
              <a:gd name="connsiteY7" fmla="*/ 698743 h 2827580"/>
              <a:gd name="connsiteX8" fmla="*/ 2035970 w 2573658"/>
              <a:gd name="connsiteY8" fmla="*/ 155819 h 2827580"/>
              <a:gd name="connsiteX9" fmla="*/ 2250283 w 2573658"/>
              <a:gd name="connsiteY9" fmla="*/ 520149 h 2827580"/>
              <a:gd name="connsiteX10" fmla="*/ 2336008 w 2573658"/>
              <a:gd name="connsiteY10" fmla="*/ 470142 h 2827580"/>
              <a:gd name="connsiteX11" fmla="*/ 2571751 w 2573658"/>
              <a:gd name="connsiteY11" fmla="*/ 127242 h 2827580"/>
              <a:gd name="connsiteX12" fmla="*/ 0 w 2573658"/>
              <a:gd name="connsiteY12" fmla="*/ 41519 h 2827580"/>
              <a:gd name="connsiteX0" fmla="*/ 414339 w 2573658"/>
              <a:gd name="connsiteY0" fmla="*/ 2827580 h 2827580"/>
              <a:gd name="connsiteX1" fmla="*/ 1178720 w 2573658"/>
              <a:gd name="connsiteY1" fmla="*/ 2041768 h 2827580"/>
              <a:gd name="connsiteX2" fmla="*/ 1221583 w 2573658"/>
              <a:gd name="connsiteY2" fmla="*/ 1991762 h 2827580"/>
              <a:gd name="connsiteX3" fmla="*/ 1300164 w 2573658"/>
              <a:gd name="connsiteY3" fmla="*/ 1884605 h 2827580"/>
              <a:gd name="connsiteX4" fmla="*/ 1328739 w 2573658"/>
              <a:gd name="connsiteY4" fmla="*/ 1806024 h 2827580"/>
              <a:gd name="connsiteX5" fmla="*/ 1350170 w 2573658"/>
              <a:gd name="connsiteY5" fmla="*/ 1577424 h 2827580"/>
              <a:gd name="connsiteX6" fmla="*/ 1600201 w 2573658"/>
              <a:gd name="connsiteY6" fmla="*/ 1220236 h 2827580"/>
              <a:gd name="connsiteX7" fmla="*/ 1957389 w 2573658"/>
              <a:gd name="connsiteY7" fmla="*/ 591587 h 2827580"/>
              <a:gd name="connsiteX8" fmla="*/ 2035970 w 2573658"/>
              <a:gd name="connsiteY8" fmla="*/ 155819 h 2827580"/>
              <a:gd name="connsiteX9" fmla="*/ 2250283 w 2573658"/>
              <a:gd name="connsiteY9" fmla="*/ 520149 h 2827580"/>
              <a:gd name="connsiteX10" fmla="*/ 2336008 w 2573658"/>
              <a:gd name="connsiteY10" fmla="*/ 470142 h 2827580"/>
              <a:gd name="connsiteX11" fmla="*/ 2571751 w 2573658"/>
              <a:gd name="connsiteY11" fmla="*/ 127242 h 2827580"/>
              <a:gd name="connsiteX12" fmla="*/ 0 w 2573658"/>
              <a:gd name="connsiteY12" fmla="*/ 41519 h 2827580"/>
              <a:gd name="connsiteX0" fmla="*/ 414339 w 2573658"/>
              <a:gd name="connsiteY0" fmla="*/ 2827580 h 2827580"/>
              <a:gd name="connsiteX1" fmla="*/ 1178720 w 2573658"/>
              <a:gd name="connsiteY1" fmla="*/ 2041768 h 2827580"/>
              <a:gd name="connsiteX2" fmla="*/ 1221583 w 2573658"/>
              <a:gd name="connsiteY2" fmla="*/ 1991762 h 2827580"/>
              <a:gd name="connsiteX3" fmla="*/ 1300164 w 2573658"/>
              <a:gd name="connsiteY3" fmla="*/ 1884605 h 2827580"/>
              <a:gd name="connsiteX4" fmla="*/ 1328739 w 2573658"/>
              <a:gd name="connsiteY4" fmla="*/ 1806024 h 2827580"/>
              <a:gd name="connsiteX5" fmla="*/ 1350170 w 2573658"/>
              <a:gd name="connsiteY5" fmla="*/ 1577424 h 2827580"/>
              <a:gd name="connsiteX6" fmla="*/ 1600201 w 2573658"/>
              <a:gd name="connsiteY6" fmla="*/ 1220236 h 2827580"/>
              <a:gd name="connsiteX7" fmla="*/ 1957389 w 2573658"/>
              <a:gd name="connsiteY7" fmla="*/ 591587 h 2827580"/>
              <a:gd name="connsiteX8" fmla="*/ 2028826 w 2573658"/>
              <a:gd name="connsiteY8" fmla="*/ 148675 h 2827580"/>
              <a:gd name="connsiteX9" fmla="*/ 2250283 w 2573658"/>
              <a:gd name="connsiteY9" fmla="*/ 520149 h 2827580"/>
              <a:gd name="connsiteX10" fmla="*/ 2336008 w 2573658"/>
              <a:gd name="connsiteY10" fmla="*/ 470142 h 2827580"/>
              <a:gd name="connsiteX11" fmla="*/ 2571751 w 2573658"/>
              <a:gd name="connsiteY11" fmla="*/ 127242 h 2827580"/>
              <a:gd name="connsiteX12" fmla="*/ 0 w 2573658"/>
              <a:gd name="connsiteY12" fmla="*/ 41519 h 2827580"/>
              <a:gd name="connsiteX0" fmla="*/ 414339 w 2574834"/>
              <a:gd name="connsiteY0" fmla="*/ 2827580 h 2827580"/>
              <a:gd name="connsiteX1" fmla="*/ 1178720 w 2574834"/>
              <a:gd name="connsiteY1" fmla="*/ 2041768 h 2827580"/>
              <a:gd name="connsiteX2" fmla="*/ 1221583 w 2574834"/>
              <a:gd name="connsiteY2" fmla="*/ 1991762 h 2827580"/>
              <a:gd name="connsiteX3" fmla="*/ 1300164 w 2574834"/>
              <a:gd name="connsiteY3" fmla="*/ 1884605 h 2827580"/>
              <a:gd name="connsiteX4" fmla="*/ 1328739 w 2574834"/>
              <a:gd name="connsiteY4" fmla="*/ 1806024 h 2827580"/>
              <a:gd name="connsiteX5" fmla="*/ 1350170 w 2574834"/>
              <a:gd name="connsiteY5" fmla="*/ 1577424 h 2827580"/>
              <a:gd name="connsiteX6" fmla="*/ 1600201 w 2574834"/>
              <a:gd name="connsiteY6" fmla="*/ 1220236 h 2827580"/>
              <a:gd name="connsiteX7" fmla="*/ 1957389 w 2574834"/>
              <a:gd name="connsiteY7" fmla="*/ 591587 h 2827580"/>
              <a:gd name="connsiteX8" fmla="*/ 2028826 w 2574834"/>
              <a:gd name="connsiteY8" fmla="*/ 148675 h 2827580"/>
              <a:gd name="connsiteX9" fmla="*/ 2250283 w 2574834"/>
              <a:gd name="connsiteY9" fmla="*/ 520149 h 2827580"/>
              <a:gd name="connsiteX10" fmla="*/ 2421733 w 2574834"/>
              <a:gd name="connsiteY10" fmla="*/ 384417 h 2827580"/>
              <a:gd name="connsiteX11" fmla="*/ 2571751 w 2574834"/>
              <a:gd name="connsiteY11" fmla="*/ 127242 h 2827580"/>
              <a:gd name="connsiteX12" fmla="*/ 0 w 2574834"/>
              <a:gd name="connsiteY12" fmla="*/ 41519 h 2827580"/>
              <a:gd name="connsiteX0" fmla="*/ 414339 w 2574555"/>
              <a:gd name="connsiteY0" fmla="*/ 2827580 h 2827580"/>
              <a:gd name="connsiteX1" fmla="*/ 1178720 w 2574555"/>
              <a:gd name="connsiteY1" fmla="*/ 2041768 h 2827580"/>
              <a:gd name="connsiteX2" fmla="*/ 1221583 w 2574555"/>
              <a:gd name="connsiteY2" fmla="*/ 1991762 h 2827580"/>
              <a:gd name="connsiteX3" fmla="*/ 1300164 w 2574555"/>
              <a:gd name="connsiteY3" fmla="*/ 1884605 h 2827580"/>
              <a:gd name="connsiteX4" fmla="*/ 1328739 w 2574555"/>
              <a:gd name="connsiteY4" fmla="*/ 1806024 h 2827580"/>
              <a:gd name="connsiteX5" fmla="*/ 1350170 w 2574555"/>
              <a:gd name="connsiteY5" fmla="*/ 1577424 h 2827580"/>
              <a:gd name="connsiteX6" fmla="*/ 1600201 w 2574555"/>
              <a:gd name="connsiteY6" fmla="*/ 1220236 h 2827580"/>
              <a:gd name="connsiteX7" fmla="*/ 1957389 w 2574555"/>
              <a:gd name="connsiteY7" fmla="*/ 591587 h 2827580"/>
              <a:gd name="connsiteX8" fmla="*/ 2028826 w 2574555"/>
              <a:gd name="connsiteY8" fmla="*/ 148675 h 2827580"/>
              <a:gd name="connsiteX9" fmla="*/ 2336008 w 2574555"/>
              <a:gd name="connsiteY9" fmla="*/ 520149 h 2827580"/>
              <a:gd name="connsiteX10" fmla="*/ 2421733 w 2574555"/>
              <a:gd name="connsiteY10" fmla="*/ 384417 h 2827580"/>
              <a:gd name="connsiteX11" fmla="*/ 2571751 w 2574555"/>
              <a:gd name="connsiteY11" fmla="*/ 127242 h 2827580"/>
              <a:gd name="connsiteX12" fmla="*/ 0 w 2574555"/>
              <a:gd name="connsiteY12" fmla="*/ 41519 h 2827580"/>
              <a:gd name="connsiteX0" fmla="*/ 414339 w 2574712"/>
              <a:gd name="connsiteY0" fmla="*/ 2827580 h 2827580"/>
              <a:gd name="connsiteX1" fmla="*/ 1178720 w 2574712"/>
              <a:gd name="connsiteY1" fmla="*/ 2041768 h 2827580"/>
              <a:gd name="connsiteX2" fmla="*/ 1221583 w 2574712"/>
              <a:gd name="connsiteY2" fmla="*/ 1991762 h 2827580"/>
              <a:gd name="connsiteX3" fmla="*/ 1300164 w 2574712"/>
              <a:gd name="connsiteY3" fmla="*/ 1884605 h 2827580"/>
              <a:gd name="connsiteX4" fmla="*/ 1328739 w 2574712"/>
              <a:gd name="connsiteY4" fmla="*/ 1806024 h 2827580"/>
              <a:gd name="connsiteX5" fmla="*/ 1350170 w 2574712"/>
              <a:gd name="connsiteY5" fmla="*/ 1577424 h 2827580"/>
              <a:gd name="connsiteX6" fmla="*/ 1600201 w 2574712"/>
              <a:gd name="connsiteY6" fmla="*/ 1220236 h 2827580"/>
              <a:gd name="connsiteX7" fmla="*/ 1957389 w 2574712"/>
              <a:gd name="connsiteY7" fmla="*/ 591587 h 2827580"/>
              <a:gd name="connsiteX8" fmla="*/ 2028826 w 2574712"/>
              <a:gd name="connsiteY8" fmla="*/ 148675 h 2827580"/>
              <a:gd name="connsiteX9" fmla="*/ 2286001 w 2574712"/>
              <a:gd name="connsiteY9" fmla="*/ 412993 h 2827580"/>
              <a:gd name="connsiteX10" fmla="*/ 2421733 w 2574712"/>
              <a:gd name="connsiteY10" fmla="*/ 384417 h 2827580"/>
              <a:gd name="connsiteX11" fmla="*/ 2571751 w 2574712"/>
              <a:gd name="connsiteY11" fmla="*/ 127242 h 2827580"/>
              <a:gd name="connsiteX12" fmla="*/ 0 w 2574712"/>
              <a:gd name="connsiteY12" fmla="*/ 41519 h 2827580"/>
              <a:gd name="connsiteX0" fmla="*/ 414339 w 2574712"/>
              <a:gd name="connsiteY0" fmla="*/ 2827580 h 2827580"/>
              <a:gd name="connsiteX1" fmla="*/ 1178720 w 2574712"/>
              <a:gd name="connsiteY1" fmla="*/ 2041768 h 2827580"/>
              <a:gd name="connsiteX2" fmla="*/ 1221583 w 2574712"/>
              <a:gd name="connsiteY2" fmla="*/ 1991762 h 2827580"/>
              <a:gd name="connsiteX3" fmla="*/ 1300164 w 2574712"/>
              <a:gd name="connsiteY3" fmla="*/ 1884605 h 2827580"/>
              <a:gd name="connsiteX4" fmla="*/ 1328739 w 2574712"/>
              <a:gd name="connsiteY4" fmla="*/ 1806024 h 2827580"/>
              <a:gd name="connsiteX5" fmla="*/ 1407320 w 2574712"/>
              <a:gd name="connsiteY5" fmla="*/ 1463124 h 2827580"/>
              <a:gd name="connsiteX6" fmla="*/ 1600201 w 2574712"/>
              <a:gd name="connsiteY6" fmla="*/ 1220236 h 2827580"/>
              <a:gd name="connsiteX7" fmla="*/ 1957389 w 2574712"/>
              <a:gd name="connsiteY7" fmla="*/ 591587 h 2827580"/>
              <a:gd name="connsiteX8" fmla="*/ 2028826 w 2574712"/>
              <a:gd name="connsiteY8" fmla="*/ 148675 h 2827580"/>
              <a:gd name="connsiteX9" fmla="*/ 2286001 w 2574712"/>
              <a:gd name="connsiteY9" fmla="*/ 412993 h 2827580"/>
              <a:gd name="connsiteX10" fmla="*/ 2421733 w 2574712"/>
              <a:gd name="connsiteY10" fmla="*/ 384417 h 2827580"/>
              <a:gd name="connsiteX11" fmla="*/ 2571751 w 2574712"/>
              <a:gd name="connsiteY11" fmla="*/ 127242 h 2827580"/>
              <a:gd name="connsiteX12" fmla="*/ 0 w 2574712"/>
              <a:gd name="connsiteY12" fmla="*/ 41519 h 2827580"/>
              <a:gd name="connsiteX0" fmla="*/ 414339 w 2574712"/>
              <a:gd name="connsiteY0" fmla="*/ 2827580 h 2827580"/>
              <a:gd name="connsiteX1" fmla="*/ 1178720 w 2574712"/>
              <a:gd name="connsiteY1" fmla="*/ 2041768 h 2827580"/>
              <a:gd name="connsiteX2" fmla="*/ 1221583 w 2574712"/>
              <a:gd name="connsiteY2" fmla="*/ 1991762 h 2827580"/>
              <a:gd name="connsiteX3" fmla="*/ 1300164 w 2574712"/>
              <a:gd name="connsiteY3" fmla="*/ 1884605 h 2827580"/>
              <a:gd name="connsiteX4" fmla="*/ 1393033 w 2574712"/>
              <a:gd name="connsiteY4" fmla="*/ 1741731 h 2827580"/>
              <a:gd name="connsiteX5" fmla="*/ 1407320 w 2574712"/>
              <a:gd name="connsiteY5" fmla="*/ 1463124 h 2827580"/>
              <a:gd name="connsiteX6" fmla="*/ 1600201 w 2574712"/>
              <a:gd name="connsiteY6" fmla="*/ 1220236 h 2827580"/>
              <a:gd name="connsiteX7" fmla="*/ 1957389 w 2574712"/>
              <a:gd name="connsiteY7" fmla="*/ 591587 h 2827580"/>
              <a:gd name="connsiteX8" fmla="*/ 2028826 w 2574712"/>
              <a:gd name="connsiteY8" fmla="*/ 148675 h 2827580"/>
              <a:gd name="connsiteX9" fmla="*/ 2286001 w 2574712"/>
              <a:gd name="connsiteY9" fmla="*/ 412993 h 2827580"/>
              <a:gd name="connsiteX10" fmla="*/ 2421733 w 2574712"/>
              <a:gd name="connsiteY10" fmla="*/ 384417 h 2827580"/>
              <a:gd name="connsiteX11" fmla="*/ 2571751 w 2574712"/>
              <a:gd name="connsiteY11" fmla="*/ 127242 h 2827580"/>
              <a:gd name="connsiteX12" fmla="*/ 0 w 2574712"/>
              <a:gd name="connsiteY12" fmla="*/ 41519 h 282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74712" h="2827580">
                <a:moveTo>
                  <a:pt x="414339" y="2827580"/>
                </a:moveTo>
                <a:lnTo>
                  <a:pt x="1178720" y="2041768"/>
                </a:lnTo>
                <a:cubicBezTo>
                  <a:pt x="1313261" y="1902465"/>
                  <a:pt x="1201342" y="2017956"/>
                  <a:pt x="1221583" y="1991762"/>
                </a:cubicBezTo>
                <a:cubicBezTo>
                  <a:pt x="1241824" y="1965568"/>
                  <a:pt x="1271589" y="1926277"/>
                  <a:pt x="1300164" y="1884605"/>
                </a:cubicBezTo>
                <a:cubicBezTo>
                  <a:pt x="1328739" y="1842933"/>
                  <a:pt x="1375174" y="1811978"/>
                  <a:pt x="1393033" y="1741731"/>
                </a:cubicBezTo>
                <a:cubicBezTo>
                  <a:pt x="1410892" y="1671484"/>
                  <a:pt x="1372792" y="1550040"/>
                  <a:pt x="1407320" y="1463124"/>
                </a:cubicBezTo>
                <a:cubicBezTo>
                  <a:pt x="1441848" y="1376208"/>
                  <a:pt x="1508523" y="1365492"/>
                  <a:pt x="1600201" y="1220236"/>
                </a:cubicBezTo>
                <a:cubicBezTo>
                  <a:pt x="1691879" y="1074980"/>
                  <a:pt x="1885952" y="770180"/>
                  <a:pt x="1957389" y="591587"/>
                </a:cubicBezTo>
                <a:cubicBezTo>
                  <a:pt x="2028826" y="412994"/>
                  <a:pt x="1974057" y="178441"/>
                  <a:pt x="2028826" y="148675"/>
                </a:cubicBezTo>
                <a:cubicBezTo>
                  <a:pt x="2083595" y="118909"/>
                  <a:pt x="2220517" y="373703"/>
                  <a:pt x="2286001" y="412993"/>
                </a:cubicBezTo>
                <a:cubicBezTo>
                  <a:pt x="2351486" y="452283"/>
                  <a:pt x="2374108" y="432042"/>
                  <a:pt x="2421733" y="384417"/>
                </a:cubicBezTo>
                <a:cubicBezTo>
                  <a:pt x="2469358" y="336792"/>
                  <a:pt x="2595564" y="229636"/>
                  <a:pt x="2571751" y="127242"/>
                </a:cubicBezTo>
                <a:cubicBezTo>
                  <a:pt x="2526508" y="-125171"/>
                  <a:pt x="1477566" y="83191"/>
                  <a:pt x="0" y="41519"/>
                </a:cubicBezTo>
              </a:path>
            </a:pathLst>
          </a:custGeom>
          <a:noFill/>
          <a:ln w="127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216E75A-346A-1441-87BE-C59274394A9E}"/>
              </a:ext>
            </a:extLst>
          </p:cNvPr>
          <p:cNvSpPr/>
          <p:nvPr/>
        </p:nvSpPr>
        <p:spPr>
          <a:xfrm>
            <a:off x="2686051" y="2378757"/>
            <a:ext cx="1170221" cy="1393144"/>
          </a:xfrm>
          <a:custGeom>
            <a:avLst/>
            <a:gdLst>
              <a:gd name="connsiteX0" fmla="*/ 378619 w 1560295"/>
              <a:gd name="connsiteY0" fmla="*/ 1857525 h 1857525"/>
              <a:gd name="connsiteX1" fmla="*/ 978694 w 1560295"/>
              <a:gd name="connsiteY1" fmla="*/ 1243163 h 1857525"/>
              <a:gd name="connsiteX2" fmla="*/ 1064419 w 1560295"/>
              <a:gd name="connsiteY2" fmla="*/ 1128863 h 1857525"/>
              <a:gd name="connsiteX3" fmla="*/ 1114425 w 1560295"/>
              <a:gd name="connsiteY3" fmla="*/ 1014563 h 1857525"/>
              <a:gd name="connsiteX4" fmla="*/ 1114425 w 1560295"/>
              <a:gd name="connsiteY4" fmla="*/ 893119 h 1857525"/>
              <a:gd name="connsiteX5" fmla="*/ 1314450 w 1560295"/>
              <a:gd name="connsiteY5" fmla="*/ 543075 h 1857525"/>
              <a:gd name="connsiteX6" fmla="*/ 1550194 w 1560295"/>
              <a:gd name="connsiteY6" fmla="*/ 235894 h 1857525"/>
              <a:gd name="connsiteX7" fmla="*/ 1478756 w 1560295"/>
              <a:gd name="connsiteY7" fmla="*/ 64444 h 1857525"/>
              <a:gd name="connsiteX8" fmla="*/ 1135856 w 1560295"/>
              <a:gd name="connsiteY8" fmla="*/ 150 h 1857525"/>
              <a:gd name="connsiteX9" fmla="*/ 0 w 1560295"/>
              <a:gd name="connsiteY9" fmla="*/ 50156 h 185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95" h="1857525">
                <a:moveTo>
                  <a:pt x="378619" y="1857525"/>
                </a:moveTo>
                <a:lnTo>
                  <a:pt x="978694" y="1243163"/>
                </a:lnTo>
                <a:cubicBezTo>
                  <a:pt x="1092994" y="1121719"/>
                  <a:pt x="1041797" y="1166963"/>
                  <a:pt x="1064419" y="1128863"/>
                </a:cubicBezTo>
                <a:cubicBezTo>
                  <a:pt x="1087041" y="1090763"/>
                  <a:pt x="1106091" y="1053854"/>
                  <a:pt x="1114425" y="1014563"/>
                </a:cubicBezTo>
                <a:cubicBezTo>
                  <a:pt x="1122759" y="975272"/>
                  <a:pt x="1081088" y="971700"/>
                  <a:pt x="1114425" y="893119"/>
                </a:cubicBezTo>
                <a:cubicBezTo>
                  <a:pt x="1147762" y="814538"/>
                  <a:pt x="1241822" y="652612"/>
                  <a:pt x="1314450" y="543075"/>
                </a:cubicBezTo>
                <a:cubicBezTo>
                  <a:pt x="1387078" y="433537"/>
                  <a:pt x="1522810" y="315666"/>
                  <a:pt x="1550194" y="235894"/>
                </a:cubicBezTo>
                <a:cubicBezTo>
                  <a:pt x="1577578" y="156122"/>
                  <a:pt x="1547812" y="103735"/>
                  <a:pt x="1478756" y="64444"/>
                </a:cubicBezTo>
                <a:cubicBezTo>
                  <a:pt x="1409700" y="25153"/>
                  <a:pt x="1382315" y="2531"/>
                  <a:pt x="1135856" y="150"/>
                </a:cubicBezTo>
                <a:cubicBezTo>
                  <a:pt x="889397" y="-2231"/>
                  <a:pt x="444698" y="23962"/>
                  <a:pt x="0" y="50156"/>
                </a:cubicBezTo>
              </a:path>
            </a:pathLst>
          </a:custGeom>
          <a:noFill/>
          <a:ln w="127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8AB30A8E-0AEF-2C4D-B6A3-36A618936272}"/>
              </a:ext>
            </a:extLst>
          </p:cNvPr>
          <p:cNvSpPr/>
          <p:nvPr/>
        </p:nvSpPr>
        <p:spPr>
          <a:xfrm>
            <a:off x="2664619" y="2866430"/>
            <a:ext cx="547505" cy="760810"/>
          </a:xfrm>
          <a:custGeom>
            <a:avLst/>
            <a:gdLst>
              <a:gd name="connsiteX0" fmla="*/ 50006 w 730006"/>
              <a:gd name="connsiteY0" fmla="*/ 1014413 h 1014413"/>
              <a:gd name="connsiteX1" fmla="*/ 578644 w 730006"/>
              <a:gd name="connsiteY1" fmla="*/ 428625 h 1014413"/>
              <a:gd name="connsiteX2" fmla="*/ 714375 w 730006"/>
              <a:gd name="connsiteY2" fmla="*/ 242888 h 1014413"/>
              <a:gd name="connsiteX3" fmla="*/ 721519 w 730006"/>
              <a:gd name="connsiteY3" fmla="*/ 142875 h 1014413"/>
              <a:gd name="connsiteX4" fmla="*/ 664369 w 730006"/>
              <a:gd name="connsiteY4" fmla="*/ 28575 h 1014413"/>
              <a:gd name="connsiteX5" fmla="*/ 514350 w 730006"/>
              <a:gd name="connsiteY5" fmla="*/ 21432 h 1014413"/>
              <a:gd name="connsiteX6" fmla="*/ 0 w 730006"/>
              <a:gd name="connsiteY6" fmla="*/ 0 h 1014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0006" h="1014413">
                <a:moveTo>
                  <a:pt x="50006" y="1014413"/>
                </a:moveTo>
                <a:cubicBezTo>
                  <a:pt x="258961" y="785812"/>
                  <a:pt x="467916" y="557212"/>
                  <a:pt x="578644" y="428625"/>
                </a:cubicBezTo>
                <a:cubicBezTo>
                  <a:pt x="689372" y="300037"/>
                  <a:pt x="690563" y="290513"/>
                  <a:pt x="714375" y="242888"/>
                </a:cubicBezTo>
                <a:cubicBezTo>
                  <a:pt x="738188" y="195263"/>
                  <a:pt x="729853" y="178594"/>
                  <a:pt x="721519" y="142875"/>
                </a:cubicBezTo>
                <a:cubicBezTo>
                  <a:pt x="713185" y="107156"/>
                  <a:pt x="698897" y="48815"/>
                  <a:pt x="664369" y="28575"/>
                </a:cubicBezTo>
                <a:cubicBezTo>
                  <a:pt x="629841" y="8335"/>
                  <a:pt x="514350" y="21432"/>
                  <a:pt x="514350" y="21432"/>
                </a:cubicBezTo>
                <a:lnTo>
                  <a:pt x="0" y="0"/>
                </a:lnTo>
              </a:path>
            </a:pathLst>
          </a:custGeom>
          <a:noFill/>
          <a:ln w="127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3FE0DD1-6CC4-A44E-A708-A7EC723014E3}"/>
              </a:ext>
            </a:extLst>
          </p:cNvPr>
          <p:cNvSpPr txBox="1"/>
          <p:nvPr/>
        </p:nvSpPr>
        <p:spPr>
          <a:xfrm rot="18812447">
            <a:off x="2476944" y="3607067"/>
            <a:ext cx="3449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900" b="1" dirty="0">
                <a:solidFill>
                  <a:srgbClr val="FF0000"/>
                </a:solidFill>
              </a:rPr>
              <a:t>BD</a:t>
            </a: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5A3C0335-5931-504E-BBFC-8C1CC6796695}"/>
              </a:ext>
            </a:extLst>
          </p:cNvPr>
          <p:cNvSpPr/>
          <p:nvPr/>
        </p:nvSpPr>
        <p:spPr>
          <a:xfrm>
            <a:off x="4025504" y="1526977"/>
            <a:ext cx="2748557" cy="2920008"/>
          </a:xfrm>
          <a:custGeom>
            <a:avLst/>
            <a:gdLst>
              <a:gd name="connsiteX0" fmla="*/ 0 w 3664743"/>
              <a:gd name="connsiteY0" fmla="*/ 3893344 h 3893344"/>
              <a:gd name="connsiteX1" fmla="*/ 435768 w 3664743"/>
              <a:gd name="connsiteY1" fmla="*/ 3457575 h 3893344"/>
              <a:gd name="connsiteX2" fmla="*/ 542925 w 3664743"/>
              <a:gd name="connsiteY2" fmla="*/ 3350419 h 3893344"/>
              <a:gd name="connsiteX3" fmla="*/ 542925 w 3664743"/>
              <a:gd name="connsiteY3" fmla="*/ 3293269 h 3893344"/>
              <a:gd name="connsiteX4" fmla="*/ 550068 w 3664743"/>
              <a:gd name="connsiteY4" fmla="*/ 3286125 h 3893344"/>
              <a:gd name="connsiteX5" fmla="*/ 571500 w 3664743"/>
              <a:gd name="connsiteY5" fmla="*/ 3243262 h 3893344"/>
              <a:gd name="connsiteX6" fmla="*/ 642937 w 3664743"/>
              <a:gd name="connsiteY6" fmla="*/ 3178969 h 3893344"/>
              <a:gd name="connsiteX7" fmla="*/ 1378743 w 3664743"/>
              <a:gd name="connsiteY7" fmla="*/ 2414587 h 3893344"/>
              <a:gd name="connsiteX8" fmla="*/ 1478756 w 3664743"/>
              <a:gd name="connsiteY8" fmla="*/ 2278856 h 3893344"/>
              <a:gd name="connsiteX9" fmla="*/ 1507331 w 3664743"/>
              <a:gd name="connsiteY9" fmla="*/ 2214562 h 3893344"/>
              <a:gd name="connsiteX10" fmla="*/ 1557337 w 3664743"/>
              <a:gd name="connsiteY10" fmla="*/ 2164556 h 3893344"/>
              <a:gd name="connsiteX11" fmla="*/ 3664743 w 3664743"/>
              <a:gd name="connsiteY11" fmla="*/ 0 h 3893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64743" h="3893344">
                <a:moveTo>
                  <a:pt x="0" y="3893344"/>
                </a:moveTo>
                <a:lnTo>
                  <a:pt x="435768" y="3457575"/>
                </a:lnTo>
                <a:cubicBezTo>
                  <a:pt x="526255" y="3367088"/>
                  <a:pt x="525066" y="3377803"/>
                  <a:pt x="542925" y="3350419"/>
                </a:cubicBezTo>
                <a:cubicBezTo>
                  <a:pt x="560785" y="3323035"/>
                  <a:pt x="541735" y="3303985"/>
                  <a:pt x="542925" y="3293269"/>
                </a:cubicBezTo>
                <a:cubicBezTo>
                  <a:pt x="544115" y="3282553"/>
                  <a:pt x="550068" y="3286125"/>
                  <a:pt x="550068" y="3286125"/>
                </a:cubicBezTo>
                <a:cubicBezTo>
                  <a:pt x="554831" y="3277790"/>
                  <a:pt x="556022" y="3261121"/>
                  <a:pt x="571500" y="3243262"/>
                </a:cubicBezTo>
                <a:cubicBezTo>
                  <a:pt x="586978" y="3225403"/>
                  <a:pt x="508397" y="3317081"/>
                  <a:pt x="642937" y="3178969"/>
                </a:cubicBezTo>
                <a:cubicBezTo>
                  <a:pt x="777478" y="3040856"/>
                  <a:pt x="1239440" y="2564606"/>
                  <a:pt x="1378743" y="2414587"/>
                </a:cubicBezTo>
                <a:cubicBezTo>
                  <a:pt x="1518046" y="2264568"/>
                  <a:pt x="1457325" y="2312193"/>
                  <a:pt x="1478756" y="2278856"/>
                </a:cubicBezTo>
                <a:cubicBezTo>
                  <a:pt x="1500187" y="2245518"/>
                  <a:pt x="1494234" y="2233612"/>
                  <a:pt x="1507331" y="2214562"/>
                </a:cubicBezTo>
                <a:cubicBezTo>
                  <a:pt x="1520428" y="2195512"/>
                  <a:pt x="1557337" y="2164556"/>
                  <a:pt x="1557337" y="2164556"/>
                </a:cubicBezTo>
                <a:lnTo>
                  <a:pt x="3664743" y="0"/>
                </a:lnTo>
              </a:path>
            </a:pathLst>
          </a:custGeom>
          <a:noFill/>
          <a:ln w="127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5-Point Star 34">
            <a:extLst>
              <a:ext uri="{FF2B5EF4-FFF2-40B4-BE49-F238E27FC236}">
                <a16:creationId xmlns:a16="http://schemas.microsoft.com/office/drawing/2014/main" id="{785D333D-8CC7-8949-9D7C-7EF3F2623785}"/>
              </a:ext>
            </a:extLst>
          </p:cNvPr>
          <p:cNvSpPr/>
          <p:nvPr/>
        </p:nvSpPr>
        <p:spPr>
          <a:xfrm>
            <a:off x="5959674" y="2619971"/>
            <a:ext cx="182166" cy="182166"/>
          </a:xfrm>
          <a:prstGeom prst="star5">
            <a:avLst>
              <a:gd name="adj" fmla="val 11560"/>
              <a:gd name="hf" fmla="val 105146"/>
              <a:gd name="vf" fmla="val 110557"/>
            </a:avLst>
          </a:prstGeom>
          <a:solidFill>
            <a:srgbClr val="FFFF0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5-Point Star 36">
            <a:extLst>
              <a:ext uri="{FF2B5EF4-FFF2-40B4-BE49-F238E27FC236}">
                <a16:creationId xmlns:a16="http://schemas.microsoft.com/office/drawing/2014/main" id="{D3E02175-CA8A-104F-B74C-4DCA5260FAD3}"/>
              </a:ext>
            </a:extLst>
          </p:cNvPr>
          <p:cNvSpPr/>
          <p:nvPr/>
        </p:nvSpPr>
        <p:spPr>
          <a:xfrm>
            <a:off x="6679406" y="1416249"/>
            <a:ext cx="182166" cy="182166"/>
          </a:xfrm>
          <a:prstGeom prst="star5">
            <a:avLst>
              <a:gd name="adj" fmla="val 11560"/>
              <a:gd name="hf" fmla="val 105146"/>
              <a:gd name="vf" fmla="val 110557"/>
            </a:avLst>
          </a:prstGeom>
          <a:solidFill>
            <a:srgbClr val="FFFF0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" name="5-Point Star 37">
            <a:extLst>
              <a:ext uri="{FF2B5EF4-FFF2-40B4-BE49-F238E27FC236}">
                <a16:creationId xmlns:a16="http://schemas.microsoft.com/office/drawing/2014/main" id="{76556652-C2CE-C240-AE01-B0D25AD1C9AC}"/>
              </a:ext>
            </a:extLst>
          </p:cNvPr>
          <p:cNvSpPr/>
          <p:nvPr/>
        </p:nvSpPr>
        <p:spPr>
          <a:xfrm>
            <a:off x="6770489" y="671513"/>
            <a:ext cx="182166" cy="182166"/>
          </a:xfrm>
          <a:prstGeom prst="star5">
            <a:avLst>
              <a:gd name="adj" fmla="val 11560"/>
              <a:gd name="hf" fmla="val 105146"/>
              <a:gd name="vf" fmla="val 110557"/>
            </a:avLst>
          </a:prstGeom>
          <a:solidFill>
            <a:srgbClr val="FFFF00"/>
          </a:solidFill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AC7A145-0D59-8040-876E-69096682E6B4}"/>
              </a:ext>
            </a:extLst>
          </p:cNvPr>
          <p:cNvSpPr/>
          <p:nvPr/>
        </p:nvSpPr>
        <p:spPr>
          <a:xfrm>
            <a:off x="5820370" y="1307305"/>
            <a:ext cx="133946" cy="133946"/>
          </a:xfrm>
          <a:prstGeom prst="roundRect">
            <a:avLst/>
          </a:prstGeom>
          <a:solidFill>
            <a:srgbClr val="FFFF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900" dirty="0">
                <a:solidFill>
                  <a:srgbClr val="000000"/>
                </a:solidFill>
                <a:latin typeface="Times New Roman"/>
              </a:rPr>
              <a:t>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E515BE-7EE0-FF42-A690-809D791BFD09}"/>
              </a:ext>
            </a:extLst>
          </p:cNvPr>
          <p:cNvSpPr txBox="1"/>
          <p:nvPr/>
        </p:nvSpPr>
        <p:spPr>
          <a:xfrm rot="18900029">
            <a:off x="3936278" y="4421456"/>
            <a:ext cx="5645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900" b="1" dirty="0">
                <a:solidFill>
                  <a:srgbClr val="FF0000"/>
                </a:solidFill>
              </a:rPr>
              <a:t>200 M</a:t>
            </a:r>
            <a:r>
              <a:rPr lang="en-US" sz="900" b="1" baseline="-25000" dirty="0">
                <a:solidFill>
                  <a:srgbClr val="FF0000"/>
                </a:solidFill>
                <a:latin typeface="Wingdings"/>
                <a:ea typeface="Wingdings"/>
                <a:cs typeface="Wingdings"/>
                <a:sym typeface="Wingdings"/>
              </a:rPr>
              <a:t></a:t>
            </a:r>
            <a:endParaRPr lang="en-US" sz="900" b="1" baseline="-250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5779A-B22B-203D-0533-21E5880A4CD0}"/>
              </a:ext>
            </a:extLst>
          </p:cNvPr>
          <p:cNvSpPr txBox="1"/>
          <p:nvPr/>
        </p:nvSpPr>
        <p:spPr>
          <a:xfrm>
            <a:off x="1285874" y="74379"/>
            <a:ext cx="65722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000" dirty="0">
                <a:solidFill>
                  <a:schemeClr val="bg1"/>
                </a:solidFill>
                <a:latin typeface="Avenir Medium" panose="02000503020000020003" pitchFamily="2" charset="0"/>
                <a:ea typeface="ＭＳ Ｐゴシック"/>
              </a:rPr>
              <a:t>Core Conditions Dictate Final Fate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9796687"/>
      </p:ext>
    </p:extLst>
  </p:cSld>
  <p:clrMapOvr>
    <a:masterClrMapping/>
  </p:clrMapOvr>
  <p:transition>
    <p:sndAc>
      <p:endSnd/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285874" y="74379"/>
            <a:ext cx="65722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000" dirty="0">
                <a:solidFill>
                  <a:schemeClr val="bg1"/>
                </a:solidFill>
                <a:latin typeface="Avenir Medium" panose="02000503020000020003" pitchFamily="2" charset="0"/>
                <a:ea typeface="ＭＳ Ｐゴシック"/>
              </a:rPr>
              <a:t>White Dwarfs</a:t>
            </a:r>
          </a:p>
        </p:txBody>
      </p:sp>
      <p:pic>
        <p:nvPicPr>
          <p:cNvPr id="1744898" name="Picture 2" descr="C:\Documents and Settings\Nathan\Desktop\ASTR170 lectures\Chapter18_Figures_and_Photos\18_02_Figure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84" b="8509"/>
          <a:stretch/>
        </p:blipFill>
        <p:spPr bwMode="auto">
          <a:xfrm>
            <a:off x="916832" y="764767"/>
            <a:ext cx="3261275" cy="2410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79295" y="3311770"/>
            <a:ext cx="8385407" cy="1605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spcAft>
                <a:spcPts val="5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  <a:ea typeface="ＭＳ Ｐゴシック"/>
              </a:rPr>
              <a:t>Accreting WD continues to gain mass (and shrink in size), but not forever!</a:t>
            </a:r>
          </a:p>
          <a:p>
            <a:pPr marL="257175" indent="-257175">
              <a:spcAft>
                <a:spcPts val="5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  <a:ea typeface="ＭＳ Ｐゴシック"/>
              </a:rPr>
              <a:t>Binary white dwarfs can also get close enough to tidally disrupt (making an accretion disk onto more massive WD) or merge into one.</a:t>
            </a:r>
          </a:p>
          <a:p>
            <a:pPr marL="257175" indent="-257175">
              <a:spcAft>
                <a:spcPts val="5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  <a:ea typeface="ＭＳ Ｐゴシック"/>
              </a:rPr>
              <a:t>When it reaches a mass of 1.4 M</a:t>
            </a:r>
            <a:r>
              <a:rPr lang="en-US" sz="1800" baseline="-25000" dirty="0">
                <a:solidFill>
                  <a:schemeClr val="bg1"/>
                </a:solidFill>
                <a:latin typeface="Avenir" panose="02000503020000020003" pitchFamily="2" charset="0"/>
                <a:ea typeface="ＭＳ Ｐゴシック"/>
                <a:sym typeface="Wingdings 2"/>
              </a:rPr>
              <a:t></a:t>
            </a: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  <a:ea typeface="ＭＳ Ｐゴシック"/>
              </a:rPr>
              <a:t>, the entire white dwarf (mostly carbon) burns in a violent thermonuclear explosion.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E8587-393A-16EC-3A31-11583096ED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969" y="764767"/>
            <a:ext cx="3874199" cy="241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623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28843" y="3500615"/>
            <a:ext cx="251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venir Black" panose="02000503020000020003" pitchFamily="2" charset="0"/>
                <a:ea typeface="ＭＳ Ｐゴシック"/>
              </a:rPr>
              <a:t>Thermonuclear Supernova </a:t>
            </a:r>
          </a:p>
          <a:p>
            <a:pPr algn="ctr"/>
            <a:r>
              <a:rPr lang="en-US" sz="1800" dirty="0">
                <a:solidFill>
                  <a:schemeClr val="bg1"/>
                </a:solidFill>
                <a:latin typeface="Avenir Medium" panose="02000503020000020003" pitchFamily="2" charset="0"/>
                <a:ea typeface="ＭＳ Ｐゴシック"/>
              </a:rPr>
              <a:t>or</a:t>
            </a:r>
          </a:p>
          <a:p>
            <a:pPr algn="ctr"/>
            <a:r>
              <a:rPr lang="en-US" sz="1800" b="1" dirty="0">
                <a:solidFill>
                  <a:schemeClr val="bg1"/>
                </a:solidFill>
                <a:latin typeface="Avenir Black" panose="02000503020000020003" pitchFamily="2" charset="0"/>
                <a:ea typeface="ＭＳ Ｐゴシック"/>
              </a:rPr>
              <a:t>Type </a:t>
            </a:r>
            <a:r>
              <a:rPr lang="en-US" sz="1800" b="1" dirty="0" err="1">
                <a:solidFill>
                  <a:schemeClr val="bg1"/>
                </a:solidFill>
                <a:latin typeface="Avenir Black" panose="02000503020000020003" pitchFamily="2" charset="0"/>
                <a:ea typeface="ＭＳ Ｐゴシック"/>
              </a:rPr>
              <a:t>Ia</a:t>
            </a:r>
            <a:r>
              <a:rPr lang="en-US" sz="1800" b="1" dirty="0">
                <a:solidFill>
                  <a:schemeClr val="bg1"/>
                </a:solidFill>
                <a:latin typeface="Avenir Black" panose="02000503020000020003" pitchFamily="2" charset="0"/>
                <a:ea typeface="ＭＳ Ｐゴシック"/>
              </a:rPr>
              <a:t> Supernova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809729"/>
            <a:ext cx="5455920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WD Supernova completely burns and explodes the WD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Nothing left behind (no neutron star or black hole)</a:t>
            </a:r>
          </a:p>
          <a:p>
            <a:pPr marL="257175" indent="-257175">
              <a:spcAft>
                <a:spcPts val="5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They are bright! About 10</a:t>
            </a:r>
            <a:r>
              <a:rPr lang="en-US" sz="1800" baseline="300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43</a:t>
            </a: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 erg/s at peak</a:t>
            </a:r>
          </a:p>
          <a:p>
            <a:pPr marL="257175" indent="-257175">
              <a:spcAft>
                <a:spcPts val="5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Because all are explosions of WD with same mass (1.4 M</a:t>
            </a:r>
            <a:r>
              <a:rPr lang="en-US" sz="1800" baseline="-250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  <a:sym typeface="Wingdings 2"/>
              </a:rPr>
              <a:t></a:t>
            </a: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), all WD supernovae </a:t>
            </a: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  <a:ea typeface="ＭＳ Ｐゴシック"/>
              </a:rPr>
              <a:t>have </a:t>
            </a:r>
            <a:r>
              <a:rPr lang="en-US" sz="1800" i="1" dirty="0">
                <a:solidFill>
                  <a:schemeClr val="bg1"/>
                </a:solidFill>
                <a:latin typeface="Avenir" panose="02000503020000020003" pitchFamily="2" charset="0"/>
                <a:ea typeface="ＭＳ Ｐゴシック"/>
              </a:rPr>
              <a:t>roughly</a:t>
            </a: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  <a:ea typeface="ＭＳ Ｐゴシック"/>
              </a:rPr>
              <a:t> the </a:t>
            </a:r>
            <a:r>
              <a:rPr lang="en-US" sz="1800" b="1" dirty="0">
                <a:solidFill>
                  <a:srgbClr val="FF0000"/>
                </a:solidFill>
                <a:latin typeface="Avenir" panose="02000503020000020003" pitchFamily="2" charset="0"/>
                <a:ea typeface="ＭＳ Ｐゴシック"/>
              </a:rPr>
              <a:t>same luminosity</a:t>
            </a:r>
          </a:p>
          <a:p>
            <a:pPr marL="257175" indent="-257175">
              <a:spcAft>
                <a:spcPts val="5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Two scenarios:</a:t>
            </a:r>
          </a:p>
          <a:p>
            <a:pPr marL="714375" lvl="1" indent="-257175">
              <a:spcAft>
                <a:spcPts val="5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Single degenerate with a MS/RG/He star</a:t>
            </a:r>
          </a:p>
          <a:p>
            <a:pPr marL="714375" lvl="1" indent="-257175">
              <a:spcAft>
                <a:spcPts val="500"/>
              </a:spcAft>
              <a:buFont typeface="Arial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Double degenerate with another WD</a:t>
            </a:r>
          </a:p>
        </p:txBody>
      </p:sp>
      <p:pic>
        <p:nvPicPr>
          <p:cNvPr id="7" name="Picture 6" descr="two_sn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382" y="628377"/>
            <a:ext cx="2941522" cy="25926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BAB625-EEB0-7404-4F21-0C33E0360E93}"/>
              </a:ext>
            </a:extLst>
          </p:cNvPr>
          <p:cNvSpPr txBox="1"/>
          <p:nvPr/>
        </p:nvSpPr>
        <p:spPr>
          <a:xfrm>
            <a:off x="1285874" y="74379"/>
            <a:ext cx="65722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000" dirty="0">
                <a:solidFill>
                  <a:schemeClr val="bg1"/>
                </a:solidFill>
                <a:latin typeface="Avenir Medium" panose="02000503020000020003" pitchFamily="2" charset="0"/>
                <a:ea typeface="ＭＳ Ｐゴシック"/>
              </a:rPr>
              <a:t>White Dwarf Supernova</a:t>
            </a:r>
          </a:p>
        </p:txBody>
      </p:sp>
    </p:spTree>
    <p:extLst>
      <p:ext uri="{BB962C8B-B14F-4D97-AF65-F5344CB8AC3E}">
        <p14:creationId xmlns:p14="http://schemas.microsoft.com/office/powerpoint/2010/main" val="3918985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331C91-8881-E947-96DB-19C8877104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98" b="6911"/>
          <a:stretch>
            <a:fillRect/>
          </a:stretch>
        </p:blipFill>
        <p:spPr>
          <a:xfrm>
            <a:off x="911504" y="846307"/>
            <a:ext cx="7320992" cy="39980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9CA3C1-86C7-5009-BA91-8405EB8EB522}"/>
              </a:ext>
            </a:extLst>
          </p:cNvPr>
          <p:cNvSpPr txBox="1"/>
          <p:nvPr/>
        </p:nvSpPr>
        <p:spPr>
          <a:xfrm>
            <a:off x="988269" y="84107"/>
            <a:ext cx="71674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000" dirty="0">
                <a:solidFill>
                  <a:schemeClr val="bg1"/>
                </a:solidFill>
                <a:latin typeface="Avenir Medium" panose="02000503020000020003" pitchFamily="2" charset="0"/>
                <a:ea typeface="ＭＳ Ｐゴシック"/>
              </a:rPr>
              <a:t>C/O WD and Thermonuclear Reactions</a:t>
            </a:r>
          </a:p>
        </p:txBody>
      </p:sp>
    </p:spTree>
    <p:extLst>
      <p:ext uri="{BB962C8B-B14F-4D97-AF65-F5344CB8AC3E}">
        <p14:creationId xmlns:p14="http://schemas.microsoft.com/office/powerpoint/2010/main" val="3734510382"/>
      </p:ext>
    </p:extLst>
  </p:cSld>
  <p:clrMapOvr>
    <a:masterClrMapping/>
  </p:clrMapOvr>
  <p:transition>
    <p:sndAc>
      <p:endSnd/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000px-Periodictable_nh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069" y="885092"/>
            <a:ext cx="9168651" cy="570290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2978299" y="853355"/>
            <a:ext cx="3227813" cy="161382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</a:endParaRPr>
          </a:p>
        </p:txBody>
      </p:sp>
      <p:sp>
        <p:nvSpPr>
          <p:cNvPr id="6" name="Curved Up Arrow 5"/>
          <p:cNvSpPr/>
          <p:nvPr/>
        </p:nvSpPr>
        <p:spPr bwMode="auto">
          <a:xfrm rot="10800000">
            <a:off x="5895773" y="1935411"/>
            <a:ext cx="446413" cy="626126"/>
          </a:xfrm>
          <a:prstGeom prst="curvedUpArrow">
            <a:avLst>
              <a:gd name="adj1" fmla="val 6770"/>
              <a:gd name="adj2" fmla="val 28532"/>
              <a:gd name="adj3" fmla="val 25000"/>
            </a:avLst>
          </a:prstGeom>
          <a:solidFill>
            <a:schemeClr val="accent1"/>
          </a:solidFill>
          <a:ln w="9525" cap="flat" cmpd="sng" algn="ctr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</a:endParaRPr>
          </a:p>
        </p:txBody>
      </p:sp>
      <p:sp>
        <p:nvSpPr>
          <p:cNvPr id="8" name="Curved Up Arrow 7"/>
          <p:cNvSpPr/>
          <p:nvPr/>
        </p:nvSpPr>
        <p:spPr bwMode="auto">
          <a:xfrm rot="10800000">
            <a:off x="5404185" y="1920336"/>
            <a:ext cx="446695" cy="626126"/>
          </a:xfrm>
          <a:prstGeom prst="curvedUpArrow">
            <a:avLst>
              <a:gd name="adj1" fmla="val 6770"/>
              <a:gd name="adj2" fmla="val 28532"/>
              <a:gd name="adj3" fmla="val 25000"/>
            </a:avLst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16385" y="1305535"/>
            <a:ext cx="25106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</a:rPr>
              <a:t>Radioactive decay:</a:t>
            </a:r>
          </a:p>
          <a:p>
            <a:pPr defTabSz="685800">
              <a:defRPr/>
            </a:pPr>
            <a:endParaRPr lang="en-US" sz="1800" dirty="0">
              <a:solidFill>
                <a:srgbClr val="FFFFFF"/>
              </a:solidFill>
              <a:latin typeface="Avenir" panose="02000503020000020003" pitchFamily="2" charset="0"/>
            </a:endParaRPr>
          </a:p>
          <a:p>
            <a:pPr defTabSz="685800">
              <a:defRPr/>
            </a:pPr>
            <a:r>
              <a:rPr lang="en-US" sz="1800" baseline="30000" dirty="0">
                <a:solidFill>
                  <a:srgbClr val="FFFFFF"/>
                </a:solidFill>
                <a:latin typeface="Avenir" panose="02000503020000020003" pitchFamily="2" charset="0"/>
              </a:rPr>
              <a:t>56</a:t>
            </a: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</a:rPr>
              <a:t>Ni        </a:t>
            </a:r>
            <a:r>
              <a:rPr lang="en-US" sz="1800" baseline="30000" dirty="0">
                <a:solidFill>
                  <a:srgbClr val="FFFFFF"/>
                </a:solidFill>
                <a:latin typeface="Avenir" panose="02000503020000020003" pitchFamily="2" charset="0"/>
              </a:rPr>
              <a:t>56</a:t>
            </a: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</a:rPr>
              <a:t>Co        </a:t>
            </a:r>
            <a:r>
              <a:rPr lang="en-US" sz="1800" baseline="30000" dirty="0">
                <a:solidFill>
                  <a:srgbClr val="FFFFFF"/>
                </a:solidFill>
                <a:latin typeface="Avenir" panose="02000503020000020003" pitchFamily="2" charset="0"/>
              </a:rPr>
              <a:t>56</a:t>
            </a: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</a:rPr>
              <a:t>Fe</a:t>
            </a:r>
          </a:p>
        </p:txBody>
      </p:sp>
      <p:sp>
        <p:nvSpPr>
          <p:cNvPr id="10" name="Right Arrow 9"/>
          <p:cNvSpPr/>
          <p:nvPr/>
        </p:nvSpPr>
        <p:spPr bwMode="auto">
          <a:xfrm>
            <a:off x="3434666" y="1911352"/>
            <a:ext cx="291032" cy="238105"/>
          </a:xfrm>
          <a:prstGeom prst="rightArrow">
            <a:avLst>
              <a:gd name="adj1" fmla="val 28571"/>
              <a:gd name="adj2" fmla="val 39285"/>
            </a:avLst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  <a:latin typeface="Avenir" panose="02000503020000020003" pitchFamily="2" charset="0"/>
            </a:endParaRPr>
          </a:p>
        </p:txBody>
      </p:sp>
      <p:sp>
        <p:nvSpPr>
          <p:cNvPr id="11" name="Right Arrow 10"/>
          <p:cNvSpPr/>
          <p:nvPr/>
        </p:nvSpPr>
        <p:spPr bwMode="auto">
          <a:xfrm>
            <a:off x="4342134" y="1911352"/>
            <a:ext cx="291032" cy="238105"/>
          </a:xfrm>
          <a:prstGeom prst="rightArrow">
            <a:avLst>
              <a:gd name="adj1" fmla="val 28571"/>
              <a:gd name="adj2" fmla="val 39285"/>
            </a:avLst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  <a:latin typeface="Avenir" panose="02000503020000020003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B40C64-0728-E342-9EA3-A78B076ED42E}"/>
              </a:ext>
            </a:extLst>
          </p:cNvPr>
          <p:cNvSpPr txBox="1"/>
          <p:nvPr/>
        </p:nvSpPr>
        <p:spPr>
          <a:xfrm>
            <a:off x="2368060" y="240324"/>
            <a:ext cx="63673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1800" dirty="0">
                <a:solidFill>
                  <a:srgbClr val="FFFEF8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Type Ia SNe lose all shock-deposited heat due to adiabatic expansion (</a:t>
            </a:r>
            <a:r>
              <a:rPr lang="en-US" sz="1800" dirty="0" err="1">
                <a:solidFill>
                  <a:srgbClr val="FFFEF8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PdV</a:t>
            </a:r>
            <a:r>
              <a:rPr lang="en-US" sz="1800" dirty="0">
                <a:solidFill>
                  <a:srgbClr val="FFFEF8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 work). They would be invisible if it were not for reheating of the ejecta by radioactive decay.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871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000px-Periodictable_nh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069" y="885092"/>
            <a:ext cx="9168651" cy="570290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2978299" y="853355"/>
            <a:ext cx="3227813" cy="161382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</a:endParaRPr>
          </a:p>
        </p:txBody>
      </p:sp>
      <p:sp>
        <p:nvSpPr>
          <p:cNvPr id="6" name="Curved Up Arrow 5"/>
          <p:cNvSpPr/>
          <p:nvPr/>
        </p:nvSpPr>
        <p:spPr bwMode="auto">
          <a:xfrm rot="10800000">
            <a:off x="5895773" y="1935411"/>
            <a:ext cx="446413" cy="626126"/>
          </a:xfrm>
          <a:prstGeom prst="curvedUpArrow">
            <a:avLst>
              <a:gd name="adj1" fmla="val 6770"/>
              <a:gd name="adj2" fmla="val 28532"/>
              <a:gd name="adj3" fmla="val 25000"/>
            </a:avLst>
          </a:prstGeom>
          <a:solidFill>
            <a:schemeClr val="accent1"/>
          </a:solidFill>
          <a:ln w="9525" cap="flat" cmpd="sng" algn="ctr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</a:endParaRPr>
          </a:p>
        </p:txBody>
      </p:sp>
      <p:sp>
        <p:nvSpPr>
          <p:cNvPr id="8" name="Curved Up Arrow 7"/>
          <p:cNvSpPr/>
          <p:nvPr/>
        </p:nvSpPr>
        <p:spPr bwMode="auto">
          <a:xfrm rot="10800000">
            <a:off x="5404185" y="1920336"/>
            <a:ext cx="446695" cy="626126"/>
          </a:xfrm>
          <a:prstGeom prst="curvedUpArrow">
            <a:avLst>
              <a:gd name="adj1" fmla="val 6770"/>
              <a:gd name="adj2" fmla="val 28532"/>
              <a:gd name="adj3" fmla="val 25000"/>
            </a:avLst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1CB02E-4582-CE44-A50D-456BBDD8BA68}"/>
              </a:ext>
            </a:extLst>
          </p:cNvPr>
          <p:cNvSpPr/>
          <p:nvPr/>
        </p:nvSpPr>
        <p:spPr bwMode="auto">
          <a:xfrm>
            <a:off x="1266092" y="2368062"/>
            <a:ext cx="2743200" cy="2631830"/>
          </a:xfrm>
          <a:prstGeom prst="rect">
            <a:avLst/>
          </a:prstGeom>
          <a:solidFill>
            <a:srgbClr val="FFFEF8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E213C6-B5C7-674F-9885-5D3161CDCC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5"/>
          <a:stretch/>
        </p:blipFill>
        <p:spPr>
          <a:xfrm>
            <a:off x="1307123" y="2440598"/>
            <a:ext cx="2596662" cy="24623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AB10F9-9657-F948-94F1-704FCAFD579F}"/>
              </a:ext>
            </a:extLst>
          </p:cNvPr>
          <p:cNvSpPr txBox="1"/>
          <p:nvPr/>
        </p:nvSpPr>
        <p:spPr>
          <a:xfrm>
            <a:off x="4302369" y="3070781"/>
            <a:ext cx="3212161" cy="1754326"/>
          </a:xfrm>
          <a:prstGeom prst="rect">
            <a:avLst/>
          </a:prstGeom>
          <a:solidFill>
            <a:srgbClr val="FFFEF8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350" baseline="30000" dirty="0">
                <a:solidFill>
                  <a:srgbClr val="5F5F5F"/>
                </a:solidFill>
              </a:rPr>
              <a:t>56</a:t>
            </a:r>
            <a:r>
              <a:rPr lang="en-US" sz="1350" dirty="0">
                <a:solidFill>
                  <a:srgbClr val="5F5F5F"/>
                </a:solidFill>
              </a:rPr>
              <a:t>Ni half-life = 6.1 d</a:t>
            </a:r>
          </a:p>
          <a:p>
            <a:pPr defTabSz="685800">
              <a:defRPr/>
            </a:pPr>
            <a:r>
              <a:rPr lang="en-US" sz="1350" dirty="0">
                <a:solidFill>
                  <a:srgbClr val="5F5F5F"/>
                </a:solidFill>
              </a:rPr>
              <a:t>decay time = t</a:t>
            </a:r>
            <a:r>
              <a:rPr lang="en-US" sz="1350" baseline="-25000" dirty="0">
                <a:solidFill>
                  <a:srgbClr val="5F5F5F"/>
                </a:solidFill>
              </a:rPr>
              <a:t>1/2</a:t>
            </a:r>
            <a:r>
              <a:rPr lang="en-US" sz="1350" dirty="0">
                <a:solidFill>
                  <a:srgbClr val="5F5F5F"/>
                </a:solidFill>
              </a:rPr>
              <a:t>/ln(2) = 8.8 days</a:t>
            </a:r>
          </a:p>
          <a:p>
            <a:pPr defTabSz="685800">
              <a:defRPr/>
            </a:pPr>
            <a:r>
              <a:rPr lang="en-US" sz="1350" dirty="0">
                <a:solidFill>
                  <a:srgbClr val="5F5F5F"/>
                </a:solidFill>
              </a:rPr>
              <a:t>so L = L</a:t>
            </a:r>
            <a:r>
              <a:rPr lang="en-US" sz="1350" baseline="-25000" dirty="0">
                <a:solidFill>
                  <a:srgbClr val="5F5F5F"/>
                </a:solidFill>
              </a:rPr>
              <a:t>0</a:t>
            </a:r>
            <a:r>
              <a:rPr lang="en-US" sz="1350" dirty="0">
                <a:solidFill>
                  <a:srgbClr val="5F5F5F"/>
                </a:solidFill>
              </a:rPr>
              <a:t> e</a:t>
            </a:r>
            <a:r>
              <a:rPr lang="en-US" sz="1350" baseline="30000" dirty="0">
                <a:solidFill>
                  <a:srgbClr val="5F5F5F"/>
                </a:solidFill>
              </a:rPr>
              <a:t>-8.8</a:t>
            </a:r>
            <a:r>
              <a:rPr lang="en-US" sz="1350" dirty="0">
                <a:solidFill>
                  <a:srgbClr val="5F5F5F"/>
                </a:solidFill>
              </a:rPr>
              <a:t> --- declines at 1/8.8 mag/day</a:t>
            </a:r>
            <a:endParaRPr lang="en-US" sz="1350" baseline="30000" dirty="0">
              <a:solidFill>
                <a:srgbClr val="5F5F5F"/>
              </a:solidFill>
            </a:endParaRPr>
          </a:p>
          <a:p>
            <a:pPr defTabSz="685800">
              <a:defRPr/>
            </a:pPr>
            <a:endParaRPr lang="en-US" sz="1350" dirty="0">
              <a:solidFill>
                <a:srgbClr val="5F5F5F"/>
              </a:solidFill>
            </a:endParaRPr>
          </a:p>
          <a:p>
            <a:pPr defTabSz="685800">
              <a:defRPr/>
            </a:pPr>
            <a:r>
              <a:rPr lang="en-US" sz="1350" baseline="30000" dirty="0">
                <a:solidFill>
                  <a:srgbClr val="5F5F5F"/>
                </a:solidFill>
              </a:rPr>
              <a:t>56</a:t>
            </a:r>
            <a:r>
              <a:rPr lang="en-US" sz="1350" dirty="0">
                <a:solidFill>
                  <a:srgbClr val="5F5F5F"/>
                </a:solidFill>
              </a:rPr>
              <a:t>Co half-life = 77.1</a:t>
            </a:r>
          </a:p>
          <a:p>
            <a:pPr defTabSz="685800">
              <a:defRPr/>
            </a:pPr>
            <a:r>
              <a:rPr lang="en-US" sz="1350" dirty="0">
                <a:solidFill>
                  <a:srgbClr val="5F5F5F"/>
                </a:solidFill>
              </a:rPr>
              <a:t>decay time = t</a:t>
            </a:r>
            <a:r>
              <a:rPr lang="en-US" sz="1350" baseline="-25000" dirty="0">
                <a:solidFill>
                  <a:srgbClr val="5F5F5F"/>
                </a:solidFill>
              </a:rPr>
              <a:t>1/2</a:t>
            </a:r>
            <a:r>
              <a:rPr lang="en-US" sz="1350" dirty="0">
                <a:solidFill>
                  <a:srgbClr val="5F5F5F"/>
                </a:solidFill>
              </a:rPr>
              <a:t>/ln(2) = 111 days</a:t>
            </a:r>
          </a:p>
          <a:p>
            <a:pPr defTabSz="685800">
              <a:defRPr/>
            </a:pPr>
            <a:r>
              <a:rPr lang="en-US" sz="1350" dirty="0">
                <a:solidFill>
                  <a:srgbClr val="5F5F5F"/>
                </a:solidFill>
              </a:rPr>
              <a:t>so L = L</a:t>
            </a:r>
            <a:r>
              <a:rPr lang="en-US" sz="1350" baseline="-25000" dirty="0">
                <a:solidFill>
                  <a:srgbClr val="5F5F5F"/>
                </a:solidFill>
              </a:rPr>
              <a:t>0</a:t>
            </a:r>
            <a:r>
              <a:rPr lang="en-US" sz="1350" dirty="0">
                <a:solidFill>
                  <a:srgbClr val="5F5F5F"/>
                </a:solidFill>
              </a:rPr>
              <a:t> e</a:t>
            </a:r>
            <a:r>
              <a:rPr lang="en-US" sz="1350" baseline="30000" dirty="0">
                <a:solidFill>
                  <a:srgbClr val="5F5F5F"/>
                </a:solidFill>
              </a:rPr>
              <a:t>-111</a:t>
            </a:r>
            <a:r>
              <a:rPr lang="en-US" sz="1350" dirty="0">
                <a:solidFill>
                  <a:srgbClr val="5F5F5F"/>
                </a:solidFill>
              </a:rPr>
              <a:t> --- declines at 1/111 mag/day</a:t>
            </a:r>
            <a:endParaRPr lang="en-US" sz="1350" baseline="30000" dirty="0">
              <a:solidFill>
                <a:srgbClr val="5F5F5F"/>
              </a:solidFill>
            </a:endParaRPr>
          </a:p>
          <a:p>
            <a:pPr defTabSz="685800">
              <a:defRPr/>
            </a:pPr>
            <a:endParaRPr lang="en-US" sz="1350" dirty="0">
              <a:solidFill>
                <a:srgbClr val="5F5F5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63CD2D-3440-F0C7-D110-FAEBD7B00D47}"/>
              </a:ext>
            </a:extLst>
          </p:cNvPr>
          <p:cNvSpPr txBox="1"/>
          <p:nvPr/>
        </p:nvSpPr>
        <p:spPr>
          <a:xfrm>
            <a:off x="2368060" y="240324"/>
            <a:ext cx="63673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1800" dirty="0">
                <a:solidFill>
                  <a:srgbClr val="FFFEF8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Type Ia SNe lose all shock-deposited heat due to adiabatic expansion (</a:t>
            </a:r>
            <a:r>
              <a:rPr lang="en-US" sz="1800" dirty="0" err="1">
                <a:solidFill>
                  <a:srgbClr val="FFFEF8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PdV</a:t>
            </a:r>
            <a:r>
              <a:rPr lang="en-US" sz="1800" dirty="0">
                <a:solidFill>
                  <a:srgbClr val="FFFEF8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 work). They would be invisible if it were not for reheating of the ejecta by radioactive decay.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7E3F52-B490-AB52-AA09-E7D384E7BF51}"/>
              </a:ext>
            </a:extLst>
          </p:cNvPr>
          <p:cNvSpPr txBox="1"/>
          <p:nvPr/>
        </p:nvSpPr>
        <p:spPr>
          <a:xfrm>
            <a:off x="2816385" y="1305535"/>
            <a:ext cx="25106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</a:rPr>
              <a:t>Radioactive decay:</a:t>
            </a:r>
          </a:p>
          <a:p>
            <a:pPr defTabSz="685800">
              <a:defRPr/>
            </a:pPr>
            <a:endParaRPr lang="en-US" sz="1800" dirty="0">
              <a:solidFill>
                <a:srgbClr val="FFFFFF"/>
              </a:solidFill>
              <a:latin typeface="Avenir" panose="02000503020000020003" pitchFamily="2" charset="0"/>
            </a:endParaRPr>
          </a:p>
          <a:p>
            <a:pPr defTabSz="685800">
              <a:defRPr/>
            </a:pPr>
            <a:r>
              <a:rPr lang="en-US" sz="1800" baseline="30000" dirty="0">
                <a:solidFill>
                  <a:srgbClr val="FFFFFF"/>
                </a:solidFill>
                <a:latin typeface="Avenir" panose="02000503020000020003" pitchFamily="2" charset="0"/>
              </a:rPr>
              <a:t>56</a:t>
            </a: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</a:rPr>
              <a:t>Ni        </a:t>
            </a:r>
            <a:r>
              <a:rPr lang="en-US" sz="1800" baseline="30000" dirty="0">
                <a:solidFill>
                  <a:srgbClr val="FFFFFF"/>
                </a:solidFill>
                <a:latin typeface="Avenir" panose="02000503020000020003" pitchFamily="2" charset="0"/>
              </a:rPr>
              <a:t>56</a:t>
            </a: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</a:rPr>
              <a:t>Co        </a:t>
            </a:r>
            <a:r>
              <a:rPr lang="en-US" sz="1800" baseline="30000" dirty="0">
                <a:solidFill>
                  <a:srgbClr val="FFFFFF"/>
                </a:solidFill>
                <a:latin typeface="Avenir" panose="02000503020000020003" pitchFamily="2" charset="0"/>
              </a:rPr>
              <a:t>56</a:t>
            </a: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</a:rPr>
              <a:t>Fe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D7F9BF4A-456E-F9ED-A642-374C3AB6821C}"/>
              </a:ext>
            </a:extLst>
          </p:cNvPr>
          <p:cNvSpPr/>
          <p:nvPr/>
        </p:nvSpPr>
        <p:spPr bwMode="auto">
          <a:xfrm>
            <a:off x="3434666" y="1911352"/>
            <a:ext cx="291032" cy="238105"/>
          </a:xfrm>
          <a:prstGeom prst="rightArrow">
            <a:avLst>
              <a:gd name="adj1" fmla="val 28571"/>
              <a:gd name="adj2" fmla="val 39285"/>
            </a:avLst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  <a:latin typeface="Avenir" panose="02000503020000020003" pitchFamily="2" charset="0"/>
            </a:endParaRP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EAD3B74C-765A-02DC-392A-98CA07D26BFE}"/>
              </a:ext>
            </a:extLst>
          </p:cNvPr>
          <p:cNvSpPr/>
          <p:nvPr/>
        </p:nvSpPr>
        <p:spPr bwMode="auto">
          <a:xfrm>
            <a:off x="4342134" y="1911352"/>
            <a:ext cx="291032" cy="238105"/>
          </a:xfrm>
          <a:prstGeom prst="rightArrow">
            <a:avLst>
              <a:gd name="adj1" fmla="val 28571"/>
              <a:gd name="adj2" fmla="val 39285"/>
            </a:avLst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  <a:latin typeface="Avenir" panose="02000503020000020003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4146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669F07-DAD9-4D1E-1A24-B764E2C3A7D8}"/>
              </a:ext>
            </a:extLst>
          </p:cNvPr>
          <p:cNvSpPr txBox="1"/>
          <p:nvPr/>
        </p:nvSpPr>
        <p:spPr>
          <a:xfrm>
            <a:off x="50942" y="60875"/>
            <a:ext cx="90754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000" dirty="0">
                <a:solidFill>
                  <a:schemeClr val="bg1"/>
                </a:solidFill>
                <a:latin typeface="Avenir Medium" panose="02000503020000020003" pitchFamily="2" charset="0"/>
                <a:ea typeface="ＭＳ Ｐゴシック"/>
              </a:rPr>
              <a:t>Mechanism 1: Deflagration-to-Detonation Transition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C272D0-9B67-DC04-958F-E3861B966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79" b="66310"/>
          <a:stretch>
            <a:fillRect/>
          </a:stretch>
        </p:blipFill>
        <p:spPr>
          <a:xfrm>
            <a:off x="347024" y="1079426"/>
            <a:ext cx="2557395" cy="2765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80CA81-4A38-7CBC-FFBF-0472CAD8C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79" t="33376" b="33637"/>
          <a:stretch>
            <a:fillRect/>
          </a:stretch>
        </p:blipFill>
        <p:spPr>
          <a:xfrm>
            <a:off x="3281329" y="1076538"/>
            <a:ext cx="2614646" cy="27682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3615B1-D302-507E-C8F4-C414463E1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79" t="66310"/>
          <a:stretch>
            <a:fillRect/>
          </a:stretch>
        </p:blipFill>
        <p:spPr>
          <a:xfrm>
            <a:off x="6272885" y="1079426"/>
            <a:ext cx="2557394" cy="2765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D5238B-5290-E0A0-D8BA-26CB6F59B843}"/>
              </a:ext>
            </a:extLst>
          </p:cNvPr>
          <p:cNvSpPr txBox="1"/>
          <p:nvPr/>
        </p:nvSpPr>
        <p:spPr>
          <a:xfrm>
            <a:off x="347023" y="3844801"/>
            <a:ext cx="25573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/>
                </a:solidFill>
                <a:latin typeface="Avenir" panose="02000503020000020003" pitchFamily="2" charset="0"/>
                <a:ea typeface="ＭＳ Ｐゴシック"/>
              </a:rPr>
              <a:t>Central deflagration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92A536C8-CA55-BB35-E72C-F759843B0E44}"/>
              </a:ext>
            </a:extLst>
          </p:cNvPr>
          <p:cNvSpPr/>
          <p:nvPr/>
        </p:nvSpPr>
        <p:spPr bwMode="auto">
          <a:xfrm>
            <a:off x="2961671" y="2343060"/>
            <a:ext cx="291032" cy="238105"/>
          </a:xfrm>
          <a:prstGeom prst="rightArrow">
            <a:avLst>
              <a:gd name="adj1" fmla="val 28571"/>
              <a:gd name="adj2" fmla="val 39285"/>
            </a:avLst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  <a:latin typeface="Avenir" panose="02000503020000020003" pitchFamily="2" charset="0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65755F85-AEDA-A1E8-8602-39CFA31E2553}"/>
              </a:ext>
            </a:extLst>
          </p:cNvPr>
          <p:cNvSpPr/>
          <p:nvPr/>
        </p:nvSpPr>
        <p:spPr bwMode="auto">
          <a:xfrm>
            <a:off x="5940004" y="2345192"/>
            <a:ext cx="291032" cy="238105"/>
          </a:xfrm>
          <a:prstGeom prst="rightArrow">
            <a:avLst>
              <a:gd name="adj1" fmla="val 28571"/>
              <a:gd name="adj2" fmla="val 39285"/>
            </a:avLst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  <a:latin typeface="Avenir" panose="02000503020000020003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BCA017-A8F1-EAA6-E2F4-36B9E8B69AC7}"/>
              </a:ext>
            </a:extLst>
          </p:cNvPr>
          <p:cNvSpPr txBox="1"/>
          <p:nvPr/>
        </p:nvSpPr>
        <p:spPr>
          <a:xfrm>
            <a:off x="3309954" y="3844801"/>
            <a:ext cx="25573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/>
                </a:solidFill>
                <a:latin typeface="Avenir" panose="02000503020000020003" pitchFamily="2" charset="0"/>
                <a:ea typeface="ＭＳ Ｐゴシック"/>
              </a:rPr>
              <a:t>Transition to detonation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6A6DBA-B7DF-BD7A-CAA9-AD0C6C468972}"/>
              </a:ext>
            </a:extLst>
          </p:cNvPr>
          <p:cNvSpPr txBox="1"/>
          <p:nvPr/>
        </p:nvSpPr>
        <p:spPr>
          <a:xfrm>
            <a:off x="6244260" y="3844801"/>
            <a:ext cx="25573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/>
                </a:solidFill>
                <a:latin typeface="Avenir" panose="02000503020000020003" pitchFamily="2" charset="0"/>
                <a:ea typeface="ＭＳ Ｐゴシック"/>
              </a:rPr>
              <a:t>Full detonation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EABBD-2A30-1AC7-405A-4F3193E33E32}"/>
              </a:ext>
            </a:extLst>
          </p:cNvPr>
          <p:cNvSpPr txBox="1"/>
          <p:nvPr/>
        </p:nvSpPr>
        <p:spPr>
          <a:xfrm>
            <a:off x="347022" y="4289713"/>
            <a:ext cx="84499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Deflagration: subsonic burning; Detonation: supersonic burning</a:t>
            </a:r>
          </a:p>
          <a:p>
            <a:pPr algn="ctr">
              <a:defRPr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This mechanism is also often referred to as the Delayed-Detonation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AD2F0C-8C85-8238-F0CB-FF3BB2C85618}"/>
              </a:ext>
            </a:extLst>
          </p:cNvPr>
          <p:cNvSpPr txBox="1"/>
          <p:nvPr/>
        </p:nvSpPr>
        <p:spPr>
          <a:xfrm>
            <a:off x="347022" y="799539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u="none" strike="noStrike" dirty="0" err="1">
                <a:solidFill>
                  <a:schemeClr val="bg1"/>
                </a:solidFill>
                <a:effectLst/>
                <a:latin typeface="Avenir Book" panose="02000503020000020003" pitchFamily="2" charset="0"/>
              </a:rPr>
              <a:t>Seitenzahl</a:t>
            </a:r>
            <a:r>
              <a:rPr lang="en-US" sz="1200" u="none" strike="noStrike" dirty="0">
                <a:solidFill>
                  <a:schemeClr val="bg1"/>
                </a:solidFill>
                <a:effectLst/>
                <a:latin typeface="Avenir Book" panose="02000503020000020003" pitchFamily="2" charset="0"/>
              </a:rPr>
              <a:t> et al. (2013)</a:t>
            </a:r>
            <a:endParaRPr lang="en-US" sz="12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734888"/>
      </p:ext>
    </p:extLst>
  </p:cSld>
  <p:clrMapOvr>
    <a:masterClrMapping/>
  </p:clrMapOvr>
  <p:transition>
    <p:sndAc>
      <p:endSnd/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F3D422-9D5F-24F3-E82D-E59E32A5D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92716A-65BD-C3A0-6A03-901D5E280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19" b="9897"/>
          <a:stretch>
            <a:fillRect/>
          </a:stretch>
        </p:blipFill>
        <p:spPr>
          <a:xfrm>
            <a:off x="870135" y="776430"/>
            <a:ext cx="7403730" cy="39591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ACA254-AD1A-D028-6CE3-C85716AE5013}"/>
              </a:ext>
            </a:extLst>
          </p:cNvPr>
          <p:cNvSpPr txBox="1"/>
          <p:nvPr/>
        </p:nvSpPr>
        <p:spPr>
          <a:xfrm>
            <a:off x="988269" y="84107"/>
            <a:ext cx="71674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000" dirty="0">
                <a:solidFill>
                  <a:schemeClr val="bg1"/>
                </a:solidFill>
                <a:latin typeface="Avenir Medium" panose="02000503020000020003" pitchFamily="2" charset="0"/>
                <a:ea typeface="ＭＳ Ｐゴシック"/>
              </a:rPr>
              <a:t>Mechanism 2: Double Detonation</a:t>
            </a:r>
          </a:p>
        </p:txBody>
      </p:sp>
    </p:spTree>
    <p:extLst>
      <p:ext uri="{BB962C8B-B14F-4D97-AF65-F5344CB8AC3E}">
        <p14:creationId xmlns:p14="http://schemas.microsoft.com/office/powerpoint/2010/main" val="4108071198"/>
      </p:ext>
    </p:extLst>
  </p:cSld>
  <p:clrMapOvr>
    <a:masterClrMapping/>
  </p:clrMapOvr>
  <p:transition>
    <p:sndAc>
      <p:endSnd/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51533-1B8A-9577-80D1-FFD313769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B5B221-629E-F30A-DE27-9782B04AB526}"/>
              </a:ext>
            </a:extLst>
          </p:cNvPr>
          <p:cNvSpPr txBox="1"/>
          <p:nvPr/>
        </p:nvSpPr>
        <p:spPr>
          <a:xfrm>
            <a:off x="0" y="84107"/>
            <a:ext cx="91439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 panose="02000503020000020003" pitchFamily="2" charset="0"/>
                <a:ea typeface="ＭＳ Ｐゴシック"/>
                <a:cs typeface="+mn-cs"/>
              </a:rPr>
              <a:t>Mechanism 3: Gravitationally Confined Detonation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D46030-DC3A-AA17-4EEF-05A35B660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170" y="730250"/>
            <a:ext cx="3390900" cy="406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0A906F-5B08-C63B-1897-E7B65D3FDB74}"/>
              </a:ext>
            </a:extLst>
          </p:cNvPr>
          <p:cNvSpPr txBox="1"/>
          <p:nvPr/>
        </p:nvSpPr>
        <p:spPr>
          <a:xfrm>
            <a:off x="259080" y="943803"/>
            <a:ext cx="5455920" cy="3636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Deflagration occurs off-center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A hot bubble consists of burning ash expands and rises toward the surface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Burning front expands laterally around the surface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The fronts collide at the other side of the surface and compress unburned material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This detonates the WD</a:t>
            </a:r>
          </a:p>
        </p:txBody>
      </p:sp>
    </p:spTree>
    <p:extLst>
      <p:ext uri="{BB962C8B-B14F-4D97-AF65-F5344CB8AC3E}">
        <p14:creationId xmlns:p14="http://schemas.microsoft.com/office/powerpoint/2010/main" val="2446655794"/>
      </p:ext>
    </p:extLst>
  </p:cSld>
  <p:clrMapOvr>
    <a:masterClrMapping/>
  </p:clrMapOvr>
  <p:transition>
    <p:sndAc>
      <p:endSnd/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2198E-312D-6E39-99A9-11DBB52BD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CA421C-8F21-F80D-83F2-F7DBE91111D4}"/>
              </a:ext>
            </a:extLst>
          </p:cNvPr>
          <p:cNvSpPr txBox="1"/>
          <p:nvPr/>
        </p:nvSpPr>
        <p:spPr>
          <a:xfrm>
            <a:off x="988269" y="84107"/>
            <a:ext cx="71674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 panose="02000503020000020003" pitchFamily="2" charset="0"/>
                <a:ea typeface="ＭＳ Ｐゴシック"/>
                <a:cs typeface="+mn-cs"/>
              </a:rPr>
              <a:t>Scenario 4: Violent Mergers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C98075-722F-3250-9551-314A33653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644" y="638105"/>
            <a:ext cx="4093915" cy="40939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1B98EF-59CF-645E-E011-4DA00EF0B505}"/>
              </a:ext>
            </a:extLst>
          </p:cNvPr>
          <p:cNvSpPr txBox="1"/>
          <p:nvPr/>
        </p:nvSpPr>
        <p:spPr>
          <a:xfrm>
            <a:off x="266700" y="1289347"/>
            <a:ext cx="4168140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Binary WDs in-spiral and merge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Secondary WD is disrupted and accreted onto the primary</a:t>
            </a:r>
          </a:p>
          <a:p>
            <a:pPr marL="285750" indent="-285750">
              <a:lnSpc>
                <a:spcPct val="15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Detonation occurs upon impact of the disrupted secondary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23D616-3C83-42DB-D725-F6784D1BA1D6}"/>
              </a:ext>
            </a:extLst>
          </p:cNvPr>
          <p:cNvSpPr txBox="1"/>
          <p:nvPr/>
        </p:nvSpPr>
        <p:spPr>
          <a:xfrm>
            <a:off x="4704644" y="473202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u="none" strike="noStrike" dirty="0" err="1">
                <a:solidFill>
                  <a:schemeClr val="bg1"/>
                </a:solidFill>
                <a:effectLst/>
                <a:latin typeface="Avenir Book" panose="02000503020000020003" pitchFamily="2" charset="0"/>
              </a:rPr>
              <a:t>Pakmor</a:t>
            </a:r>
            <a:r>
              <a:rPr lang="en-US" sz="1200" u="none" strike="noStrike" dirty="0">
                <a:solidFill>
                  <a:schemeClr val="bg1"/>
                </a:solidFill>
                <a:effectLst/>
                <a:latin typeface="Avenir Book" panose="02000503020000020003" pitchFamily="2" charset="0"/>
              </a:rPr>
              <a:t> et al. (2012)</a:t>
            </a:r>
            <a:endParaRPr lang="en-US" sz="12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986903"/>
      </p:ext>
    </p:extLst>
  </p:cSld>
  <p:clrMapOvr>
    <a:masterClrMapping/>
  </p:clrMapOvr>
  <p:transition>
    <p:sndAc>
      <p:endSnd/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59DE6-15D2-7595-36A3-B3AC9F91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897C21-1770-6543-789A-F7347142DB2D}"/>
              </a:ext>
            </a:extLst>
          </p:cNvPr>
          <p:cNvSpPr txBox="1"/>
          <p:nvPr/>
        </p:nvSpPr>
        <p:spPr>
          <a:xfrm>
            <a:off x="494134" y="84107"/>
            <a:ext cx="815573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 panose="02000503020000020003" pitchFamily="2" charset="0"/>
                <a:ea typeface="ＭＳ Ｐゴシック"/>
                <a:cs typeface="+mn-cs"/>
              </a:rPr>
              <a:t>How do we distinguish between mechanisms?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CC244-61AB-4CA1-B2FB-590DBEBE9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807" y="638105"/>
            <a:ext cx="6128823" cy="4025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A5D522-F0C0-A392-410B-B5CA5F91D4E9}"/>
              </a:ext>
            </a:extLst>
          </p:cNvPr>
          <p:cNvSpPr txBox="1"/>
          <p:nvPr/>
        </p:nvSpPr>
        <p:spPr>
          <a:xfrm>
            <a:off x="2886807" y="4663306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u="none" strike="noStrike" dirty="0">
                <a:solidFill>
                  <a:schemeClr val="bg1"/>
                </a:solidFill>
                <a:effectLst/>
                <a:latin typeface="Avenir Book" panose="02000503020000020003" pitchFamily="2" charset="0"/>
              </a:rPr>
              <a:t>Kwok et al. (2026)</a:t>
            </a:r>
            <a:endParaRPr lang="en-US" sz="12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3CF16D-EFA6-7858-6676-9A4012D6E6FB}"/>
              </a:ext>
            </a:extLst>
          </p:cNvPr>
          <p:cNvSpPr txBox="1"/>
          <p:nvPr/>
        </p:nvSpPr>
        <p:spPr>
          <a:xfrm>
            <a:off x="128370" y="1296967"/>
            <a:ext cx="2620107" cy="3029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Nebular spectra with JWST! </a:t>
            </a:r>
          </a:p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1800" dirty="0">
                <a:solidFill>
                  <a:schemeClr val="bg1"/>
                </a:solidFill>
                <a:latin typeface="Avenir Book" panose="02000503020000020003" pitchFamily="2" charset="0"/>
                <a:ea typeface="ＭＳ Ｐゴシック"/>
              </a:rPr>
              <a:t>Different atomic/ionic lines show different profile shapes depending on the explosion mechanism.</a:t>
            </a:r>
          </a:p>
        </p:txBody>
      </p:sp>
    </p:spTree>
    <p:extLst>
      <p:ext uri="{BB962C8B-B14F-4D97-AF65-F5344CB8AC3E}">
        <p14:creationId xmlns:p14="http://schemas.microsoft.com/office/powerpoint/2010/main" val="4242385083"/>
      </p:ext>
    </p:extLst>
  </p:cSld>
  <p:clrMapOvr>
    <a:masterClrMapping/>
  </p:clrMapOvr>
  <p:transition>
    <p:sndAc>
      <p:endSnd/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C31826-DFA8-4D4F-96D1-EE1AF2F9B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125" y="703385"/>
            <a:ext cx="3505199" cy="24333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FFDB00-0684-A641-AEDD-4C9C31A90B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514" y="703385"/>
            <a:ext cx="2433362" cy="24333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446ED8-1254-4D4E-9B2C-3E9EEF0C392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103"/>
          <a:stretch/>
        </p:blipFill>
        <p:spPr>
          <a:xfrm>
            <a:off x="3656467" y="703384"/>
            <a:ext cx="1155858" cy="105732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787D5E-53E7-5244-A91A-C877837AA7D6}"/>
              </a:ext>
            </a:extLst>
          </p:cNvPr>
          <p:cNvSpPr txBox="1"/>
          <p:nvPr/>
        </p:nvSpPr>
        <p:spPr>
          <a:xfrm>
            <a:off x="1307125" y="3254340"/>
            <a:ext cx="3505199" cy="1541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Aft>
                <a:spcPts val="500"/>
              </a:spcAft>
              <a:defRPr/>
            </a:pP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Type Ia SNe are not standard candles, but they are “standardizable” candles.</a:t>
            </a:r>
          </a:p>
          <a:p>
            <a:pPr defTabSz="685800">
              <a:defRPr/>
            </a:pP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More luminous = slower decay</a:t>
            </a:r>
          </a:p>
          <a:p>
            <a:pPr defTabSz="685800">
              <a:defRPr/>
            </a:pP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Less luminous = faster decay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DDB2C2-7890-2F4C-B5E0-DE79AE19833C}"/>
              </a:ext>
            </a:extLst>
          </p:cNvPr>
          <p:cNvSpPr txBox="1"/>
          <p:nvPr/>
        </p:nvSpPr>
        <p:spPr>
          <a:xfrm>
            <a:off x="5421555" y="3281366"/>
            <a:ext cx="2415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Luminosity–decline rate relation, a.k.a. the “Phillips relation”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5E415C-7F2F-D23A-2D36-B04925922EB3}"/>
              </a:ext>
            </a:extLst>
          </p:cNvPr>
          <p:cNvSpPr txBox="1"/>
          <p:nvPr/>
        </p:nvSpPr>
        <p:spPr>
          <a:xfrm>
            <a:off x="1285874" y="74379"/>
            <a:ext cx="65722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000" dirty="0">
                <a:solidFill>
                  <a:schemeClr val="bg1"/>
                </a:solidFill>
                <a:latin typeface="Avenir Medium" panose="02000503020000020003" pitchFamily="2" charset="0"/>
                <a:ea typeface="ＭＳ Ｐゴシック"/>
              </a:rPr>
              <a:t>Type Ia SN Cosmology</a:t>
            </a:r>
          </a:p>
        </p:txBody>
      </p:sp>
    </p:spTree>
    <p:extLst>
      <p:ext uri="{BB962C8B-B14F-4D97-AF65-F5344CB8AC3E}">
        <p14:creationId xmlns:p14="http://schemas.microsoft.com/office/powerpoint/2010/main" val="905575086"/>
      </p:ext>
    </p:extLst>
  </p:cSld>
  <p:clrMapOvr>
    <a:masterClrMapping/>
  </p:clrMapOvr>
  <p:transition>
    <p:sndAc>
      <p:endSnd/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E8C50-79BE-5723-043C-CA1D982B4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452D35-977B-928D-E826-86B0772AFF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125" y="703385"/>
            <a:ext cx="3505199" cy="24333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D78DA2-0917-FF3C-BC72-9CE76DF50E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514" y="703385"/>
            <a:ext cx="2433362" cy="24333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E019FD-D354-4832-2266-C611A840BF4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103"/>
          <a:stretch/>
        </p:blipFill>
        <p:spPr>
          <a:xfrm>
            <a:off x="3656467" y="703384"/>
            <a:ext cx="1155858" cy="105732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732A92-B28F-C27E-7E03-14085DE2C3A6}"/>
              </a:ext>
            </a:extLst>
          </p:cNvPr>
          <p:cNvSpPr txBox="1"/>
          <p:nvPr/>
        </p:nvSpPr>
        <p:spPr>
          <a:xfrm>
            <a:off x="1307125" y="3254340"/>
            <a:ext cx="3505199" cy="1541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Arial" panose="020B0604020202020204" pitchFamily="34" charset="0"/>
              </a:rPr>
              <a:t>Type Ia SNe are not standard candles, but they are “standardizable” candles.</a:t>
            </a: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Arial" panose="020B0604020202020204" pitchFamily="34" charset="0"/>
              </a:rPr>
              <a:t>More luminous = slower decay</a:t>
            </a: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Arial" panose="020B0604020202020204" pitchFamily="34" charset="0"/>
              </a:rPr>
              <a:t>Less luminous = faster decay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A7E468-8BD6-C006-1078-558998E2D116}"/>
              </a:ext>
            </a:extLst>
          </p:cNvPr>
          <p:cNvSpPr txBox="1"/>
          <p:nvPr/>
        </p:nvSpPr>
        <p:spPr>
          <a:xfrm>
            <a:off x="5421555" y="3281366"/>
            <a:ext cx="2415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Arial" panose="020B0604020202020204" pitchFamily="34" charset="0"/>
              </a:rPr>
              <a:t>Luminosity–decline rate relation, a.k.a. the “Phillips relation”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B8F0E8-1230-2AE7-3B03-2E12E0E559F9}"/>
              </a:ext>
            </a:extLst>
          </p:cNvPr>
          <p:cNvSpPr txBox="1"/>
          <p:nvPr/>
        </p:nvSpPr>
        <p:spPr>
          <a:xfrm>
            <a:off x="1285874" y="74379"/>
            <a:ext cx="65722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 panose="02000503020000020003" pitchFamily="2" charset="0"/>
                <a:ea typeface="ＭＳ Ｐゴシック"/>
                <a:cs typeface="+mn-cs"/>
              </a:rPr>
              <a:t>Type Ia SN Cosmology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2303DA-23B8-62E3-9AFC-FD190B165E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734" y="0"/>
            <a:ext cx="460253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51310"/>
      </p:ext>
    </p:extLst>
  </p:cSld>
  <p:clrMapOvr>
    <a:masterClrMapping/>
  </p:clrMapOvr>
  <p:transition>
    <p:sndAc>
      <p:endSnd/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7" name="Picture 3" descr="21Ast4_FIG17.07_CH17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831" y="672911"/>
            <a:ext cx="4213622" cy="3718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499" name="TextBox 7"/>
          <p:cNvSpPr txBox="1">
            <a:spLocks noChangeArrowheads="1"/>
          </p:cNvSpPr>
          <p:nvPr/>
        </p:nvSpPr>
        <p:spPr bwMode="auto">
          <a:xfrm>
            <a:off x="1044615" y="1036791"/>
            <a:ext cx="2965531" cy="29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257175" indent="-257175">
              <a:spcAft>
                <a:spcPts val="500"/>
              </a:spcAft>
              <a:buFontTx/>
              <a:buChar char="•"/>
            </a:pP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Cores of high-mass stars are hot enough to have fusion reactions beyond carbon.</a:t>
            </a:r>
          </a:p>
          <a:p>
            <a:pPr marL="257175" indent="-257175">
              <a:spcAft>
                <a:spcPts val="500"/>
              </a:spcAft>
              <a:buFontTx/>
              <a:buChar char="•"/>
            </a:pP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Can produce all elements up to iron (Fe)</a:t>
            </a:r>
          </a:p>
          <a:p>
            <a:pPr marL="257175" indent="-257175">
              <a:spcAft>
                <a:spcPts val="500"/>
              </a:spcAft>
              <a:buFontTx/>
              <a:buChar char="•"/>
            </a:pP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Even a high-mass star can’t burn iron, because it doesn’t produce energy.</a:t>
            </a:r>
          </a:p>
        </p:txBody>
      </p:sp>
      <p:sp>
        <p:nvSpPr>
          <p:cNvPr id="106500" name="TextBox 2"/>
          <p:cNvSpPr txBox="1">
            <a:spLocks noChangeArrowheads="1"/>
          </p:cNvSpPr>
          <p:nvPr/>
        </p:nvSpPr>
        <p:spPr bwMode="auto">
          <a:xfrm>
            <a:off x="4386542" y="4391233"/>
            <a:ext cx="3886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Avenir" panose="02000503020000020003" pitchFamily="2" charset="0"/>
              </a:rPr>
              <a:t>Fe core builds up in mass, as gravity gets stronger and stronger…</a:t>
            </a:r>
          </a:p>
        </p:txBody>
      </p:sp>
      <p:pic>
        <p:nvPicPr>
          <p:cNvPr id="106501" name="Picture 4" descr="C:\Documents and Settings\Nathan\Desktop\ASTR170 lectures\Chapter17_Figures_and_Photos\17_11_FigureB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02" t="9692" r="1041" b="44704"/>
          <a:stretch>
            <a:fillRect/>
          </a:stretch>
        </p:blipFill>
        <p:spPr bwMode="auto">
          <a:xfrm>
            <a:off x="4648200" y="1637110"/>
            <a:ext cx="720329" cy="10596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0F603DF5-C6B8-12F6-5C99-BD6843B3C56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97277"/>
            <a:ext cx="9143999" cy="5756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sz="26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Nuclear B</a:t>
            </a:r>
            <a:r>
              <a:rPr lang="en-US" sz="2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urning in Massive Stars</a:t>
            </a:r>
            <a:endParaRPr lang="en-US" sz="2600" kern="1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Medium" panose="02000503020000020003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0465737"/>
      </p:ext>
    </p:extLst>
  </p:cSld>
  <p:clrMapOvr>
    <a:masterClrMapping/>
  </p:clrMapOvr>
  <p:transition>
    <p:sndAc>
      <p:endSnd/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2" descr="C:\Documents and Settings\Nathan\Desktop\ASTR170 lectures\Chapter17_Figures_and_Photos\17_12_Figur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1"/>
          <a:stretch>
            <a:fillRect/>
          </a:stretch>
        </p:blipFill>
        <p:spPr bwMode="auto">
          <a:xfrm>
            <a:off x="4891088" y="1044773"/>
            <a:ext cx="3985022" cy="305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6584156" y="1263254"/>
            <a:ext cx="1885950" cy="1885950"/>
            <a:chOff x="5562600" y="1905000"/>
            <a:chExt cx="2514600" cy="2514600"/>
          </a:xfrm>
        </p:grpSpPr>
        <p:sp>
          <p:nvSpPr>
            <p:cNvPr id="4" name="Explosion 1 3">
              <a:extLst>
                <a:ext uri="{FF2B5EF4-FFF2-40B4-BE49-F238E27FC236}">
                  <a16:creationId xmlns:a16="http://schemas.microsoft.com/office/drawing/2014/main" id="{CAE74AF2-AC5F-A440-9468-024254A44898}"/>
                </a:ext>
              </a:extLst>
            </p:cNvPr>
            <p:cNvSpPr/>
            <p:nvPr/>
          </p:nvSpPr>
          <p:spPr>
            <a:xfrm>
              <a:off x="6400800" y="2667000"/>
              <a:ext cx="914400" cy="1014413"/>
            </a:xfrm>
            <a:prstGeom prst="irregularSeal1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 dirty="0">
                <a:solidFill>
                  <a:srgbClr val="FFFFFF"/>
                </a:solidFill>
                <a:latin typeface="Times New Roman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C9EA065-B74B-E943-891A-974C70D7C0A3}"/>
                </a:ext>
              </a:extLst>
            </p:cNvPr>
            <p:cNvCxnSpPr/>
            <p:nvPr/>
          </p:nvCxnSpPr>
          <p:spPr>
            <a:xfrm flipV="1">
              <a:off x="7239000" y="2209800"/>
              <a:ext cx="457200" cy="457200"/>
            </a:xfrm>
            <a:prstGeom prst="straightConnector1">
              <a:avLst/>
            </a:prstGeom>
            <a:ln w="28575">
              <a:solidFill>
                <a:srgbClr val="FAFAFA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979640C-D08B-3E45-8EC7-C1BC16DF561C}"/>
                </a:ext>
              </a:extLst>
            </p:cNvPr>
            <p:cNvCxnSpPr/>
            <p:nvPr/>
          </p:nvCxnSpPr>
          <p:spPr>
            <a:xfrm flipV="1">
              <a:off x="6858000" y="1905000"/>
              <a:ext cx="0" cy="657225"/>
            </a:xfrm>
            <a:prstGeom prst="straightConnector1">
              <a:avLst/>
            </a:prstGeom>
            <a:ln w="28575">
              <a:solidFill>
                <a:srgbClr val="FAFAFA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4622AFD-725A-944C-80A8-01B1E1827B39}"/>
                </a:ext>
              </a:extLst>
            </p:cNvPr>
            <p:cNvCxnSpPr/>
            <p:nvPr/>
          </p:nvCxnSpPr>
          <p:spPr>
            <a:xfrm flipH="1" flipV="1">
              <a:off x="5867400" y="2233613"/>
              <a:ext cx="533400" cy="433387"/>
            </a:xfrm>
            <a:prstGeom prst="straightConnector1">
              <a:avLst/>
            </a:prstGeom>
            <a:ln w="28575">
              <a:solidFill>
                <a:srgbClr val="FAFAFA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A727A2E-E787-4349-B31E-4B16FF33B126}"/>
                </a:ext>
              </a:extLst>
            </p:cNvPr>
            <p:cNvCxnSpPr/>
            <p:nvPr/>
          </p:nvCxnSpPr>
          <p:spPr>
            <a:xfrm flipV="1">
              <a:off x="7458075" y="3048000"/>
              <a:ext cx="619125" cy="52388"/>
            </a:xfrm>
            <a:prstGeom prst="straightConnector1">
              <a:avLst/>
            </a:prstGeom>
            <a:ln w="28575">
              <a:solidFill>
                <a:srgbClr val="FAFAFA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1ED42D1-66C8-474A-BC3E-D28092CD7F8B}"/>
                </a:ext>
              </a:extLst>
            </p:cNvPr>
            <p:cNvCxnSpPr/>
            <p:nvPr/>
          </p:nvCxnSpPr>
          <p:spPr>
            <a:xfrm>
              <a:off x="7324725" y="3505200"/>
              <a:ext cx="523875" cy="304800"/>
            </a:xfrm>
            <a:prstGeom prst="straightConnector1">
              <a:avLst/>
            </a:prstGeom>
            <a:ln w="28575">
              <a:solidFill>
                <a:srgbClr val="FAFAFA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D26A595-613F-4349-8E5E-B8931362A958}"/>
                </a:ext>
              </a:extLst>
            </p:cNvPr>
            <p:cNvCxnSpPr/>
            <p:nvPr/>
          </p:nvCxnSpPr>
          <p:spPr>
            <a:xfrm>
              <a:off x="6991350" y="3771900"/>
              <a:ext cx="247650" cy="647700"/>
            </a:xfrm>
            <a:prstGeom prst="straightConnector1">
              <a:avLst/>
            </a:prstGeom>
            <a:ln w="28575">
              <a:solidFill>
                <a:srgbClr val="FAFAFA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631F61E-56AA-9142-92F8-871BD4027030}"/>
                </a:ext>
              </a:extLst>
            </p:cNvPr>
            <p:cNvCxnSpPr/>
            <p:nvPr/>
          </p:nvCxnSpPr>
          <p:spPr>
            <a:xfrm flipH="1">
              <a:off x="6075363" y="3657600"/>
              <a:ext cx="449262" cy="609600"/>
            </a:xfrm>
            <a:prstGeom prst="straightConnector1">
              <a:avLst/>
            </a:prstGeom>
            <a:ln w="28575">
              <a:solidFill>
                <a:srgbClr val="FAFAFA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391A4AE-00FA-1E48-B9BF-7A7DF26EC111}"/>
                </a:ext>
              </a:extLst>
            </p:cNvPr>
            <p:cNvCxnSpPr/>
            <p:nvPr/>
          </p:nvCxnSpPr>
          <p:spPr>
            <a:xfrm flipH="1">
              <a:off x="5562600" y="3175000"/>
              <a:ext cx="733425" cy="101600"/>
            </a:xfrm>
            <a:prstGeom prst="straightConnector1">
              <a:avLst/>
            </a:prstGeom>
            <a:ln w="28575">
              <a:solidFill>
                <a:srgbClr val="FAFAFA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524" name="TextBox 1"/>
          <p:cNvSpPr txBox="1">
            <a:spLocks noChangeArrowheads="1"/>
          </p:cNvSpPr>
          <p:nvPr/>
        </p:nvSpPr>
        <p:spPr bwMode="auto">
          <a:xfrm>
            <a:off x="3068649" y="2416409"/>
            <a:ext cx="14859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0" hangingPunct="0"/>
            <a:r>
              <a:rPr lang="en-US" sz="1400" dirty="0">
                <a:solidFill>
                  <a:schemeClr val="bg1"/>
                </a:solidFill>
                <a:latin typeface="Avenir" panose="02000503020000020003" pitchFamily="2" charset="0"/>
              </a:rPr>
              <a:t>Heavy neutron </a:t>
            </a:r>
          </a:p>
          <a:p>
            <a:pPr eaLnBrk="0" hangingPunct="0"/>
            <a:r>
              <a:rPr lang="en-US" sz="1400" dirty="0">
                <a:solidFill>
                  <a:schemeClr val="bg1"/>
                </a:solidFill>
                <a:latin typeface="Avenir" panose="02000503020000020003" pitchFamily="2" charset="0"/>
              </a:rPr>
              <a:t>excess, neutrino </a:t>
            </a:r>
          </a:p>
          <a:p>
            <a:pPr eaLnBrk="0" hangingPunct="0"/>
            <a:r>
              <a:rPr lang="en-US" sz="1400" dirty="0">
                <a:solidFill>
                  <a:schemeClr val="bg1"/>
                </a:solidFill>
                <a:latin typeface="Avenir" panose="02000503020000020003" pitchFamily="2" charset="0"/>
              </a:rPr>
              <a:t>cooling</a:t>
            </a:r>
          </a:p>
        </p:txBody>
      </p:sp>
      <p:sp>
        <p:nvSpPr>
          <p:cNvPr id="107525" name="TextBox 4"/>
          <p:cNvSpPr txBox="1">
            <a:spLocks noChangeArrowheads="1"/>
          </p:cNvSpPr>
          <p:nvPr/>
        </p:nvSpPr>
        <p:spPr bwMode="auto">
          <a:xfrm>
            <a:off x="2816740" y="2440859"/>
            <a:ext cx="30489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0" hangingPunct="0"/>
            <a:r>
              <a:rPr lang="en-US" sz="3600" dirty="0">
                <a:solidFill>
                  <a:schemeClr val="bg1"/>
                </a:solidFill>
                <a:latin typeface="Avenir" panose="02000503020000020003" pitchFamily="2" charset="0"/>
              </a:rPr>
              <a:t>}</a:t>
            </a:r>
          </a:p>
        </p:txBody>
      </p:sp>
      <p:sp>
        <p:nvSpPr>
          <p:cNvPr id="2" name="TextBox 21">
            <a:extLst>
              <a:ext uri="{FF2B5EF4-FFF2-40B4-BE49-F238E27FC236}">
                <a16:creationId xmlns:a16="http://schemas.microsoft.com/office/drawing/2014/main" id="{D1F0FAE1-F821-4BA2-B40D-2E5B6CD9E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321" y="799470"/>
            <a:ext cx="4582767" cy="354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Aft>
                <a:spcPts val="500"/>
              </a:spcAft>
            </a:pP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Advanced core burning stages are fast – envelopes can’t adjust (</a:t>
            </a:r>
            <a:r>
              <a:rPr lang="en-US" sz="1800" dirty="0" err="1">
                <a:solidFill>
                  <a:schemeClr val="bg1"/>
                </a:solidFill>
                <a:latin typeface="Avenir" panose="02000503020000020003" pitchFamily="2" charset="0"/>
              </a:rPr>
              <a:t>t</a:t>
            </a:r>
            <a:r>
              <a:rPr lang="en-US" sz="1800" baseline="-25000" dirty="0" err="1">
                <a:solidFill>
                  <a:schemeClr val="bg1"/>
                </a:solidFill>
                <a:latin typeface="Avenir" panose="02000503020000020003" pitchFamily="2" charset="0"/>
              </a:rPr>
              <a:t>diff</a:t>
            </a: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).</a:t>
            </a:r>
          </a:p>
          <a:p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Burning times and T (20 M</a:t>
            </a:r>
            <a:r>
              <a:rPr lang="en-US" sz="1800" baseline="-25000" dirty="0">
                <a:solidFill>
                  <a:schemeClr val="bg1"/>
                </a:solidFill>
                <a:latin typeface="Avenir" panose="02000503020000020003" pitchFamily="2" charset="0"/>
                <a:sym typeface="Wingdings" charset="0"/>
              </a:rPr>
              <a:t></a:t>
            </a: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):</a:t>
            </a:r>
          </a:p>
          <a:p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H    ~  1e7 yr;  1e7 K</a:t>
            </a:r>
          </a:p>
          <a:p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He  ~ 0.5-1e6 yr;  1e8 K</a:t>
            </a:r>
          </a:p>
          <a:p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C  ~ 1000 yr; 6e8 K</a:t>
            </a:r>
          </a:p>
          <a:p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Ne  ~ 1 yr;  1.5e9 K</a:t>
            </a:r>
          </a:p>
          <a:p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O  ~  ≤1 yr; 2e9 K</a:t>
            </a:r>
          </a:p>
          <a:p>
            <a:pPr>
              <a:spcAft>
                <a:spcPts val="500"/>
              </a:spcAft>
            </a:pP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Si ~ 1 day; 3.5e9 K</a:t>
            </a:r>
          </a:p>
          <a:p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Core convergence… next burning sequences starts when shell has added enough fuel (roughly at </a:t>
            </a:r>
            <a:r>
              <a:rPr lang="en-US" sz="1800" dirty="0" err="1">
                <a:solidFill>
                  <a:schemeClr val="bg1"/>
                </a:solidFill>
                <a:latin typeface="Avenir" panose="02000503020000020003" pitchFamily="2" charset="0"/>
              </a:rPr>
              <a:t>M</a:t>
            </a:r>
            <a:r>
              <a:rPr lang="en-US" sz="1800" baseline="-25000" dirty="0" err="1">
                <a:solidFill>
                  <a:schemeClr val="bg1"/>
                </a:solidFill>
                <a:latin typeface="Avenir" panose="02000503020000020003" pitchFamily="2" charset="0"/>
              </a:rPr>
              <a:t>Ch</a:t>
            </a: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E3821F-F24B-F77C-3CEC-42312C8E0871}"/>
              </a:ext>
            </a:extLst>
          </p:cNvPr>
          <p:cNvSpPr txBox="1"/>
          <p:nvPr/>
        </p:nvSpPr>
        <p:spPr>
          <a:xfrm>
            <a:off x="831055" y="74474"/>
            <a:ext cx="78581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000" dirty="0">
                <a:solidFill>
                  <a:schemeClr val="bg1"/>
                </a:solidFill>
                <a:latin typeface="Avenir Medium" panose="02000503020000020003" pitchFamily="2" charset="0"/>
                <a:ea typeface="ＭＳ Ｐゴシック"/>
              </a:rPr>
              <a:t>Advance Burning Stages in Massive Stars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5713625"/>
      </p:ext>
    </p:extLst>
  </p:cSld>
  <p:clrMapOvr>
    <a:masterClrMapping/>
  </p:clrMapOvr>
  <p:transition>
    <p:sndAc>
      <p:endSnd/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86811-ABC2-0EF5-AFA9-AC3F2C837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356B2D-9B2A-CD8B-0C06-DD2FFE3C7C29}"/>
              </a:ext>
            </a:extLst>
          </p:cNvPr>
          <p:cNvSpPr txBox="1"/>
          <p:nvPr/>
        </p:nvSpPr>
        <p:spPr>
          <a:xfrm>
            <a:off x="831055" y="74474"/>
            <a:ext cx="78581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 panose="02000503020000020003" pitchFamily="2" charset="0"/>
                <a:ea typeface="ＭＳ Ｐゴシック"/>
                <a:cs typeface="+mn-cs"/>
              </a:rPr>
              <a:t>Iron Core Collapse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21">
                <a:extLst>
                  <a:ext uri="{FF2B5EF4-FFF2-40B4-BE49-F238E27FC236}">
                    <a16:creationId xmlns:a16="http://schemas.microsoft.com/office/drawing/2014/main" id="{BE05FB83-F650-F09E-188D-EC592AFC63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9774" y="644129"/>
                <a:ext cx="5225423" cy="42191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  <a:cs typeface="ＭＳ Ｐゴシック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5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</a:rPr>
                  <a:t>As with C/O WDs, inert Fe cores also have a corresponding M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</a:rPr>
                  <a:t>Ch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</a:rPr>
                  <a:t>≈1.26 M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sym typeface="Wingdings" charset="0"/>
                  </a:rPr>
                  <a:t>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</a:rPr>
                  <a:t>.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</a:rPr>
                  <a:t>Two processes accelerate the core collapse: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</a:rPr>
                  <a:t>Electron captures: 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At high density, free electrons can be captured via inverse beta decay - core becomes more neutron rich - </a:t>
                </a:r>
                <a:r>
                  <a:rPr kumimoji="0" lang="en-US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neutronization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.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This reduces the free electron number and therefore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M</a:t>
                </a:r>
                <a:r>
                  <a:rPr kumimoji="0" lang="en-US" sz="16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Ch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.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</a:rPr>
                  <a:t>Photo-disintegration: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At ~10</a:t>
                </a:r>
                <a:r>
                  <a:rPr kumimoji="0" lang="en-US" sz="16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10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 K, gamma rays can break up heavy nuclei into lighter ones</a:t>
                </a:r>
              </a:p>
              <a:p>
                <a:pPr marL="457200" marR="0" lvl="1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56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Fe +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𝛾</m:t>
                    </m:r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⟺</m:t>
                    </m:r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 13(</a:t>
                </a:r>
                <a:r>
                  <a:rPr kumimoji="0" lang="en-US" sz="16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4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He) + 4n and </a:t>
                </a:r>
                <a:r>
                  <a:rPr kumimoji="0" lang="en-US" sz="16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4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He +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𝛾</m:t>
                    </m:r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⟺</m:t>
                    </m:r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 2p + 2n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venir" panose="02000503020000020003" pitchFamily="2" charset="0"/>
                    <a:ea typeface="ＭＳ Ｐゴシック" charset="0"/>
                    <a:cs typeface="+mn-cs"/>
                  </a:rPr>
                  <a:t>This removes pressure support from the Fe core, potentially triggering the Fe core collapse.</a:t>
                </a:r>
              </a:p>
            </p:txBody>
          </p:sp>
        </mc:Choice>
        <mc:Fallback>
          <p:sp>
            <p:nvSpPr>
              <p:cNvPr id="6" name="TextBox 21">
                <a:extLst>
                  <a:ext uri="{FF2B5EF4-FFF2-40B4-BE49-F238E27FC236}">
                    <a16:creationId xmlns:a16="http://schemas.microsoft.com/office/drawing/2014/main" id="{BE05FB83-F650-F09E-188D-EC592AFC6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9774" y="644129"/>
                <a:ext cx="5225423" cy="4219104"/>
              </a:xfrm>
              <a:prstGeom prst="rect">
                <a:avLst/>
              </a:prstGeom>
              <a:blipFill>
                <a:blip r:embed="rId3"/>
                <a:stretch>
                  <a:fillRect l="-726" t="-299" r="-242" b="-59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59D8E54D-74AE-7B0E-B01A-FFE3F03310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197" y="646518"/>
            <a:ext cx="3539029" cy="19252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CE8753-4D7E-39B9-7B6D-D7F894DC14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0" r="13162" b="19613"/>
          <a:stretch>
            <a:fillRect/>
          </a:stretch>
        </p:blipFill>
        <p:spPr>
          <a:xfrm>
            <a:off x="5986375" y="2589796"/>
            <a:ext cx="2396672" cy="23456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76551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C24C2C-7FBF-AA67-D37A-3E5916E887B2}"/>
              </a:ext>
            </a:extLst>
          </p:cNvPr>
          <p:cNvSpPr txBox="1"/>
          <p:nvPr/>
        </p:nvSpPr>
        <p:spPr>
          <a:xfrm>
            <a:off x="831055" y="74474"/>
            <a:ext cx="78581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000" dirty="0">
                <a:solidFill>
                  <a:schemeClr val="bg1"/>
                </a:solidFill>
                <a:latin typeface="Avenir Medium" panose="02000503020000020003" pitchFamily="2" charset="0"/>
                <a:ea typeface="ＭＳ Ｐゴシック"/>
              </a:rPr>
              <a:t>Iron Core Collapse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21">
                <a:extLst>
                  <a:ext uri="{FF2B5EF4-FFF2-40B4-BE49-F238E27FC236}">
                    <a16:creationId xmlns:a16="http://schemas.microsoft.com/office/drawing/2014/main" id="{AD6AA52F-9245-E0E2-A6D7-AF2A48C1C1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9774" y="644129"/>
                <a:ext cx="8725626" cy="3988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32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  <a:cs typeface="ＭＳ Ｐゴシック" charset="0"/>
                  </a:defRPr>
                </a:lvl1pPr>
                <a:lvl2pPr>
                  <a:defRPr sz="28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eaLnBrk="0" hangingPunct="0"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eaLnBrk="0" hangingPunct="0"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eaLnBrk="0" hangingPunct="0"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eaLnBrk="0" hangingPunct="0">
                  <a:defRPr sz="20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pPr marL="285750" indent="-285750">
                  <a:lnSpc>
                    <a:spcPct val="150000"/>
                  </a:lnSpc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The collapse is extremely rapid, ~10 </a:t>
                </a:r>
                <a:r>
                  <a:rPr lang="en-US" sz="1800" dirty="0" err="1">
                    <a:solidFill>
                      <a:schemeClr val="bg1"/>
                    </a:solidFill>
                    <a:latin typeface="Avenir" panose="02000503020000020003" pitchFamily="2" charset="0"/>
                  </a:rPr>
                  <a:t>ms</a:t>
                </a:r>
                <a:r>
                  <a:rPr lang="en-US" sz="1800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 (recall our dynamical timescale and typical core density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~10</a:t>
                </a:r>
                <a:r>
                  <a:rPr lang="en-US" sz="1800" baseline="30000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10</a:t>
                </a:r>
                <a:r>
                  <a:rPr lang="en-US" sz="1800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 g cm</a:t>
                </a:r>
                <a:r>
                  <a:rPr lang="en-US" sz="1800" baseline="30000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-3</a:t>
                </a:r>
                <a:r>
                  <a:rPr lang="en-US" sz="1800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).</a:t>
                </a:r>
              </a:p>
              <a:p>
                <a:pPr marL="285750" indent="-285750">
                  <a:lnSpc>
                    <a:spcPct val="150000"/>
                  </a:lnSpc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Photo-disintegration and electron captures continue due to increases in photon energies/density and lead to further neutronization. </a:t>
                </a:r>
              </a:p>
              <a:p>
                <a:pPr marL="285750" indent="-285750">
                  <a:lnSpc>
                    <a:spcPct val="150000"/>
                  </a:lnSpc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The temperature and pressures rise, but not enough to halt collapse until nuclear densities are reached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~10</a:t>
                </a:r>
                <a:r>
                  <a:rPr lang="en-US" sz="1800" baseline="30000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14</a:t>
                </a:r>
                <a:r>
                  <a:rPr lang="en-US" sz="1800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 g cm</a:t>
                </a:r>
                <a:r>
                  <a:rPr lang="en-US" sz="1800" baseline="30000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-3</a:t>
                </a:r>
                <a:r>
                  <a:rPr lang="en-US" sz="1800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).</a:t>
                </a:r>
              </a:p>
              <a:p>
                <a:pPr marL="285750" indent="-285750">
                  <a:lnSpc>
                    <a:spcPct val="150000"/>
                  </a:lnSpc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The composition becomes predominantly neutrons, modifying the equation of state, the gas becomes nearly </a:t>
                </a:r>
                <a:r>
                  <a:rPr lang="en-US" sz="1800" i="1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incompressible</a:t>
                </a:r>
                <a:r>
                  <a:rPr lang="en-US" sz="1800" dirty="0">
                    <a:solidFill>
                      <a:schemeClr val="bg1"/>
                    </a:solidFill>
                    <a:latin typeface="Avenir" panose="02000503020000020003" pitchFamily="2" charset="0"/>
                  </a:rPr>
                  <a:t> and the proto-neutron star halts collapse at a radius of about 20 km. </a:t>
                </a:r>
              </a:p>
            </p:txBody>
          </p:sp>
        </mc:Choice>
        <mc:Fallback>
          <p:sp>
            <p:nvSpPr>
              <p:cNvPr id="6" name="TextBox 21">
                <a:extLst>
                  <a:ext uri="{FF2B5EF4-FFF2-40B4-BE49-F238E27FC236}">
                    <a16:creationId xmlns:a16="http://schemas.microsoft.com/office/drawing/2014/main" id="{AD6AA52F-9245-E0E2-A6D7-AF2A48C1C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9774" y="644129"/>
                <a:ext cx="8725626" cy="3988271"/>
              </a:xfrm>
              <a:prstGeom prst="rect">
                <a:avLst/>
              </a:prstGeom>
              <a:blipFill>
                <a:blip r:embed="rId3"/>
                <a:stretch>
                  <a:fillRect l="-290" r="-1016" b="-158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29704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9AFF8F-53F9-F21D-A697-9D32D642E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ase-6.png">
            <a:extLst>
              <a:ext uri="{FF2B5EF4-FFF2-40B4-BE49-F238E27FC236}">
                <a16:creationId xmlns:a16="http://schemas.microsoft.com/office/drawing/2014/main" id="{18138343-BF10-8E4D-7E27-EB359BE6C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207" y="1069987"/>
            <a:ext cx="4259053" cy="30035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BE1538-9C88-0612-FDB2-DB988888AB83}"/>
              </a:ext>
            </a:extLst>
          </p:cNvPr>
          <p:cNvSpPr txBox="1"/>
          <p:nvPr/>
        </p:nvSpPr>
        <p:spPr>
          <a:xfrm>
            <a:off x="831055" y="74474"/>
            <a:ext cx="78581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000" dirty="0">
                <a:solidFill>
                  <a:schemeClr val="bg1"/>
                </a:solidFill>
                <a:latin typeface="Avenir Medium" panose="02000503020000020003" pitchFamily="2" charset="0"/>
                <a:ea typeface="ＭＳ Ｐゴシック"/>
              </a:rPr>
              <a:t>The Delayed Neutrino-heating Mechanism</a:t>
            </a:r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id="{5BC52C07-490B-271A-228B-4441CC41B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740" y="925145"/>
            <a:ext cx="4435566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ＭＳ Ｐゴシック" charset="0"/>
              </a:rPr>
              <a:t>At a few ~3×10</a:t>
            </a:r>
            <a:r>
              <a: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ＭＳ Ｐゴシック" charset="0"/>
              </a:rPr>
              <a:t>14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ＭＳ Ｐゴシック" charset="0"/>
              </a:rPr>
              <a:t> g cm</a:t>
            </a:r>
            <a:r>
              <a: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ＭＳ Ｐゴシック" charset="0"/>
              </a:rPr>
              <a:t>-3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ＭＳ Ｐゴシック" charset="0"/>
              </a:rPr>
              <a:t>, neutrons become degenerate and the inner core like a spring causing the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ＭＳ Ｐゴシック" charset="0"/>
              </a:rPr>
              <a:t>core bounce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ＭＳ Ｐゴシック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ＭＳ Ｐゴシック" charset="0"/>
              </a:rPr>
              <a:t>The velocity of the inner core is reversed due to the bounce and travels towards still infalling material of the outer core.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ＭＳ Ｐゴシック" charset="0"/>
              </a:rPr>
              <a:t>These material impact each other, the supersonic material creates a shock wave that steepens as it moves outward into lower density.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ＭＳ Ｐゴシック" charset="0"/>
              </a:rPr>
              <a:t>Photo-disintegration </a:t>
            </a: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</a:rPr>
              <a:t>and electron captures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ＭＳ Ｐゴシック" charset="0"/>
              </a:rPr>
              <a:t>take away most of the energy from the shock, and the shock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ＭＳ Ｐゴシック" charset="0"/>
              </a:rPr>
              <a:t>fron</a:t>
            </a: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</a:rPr>
              <a:t>t stalls.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</a:rPr>
              <a:t>If the shock is not revived, the star doesn’t explode and becomes a </a:t>
            </a:r>
            <a:r>
              <a:rPr lang="en-US" sz="1600" b="1" dirty="0">
                <a:solidFill>
                  <a:srgbClr val="FFFFFF"/>
                </a:solidFill>
                <a:latin typeface="Avenir" panose="02000503020000020003" pitchFamily="2" charset="0"/>
              </a:rPr>
              <a:t>failed supernova</a:t>
            </a: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7401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D13D6E-9B09-8912-9DFC-79D2C333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17D512-7581-E1FF-889D-DEDEDA603419}"/>
              </a:ext>
            </a:extLst>
          </p:cNvPr>
          <p:cNvSpPr txBox="1"/>
          <p:nvPr/>
        </p:nvSpPr>
        <p:spPr>
          <a:xfrm>
            <a:off x="831055" y="74474"/>
            <a:ext cx="78581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 panose="02000503020000020003" pitchFamily="2" charset="0"/>
                <a:ea typeface="ＭＳ Ｐゴシック"/>
                <a:cs typeface="+mn-cs"/>
              </a:rPr>
              <a:t>The Explosion Mechanism</a:t>
            </a:r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id="{8EBB205B-39EA-DA14-AE63-DEDB6553B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14" y="723452"/>
            <a:ext cx="4778466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The core becomes opaque to neutrinos and forms a </a:t>
            </a:r>
            <a:r>
              <a:rPr lang="en-US" sz="1600" b="1" i="1" dirty="0" err="1">
                <a:solidFill>
                  <a:schemeClr val="bg1"/>
                </a:solidFill>
                <a:latin typeface="Avenir Book" panose="02000503020000020003" pitchFamily="2" charset="0"/>
              </a:rPr>
              <a:t>neutrinosphere</a:t>
            </a:r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 - outer layers of the core where the density is low enough for neutrinos to escape. Within this radius neutrinos have to scatter many times before escaping.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Avenir Book" panose="02000503020000020003" pitchFamily="2" charset="0"/>
              </a:rPr>
              <a:t>Neutrino heating </a:t>
            </a:r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- neutrinos able to diffuse out of the core heat the region where the shock has already passed (the post shock region) - from about 30 km to 100-300 km.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This neutrino-heated region becomes convective and provides a way to convert thermal energy deposited by neutrinos into kinetic energy potentially leading to revival of stalled shock overcoming ram pressure to lead to </a:t>
            </a:r>
            <a:r>
              <a:rPr lang="en-US" sz="1600" b="1" i="1" dirty="0">
                <a:solidFill>
                  <a:schemeClr val="bg1"/>
                </a:solidFill>
                <a:latin typeface="Avenir Book" panose="02000503020000020003" pitchFamily="2" charset="0"/>
              </a:rPr>
              <a:t>explosion</a:t>
            </a:r>
            <a:r>
              <a:rPr lang="en-US" sz="1600" dirty="0">
                <a:solidFill>
                  <a:schemeClr val="bg1"/>
                </a:solidFill>
                <a:latin typeface="Avenir Book" panose="02000503020000020003" pitchFamily="2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C11101-3E55-074C-B98F-8164DC4B6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494" y="1157421"/>
            <a:ext cx="3860946" cy="28286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18470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1Ast4_FIG17.07_CH17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915" y="672911"/>
            <a:ext cx="4138755" cy="3652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7014" y="783896"/>
            <a:ext cx="3404486" cy="3331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685800"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Most of the Fe goes into the proto-NS. </a:t>
            </a:r>
          </a:p>
          <a:p>
            <a:pPr marL="285750" indent="-285750" defTabSz="685800"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Infalling Si, Mg, Ne, O may also disintegrate into He nuclei.</a:t>
            </a:r>
          </a:p>
          <a:p>
            <a:pPr marL="257175" indent="-257175" defTabSz="685800">
              <a:spcAft>
                <a:spcPts val="500"/>
              </a:spcAft>
              <a:buFont typeface="Arial" pitchFamily="34" charset="0"/>
              <a:buChar char="•"/>
              <a:defRPr/>
            </a:pP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NSE fuses these He nuclei to heavier elements.</a:t>
            </a:r>
          </a:p>
          <a:p>
            <a:pPr marL="257175" indent="-257175" defTabSz="685800">
              <a:spcAft>
                <a:spcPts val="500"/>
              </a:spcAft>
              <a:buFont typeface="Arial" pitchFamily="34" charset="0"/>
              <a:buChar char="•"/>
              <a:defRPr/>
            </a:pPr>
            <a:r>
              <a:rPr lang="en-US" sz="1800" dirty="0">
                <a:solidFill>
                  <a:schemeClr val="bg1"/>
                </a:solidFill>
                <a:latin typeface="Avenir" panose="02000503020000020003" pitchFamily="2" charset="0"/>
              </a:rPr>
              <a:t>Expansion cools the ejecta, and heavier elements “freeze out” before they are  destroyed. </a:t>
            </a:r>
          </a:p>
        </p:txBody>
      </p:sp>
      <p:sp>
        <p:nvSpPr>
          <p:cNvPr id="7" name="Circular Arrow 6"/>
          <p:cNvSpPr/>
          <p:nvPr/>
        </p:nvSpPr>
        <p:spPr>
          <a:xfrm flipV="1">
            <a:off x="4300493" y="676937"/>
            <a:ext cx="1828800" cy="1314450"/>
          </a:xfrm>
          <a:prstGeom prst="circularArrow">
            <a:avLst>
              <a:gd name="adj1" fmla="val 3598"/>
              <a:gd name="adj2" fmla="val 1254448"/>
              <a:gd name="adj3" fmla="val 20336035"/>
              <a:gd name="adj4" fmla="val 11928479"/>
              <a:gd name="adj5" fmla="val 101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Circular Arrow 9"/>
          <p:cNvSpPr/>
          <p:nvPr/>
        </p:nvSpPr>
        <p:spPr>
          <a:xfrm flipV="1">
            <a:off x="4457655" y="1076987"/>
            <a:ext cx="411481" cy="571500"/>
          </a:xfrm>
          <a:prstGeom prst="circularArrow">
            <a:avLst>
              <a:gd name="adj1" fmla="val 6288"/>
              <a:gd name="adj2" fmla="val 1254448"/>
              <a:gd name="adj3" fmla="val 20342395"/>
              <a:gd name="adj4" fmla="val 13126795"/>
              <a:gd name="adj5" fmla="val 1045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Circular Arrow 10"/>
          <p:cNvSpPr/>
          <p:nvPr/>
        </p:nvSpPr>
        <p:spPr>
          <a:xfrm flipV="1">
            <a:off x="4357642" y="962687"/>
            <a:ext cx="757238" cy="742950"/>
          </a:xfrm>
          <a:prstGeom prst="circularArrow">
            <a:avLst>
              <a:gd name="adj1" fmla="val 6288"/>
              <a:gd name="adj2" fmla="val 1254448"/>
              <a:gd name="adj3" fmla="val 20342395"/>
              <a:gd name="adj4" fmla="val 13126795"/>
              <a:gd name="adj5" fmla="val 1045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Circular Arrow 11"/>
          <p:cNvSpPr/>
          <p:nvPr/>
        </p:nvSpPr>
        <p:spPr>
          <a:xfrm flipV="1">
            <a:off x="4343355" y="734087"/>
            <a:ext cx="1100138" cy="1143000"/>
          </a:xfrm>
          <a:prstGeom prst="circularArrow">
            <a:avLst>
              <a:gd name="adj1" fmla="val 6288"/>
              <a:gd name="adj2" fmla="val 1254448"/>
              <a:gd name="adj3" fmla="val 20342395"/>
              <a:gd name="adj4" fmla="val 13126795"/>
              <a:gd name="adj5" fmla="val 1045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Circular Arrow 13"/>
          <p:cNvSpPr/>
          <p:nvPr/>
        </p:nvSpPr>
        <p:spPr>
          <a:xfrm flipV="1">
            <a:off x="4119795" y="231169"/>
            <a:ext cx="3027254" cy="1812362"/>
          </a:xfrm>
          <a:prstGeom prst="circularArrow">
            <a:avLst>
              <a:gd name="adj1" fmla="val 4148"/>
              <a:gd name="adj2" fmla="val 688032"/>
              <a:gd name="adj3" fmla="val 20469153"/>
              <a:gd name="adj4" fmla="val 11942544"/>
              <a:gd name="adj5" fmla="val 765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80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" name="Picture 3" descr="C:\Documents and Settings\Nathan\Desktop\220px-Evolved_star_fusion_shell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713" y="2596566"/>
            <a:ext cx="1197650" cy="119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BF7C07-D9B6-0B41-9570-6B161665A5FA}"/>
              </a:ext>
            </a:extLst>
          </p:cNvPr>
          <p:cNvSpPr txBox="1"/>
          <p:nvPr/>
        </p:nvSpPr>
        <p:spPr>
          <a:xfrm>
            <a:off x="4059915" y="4325707"/>
            <a:ext cx="4138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venir" panose="02000503020000020003" pitchFamily="2" charset="0"/>
              </a:rPr>
              <a:t>Note that the Fe produced in the star’s core will never escape (goes into the NS or BH).  Massive stars are not primary source of Fe.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5DA8E8E-F430-B11B-E117-0A415BC166D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97277"/>
            <a:ext cx="9143999" cy="5756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sz="3000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Explosive Nucleosynthesis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9360709"/>
      </p:ext>
    </p:extLst>
  </p:cSld>
  <p:clrMapOvr>
    <a:masterClrMapping/>
  </p:clrMapOvr>
  <p:transition>
    <p:sndAc>
      <p:endSnd/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000px-Periodictable_nh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069" y="885092"/>
            <a:ext cx="9168651" cy="570290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2978299" y="853355"/>
            <a:ext cx="3227813" cy="161382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</a:endParaRPr>
          </a:p>
        </p:txBody>
      </p:sp>
      <p:sp>
        <p:nvSpPr>
          <p:cNvPr id="6" name="Curved Up Arrow 5"/>
          <p:cNvSpPr/>
          <p:nvPr/>
        </p:nvSpPr>
        <p:spPr bwMode="auto">
          <a:xfrm rot="10800000">
            <a:off x="5895773" y="1935411"/>
            <a:ext cx="446413" cy="626126"/>
          </a:xfrm>
          <a:prstGeom prst="curvedUpArrow">
            <a:avLst>
              <a:gd name="adj1" fmla="val 6770"/>
              <a:gd name="adj2" fmla="val 28532"/>
              <a:gd name="adj3" fmla="val 25000"/>
            </a:avLst>
          </a:prstGeom>
          <a:solidFill>
            <a:schemeClr val="accent1"/>
          </a:solidFill>
          <a:ln w="9525" cap="flat" cmpd="sng" algn="ctr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</a:endParaRPr>
          </a:p>
        </p:txBody>
      </p:sp>
      <p:sp>
        <p:nvSpPr>
          <p:cNvPr id="8" name="Curved Up Arrow 7"/>
          <p:cNvSpPr/>
          <p:nvPr/>
        </p:nvSpPr>
        <p:spPr bwMode="auto">
          <a:xfrm rot="10800000">
            <a:off x="5404185" y="1920336"/>
            <a:ext cx="446695" cy="626126"/>
          </a:xfrm>
          <a:prstGeom prst="curvedUpArrow">
            <a:avLst>
              <a:gd name="adj1" fmla="val 6770"/>
              <a:gd name="adj2" fmla="val 28532"/>
              <a:gd name="adj3" fmla="val 25000"/>
            </a:avLst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B40C64-0728-E342-9EA3-A78B076ED42E}"/>
              </a:ext>
            </a:extLst>
          </p:cNvPr>
          <p:cNvSpPr txBox="1"/>
          <p:nvPr/>
        </p:nvSpPr>
        <p:spPr>
          <a:xfrm>
            <a:off x="2368060" y="240324"/>
            <a:ext cx="61933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As in Type Ia SNe, NSE burning in </a:t>
            </a:r>
            <a:r>
              <a:rPr lang="en-US" sz="1800" dirty="0" err="1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CCSNe</a:t>
            </a: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 makes a lot of Fe-peak elements, especially </a:t>
            </a:r>
            <a:r>
              <a:rPr lang="en-US" sz="1800" baseline="300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56</a:t>
            </a: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Ni.  However, much smaller 56Ni mass results (more like 0.1 M</a:t>
            </a:r>
            <a:r>
              <a:rPr lang="en-US" altLang="en-US" sz="1800" baseline="-25000" dirty="0">
                <a:solidFill>
                  <a:srgbClr val="FFFFFF"/>
                </a:solidFill>
                <a:latin typeface="Avenir" panose="02000503020000020003" pitchFamily="2" charset="0"/>
                <a:ea typeface="ＭＳ Ｐゴシック" panose="020B0600070205080204" pitchFamily="34" charset="-128"/>
                <a:sym typeface="Wingdings" pitchFamily="2" charset="2"/>
              </a:rPr>
              <a:t></a:t>
            </a: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 instead of ~1 M</a:t>
            </a:r>
            <a:r>
              <a:rPr lang="en-US" altLang="en-US" sz="1800" baseline="-25000" dirty="0">
                <a:solidFill>
                  <a:srgbClr val="FFFFFF"/>
                </a:solidFill>
                <a:latin typeface="Avenir" panose="02000503020000020003" pitchFamily="2" charset="0"/>
                <a:ea typeface="ＭＳ Ｐゴシック" panose="020B0600070205080204" pitchFamily="34" charset="-128"/>
                <a:sym typeface="Wingdings" pitchFamily="2" charset="2"/>
              </a:rPr>
              <a:t></a:t>
            </a: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).  So normal </a:t>
            </a:r>
            <a:r>
              <a:rPr lang="en-US" sz="1800" dirty="0" err="1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CCSNe</a:t>
            </a: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 are less luminous.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814DC-009A-8BD6-A049-42EBCF306101}"/>
              </a:ext>
            </a:extLst>
          </p:cNvPr>
          <p:cNvSpPr txBox="1"/>
          <p:nvPr/>
        </p:nvSpPr>
        <p:spPr>
          <a:xfrm>
            <a:off x="2757487" y="1472390"/>
            <a:ext cx="25106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</a:rPr>
              <a:t>Radioactive decay:</a:t>
            </a:r>
          </a:p>
          <a:p>
            <a:pPr defTabSz="685800">
              <a:defRPr/>
            </a:pPr>
            <a:endParaRPr lang="en-US" sz="1800" dirty="0">
              <a:solidFill>
                <a:srgbClr val="FFFFFF"/>
              </a:solidFill>
              <a:latin typeface="Avenir" panose="02000503020000020003" pitchFamily="2" charset="0"/>
            </a:endParaRPr>
          </a:p>
          <a:p>
            <a:pPr defTabSz="685800">
              <a:defRPr/>
            </a:pPr>
            <a:r>
              <a:rPr lang="en-US" sz="1800" baseline="30000" dirty="0">
                <a:solidFill>
                  <a:srgbClr val="FFFFFF"/>
                </a:solidFill>
                <a:latin typeface="Avenir" panose="02000503020000020003" pitchFamily="2" charset="0"/>
              </a:rPr>
              <a:t>56</a:t>
            </a: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</a:rPr>
              <a:t>Ni        </a:t>
            </a:r>
            <a:r>
              <a:rPr lang="en-US" sz="1800" baseline="30000" dirty="0">
                <a:solidFill>
                  <a:srgbClr val="FFFFFF"/>
                </a:solidFill>
                <a:latin typeface="Avenir" panose="02000503020000020003" pitchFamily="2" charset="0"/>
              </a:rPr>
              <a:t>56</a:t>
            </a: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</a:rPr>
              <a:t>Co        </a:t>
            </a:r>
            <a:r>
              <a:rPr lang="en-US" sz="1800" baseline="30000" dirty="0">
                <a:solidFill>
                  <a:srgbClr val="FFFFFF"/>
                </a:solidFill>
                <a:latin typeface="Avenir" panose="02000503020000020003" pitchFamily="2" charset="0"/>
              </a:rPr>
              <a:t>56</a:t>
            </a:r>
            <a:r>
              <a:rPr lang="en-US" sz="1800" dirty="0">
                <a:solidFill>
                  <a:srgbClr val="FFFFFF"/>
                </a:solidFill>
                <a:latin typeface="Avenir" panose="02000503020000020003" pitchFamily="2" charset="0"/>
              </a:rPr>
              <a:t>Fe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AC5A7CF9-F1C2-C6B2-A5AC-473B79E51CCC}"/>
              </a:ext>
            </a:extLst>
          </p:cNvPr>
          <p:cNvSpPr/>
          <p:nvPr/>
        </p:nvSpPr>
        <p:spPr bwMode="auto">
          <a:xfrm>
            <a:off x="3375768" y="2078207"/>
            <a:ext cx="291032" cy="238105"/>
          </a:xfrm>
          <a:prstGeom prst="rightArrow">
            <a:avLst>
              <a:gd name="adj1" fmla="val 28571"/>
              <a:gd name="adj2" fmla="val 39285"/>
            </a:avLst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  <a:latin typeface="Avenir" panose="02000503020000020003" pitchFamily="2" charset="0"/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3E1AE5A6-060E-E7AC-B2F1-88D1DC0688B5}"/>
              </a:ext>
            </a:extLst>
          </p:cNvPr>
          <p:cNvSpPr/>
          <p:nvPr/>
        </p:nvSpPr>
        <p:spPr bwMode="auto">
          <a:xfrm>
            <a:off x="4283236" y="2078207"/>
            <a:ext cx="291032" cy="238105"/>
          </a:xfrm>
          <a:prstGeom prst="rightArrow">
            <a:avLst>
              <a:gd name="adj1" fmla="val 28571"/>
              <a:gd name="adj2" fmla="val 39285"/>
            </a:avLst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  <a:latin typeface="Avenir" panose="02000503020000020003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470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C3505-11BA-530F-57AA-EE6DBA4A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000px-Periodictable_nh.png">
            <a:extLst>
              <a:ext uri="{FF2B5EF4-FFF2-40B4-BE49-F238E27FC236}">
                <a16:creationId xmlns:a16="http://schemas.microsoft.com/office/drawing/2014/main" id="{76F9290A-4410-DC54-FFEB-0D70ADDBDC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069" y="885092"/>
            <a:ext cx="9168651" cy="57029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C588D0-AF2A-5498-04D1-B3DCB89FB4D1}"/>
              </a:ext>
            </a:extLst>
          </p:cNvPr>
          <p:cNvSpPr/>
          <p:nvPr/>
        </p:nvSpPr>
        <p:spPr bwMode="auto">
          <a:xfrm>
            <a:off x="2978299" y="853355"/>
            <a:ext cx="3227813" cy="161382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8E2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Curved Up Arrow 5">
            <a:extLst>
              <a:ext uri="{FF2B5EF4-FFF2-40B4-BE49-F238E27FC236}">
                <a16:creationId xmlns:a16="http://schemas.microsoft.com/office/drawing/2014/main" id="{FE364196-B27D-9271-E0C4-E56A2BBFDF76}"/>
              </a:ext>
            </a:extLst>
          </p:cNvPr>
          <p:cNvSpPr/>
          <p:nvPr/>
        </p:nvSpPr>
        <p:spPr bwMode="auto">
          <a:xfrm rot="10800000">
            <a:off x="5895773" y="1935411"/>
            <a:ext cx="446413" cy="626126"/>
          </a:xfrm>
          <a:prstGeom prst="curvedUpArrow">
            <a:avLst>
              <a:gd name="adj1" fmla="val 6770"/>
              <a:gd name="adj2" fmla="val 28532"/>
              <a:gd name="adj3" fmla="val 25000"/>
            </a:avLst>
          </a:prstGeom>
          <a:solidFill>
            <a:schemeClr val="accent1"/>
          </a:solidFill>
          <a:ln w="9525" cap="flat" cmpd="sng" algn="ctr">
            <a:solidFill>
              <a:srgbClr val="CCFF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8E2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Curved Up Arrow 7">
            <a:extLst>
              <a:ext uri="{FF2B5EF4-FFF2-40B4-BE49-F238E27FC236}">
                <a16:creationId xmlns:a16="http://schemas.microsoft.com/office/drawing/2014/main" id="{64ADA6FB-7376-EFBF-E862-F55692E0E12A}"/>
              </a:ext>
            </a:extLst>
          </p:cNvPr>
          <p:cNvSpPr/>
          <p:nvPr/>
        </p:nvSpPr>
        <p:spPr bwMode="auto">
          <a:xfrm rot="10800000">
            <a:off x="5404185" y="1920336"/>
            <a:ext cx="446695" cy="626126"/>
          </a:xfrm>
          <a:prstGeom prst="curvedUpArrow">
            <a:avLst>
              <a:gd name="adj1" fmla="val 6770"/>
              <a:gd name="adj2" fmla="val 28532"/>
              <a:gd name="adj3" fmla="val 25000"/>
            </a:avLst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8E2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842338-0CF9-0F73-B33B-26A8EF3F6646}"/>
              </a:ext>
            </a:extLst>
          </p:cNvPr>
          <p:cNvSpPr txBox="1"/>
          <p:nvPr/>
        </p:nvSpPr>
        <p:spPr>
          <a:xfrm>
            <a:off x="2368060" y="240324"/>
            <a:ext cx="61933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Arial" panose="020B0604020202020204" pitchFamily="34" charset="0"/>
              </a:rPr>
              <a:t>As in Type Ia SNe, NSE burning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Arial" panose="020B0604020202020204" pitchFamily="34" charset="0"/>
              </a:rPr>
              <a:t>CCSNe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Arial" panose="020B0604020202020204" pitchFamily="34" charset="0"/>
              </a:rPr>
              <a:t> makes a lot of Fe-peak elements, especially 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Arial" panose="020B0604020202020204" pitchFamily="34" charset="0"/>
              </a:rPr>
              <a:t>56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Arial" panose="020B0604020202020204" pitchFamily="34" charset="0"/>
              </a:rPr>
              <a:t>Ni.  However, much smaller 56Ni mass results (more like 0.1 M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ＭＳ Ｐゴシック" panose="020B0600070205080204" pitchFamily="34" charset="-128"/>
                <a:cs typeface="+mn-cs"/>
                <a:sym typeface="Wingdings" pitchFamily="2" charset="2"/>
              </a:rPr>
              <a:t>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Arial" panose="020B0604020202020204" pitchFamily="34" charset="0"/>
              </a:rPr>
              <a:t> instead of ~1 M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ＭＳ Ｐゴシック" panose="020B0600070205080204" pitchFamily="34" charset="-128"/>
                <a:cs typeface="+mn-cs"/>
                <a:sym typeface="Wingdings" pitchFamily="2" charset="2"/>
              </a:rPr>
              <a:t>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Arial" panose="020B0604020202020204" pitchFamily="34" charset="0"/>
              </a:rPr>
              <a:t>).  So normal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Arial" panose="020B0604020202020204" pitchFamily="34" charset="0"/>
              </a:rPr>
              <a:t>CCSNe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Arial" panose="020B0604020202020204" pitchFamily="34" charset="0"/>
              </a:rPr>
              <a:t> are less luminous.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78E737-C947-72E0-4541-CEABE7A4CE05}"/>
              </a:ext>
            </a:extLst>
          </p:cNvPr>
          <p:cNvSpPr txBox="1"/>
          <p:nvPr/>
        </p:nvSpPr>
        <p:spPr>
          <a:xfrm>
            <a:off x="1603691" y="3298123"/>
            <a:ext cx="5669628" cy="1015663"/>
          </a:xfrm>
          <a:prstGeom prst="rect">
            <a:avLst/>
          </a:prstGeom>
          <a:solidFill>
            <a:srgbClr val="FFFEF8"/>
          </a:solidFill>
          <a:ln w="28575">
            <a:solidFill>
              <a:srgbClr val="FF0000"/>
            </a:solidFill>
          </a:ln>
          <a:effectLst>
            <a:outerShdw blurRad="546100" dist="38100" dir="2700000" sx="102000" sy="102000" algn="tl" rotWithShape="0">
              <a:prstClr val="black">
                <a:alpha val="9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+mn-cs"/>
              </a:rPr>
              <a:t>NSE burning only lasts a short time as the shock passes through layers outside Fe core. Only a mall fraction of star is burned, so primary nucleosynthesis yield is intermediate-mass elements like O, Mg, S, etc. plus small mass of r-process elements.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01AF6-CE30-C957-C3C8-E5EA918BA44F}"/>
              </a:ext>
            </a:extLst>
          </p:cNvPr>
          <p:cNvSpPr txBox="1"/>
          <p:nvPr/>
        </p:nvSpPr>
        <p:spPr>
          <a:xfrm>
            <a:off x="2757487" y="1472390"/>
            <a:ext cx="25106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+mn-cs"/>
              </a:rPr>
              <a:t>Radioactive decay:</a:t>
            </a: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+mn-cs"/>
              </a:rPr>
              <a:t>56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+mn-cs"/>
              </a:rPr>
              <a:t>Ni        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+mn-cs"/>
              </a:rPr>
              <a:t>56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+mn-cs"/>
              </a:rPr>
              <a:t>Co        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+mn-cs"/>
              </a:rPr>
              <a:t>56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" panose="02000503020000020003" pitchFamily="2" charset="0"/>
                <a:ea typeface="+mn-ea"/>
                <a:cs typeface="+mn-cs"/>
              </a:rPr>
              <a:t>Fe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FB209CDD-9466-1049-39C7-6F85CA43B1EE}"/>
              </a:ext>
            </a:extLst>
          </p:cNvPr>
          <p:cNvSpPr/>
          <p:nvPr/>
        </p:nvSpPr>
        <p:spPr bwMode="auto">
          <a:xfrm>
            <a:off x="3375768" y="2078207"/>
            <a:ext cx="291032" cy="238105"/>
          </a:xfrm>
          <a:prstGeom prst="rightArrow">
            <a:avLst>
              <a:gd name="adj1" fmla="val 28571"/>
              <a:gd name="adj2" fmla="val 39285"/>
            </a:avLst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8E2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76C6D788-8E03-88B8-2A20-A63BE128CA3D}"/>
              </a:ext>
            </a:extLst>
          </p:cNvPr>
          <p:cNvSpPr/>
          <p:nvPr/>
        </p:nvSpPr>
        <p:spPr bwMode="auto">
          <a:xfrm>
            <a:off x="4283236" y="2078207"/>
            <a:ext cx="291032" cy="238105"/>
          </a:xfrm>
          <a:prstGeom prst="rightArrow">
            <a:avLst>
              <a:gd name="adj1" fmla="val 28571"/>
              <a:gd name="adj2" fmla="val 39285"/>
            </a:avLst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8E2"/>
              </a:solidFill>
              <a:effectLst/>
              <a:uLnTx/>
              <a:uFillTx/>
              <a:latin typeface="Avenir" panose="02000503020000020003" pitchFamily="2" charset="0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912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FC426B-C5BD-56A0-84CF-FE703237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7B6BE84-5517-2A6B-2E09-5DF558D78591}"/>
              </a:ext>
            </a:extLst>
          </p:cNvPr>
          <p:cNvSpPr txBox="1">
            <a:spLocks noChangeArrowheads="1"/>
          </p:cNvSpPr>
          <p:nvPr/>
        </p:nvSpPr>
        <p:spPr>
          <a:xfrm>
            <a:off x="82685" y="97277"/>
            <a:ext cx="8978629" cy="5756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Supernova classification is purely observational</a:t>
            </a:r>
            <a:endParaRPr lang="en-US" sz="3000" kern="1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Medium" panose="02000503020000020003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7F3A86-0A65-AC1B-DB8D-B9EE95B55B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535" y="647311"/>
            <a:ext cx="7142930" cy="439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9982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29" name="Line 2">
            <a:extLst>
              <a:ext uri="{FF2B5EF4-FFF2-40B4-BE49-F238E27FC236}">
                <a16:creationId xmlns:a16="http://schemas.microsoft.com/office/drawing/2014/main" id="{FDA78C4F-69FD-464A-8175-82B9AE3F37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1263" y="1144192"/>
            <a:ext cx="2950369" cy="877490"/>
          </a:xfrm>
          <a:prstGeom prst="line">
            <a:avLst/>
          </a:prstGeom>
          <a:noFill/>
          <a:ln w="38100">
            <a:solidFill>
              <a:srgbClr val="00FF0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defTabSz="685800" eaLnBrk="0" hangingPunct="0">
              <a:defRPr/>
            </a:pPr>
            <a:endParaRPr lang="en-US" sz="1400">
              <a:solidFill>
                <a:srgbClr val="FFFFFF"/>
              </a:solidFill>
              <a:latin typeface="Avenir" panose="02000503020000020003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176130" name="Freeform 3">
            <a:extLst>
              <a:ext uri="{FF2B5EF4-FFF2-40B4-BE49-F238E27FC236}">
                <a16:creationId xmlns:a16="http://schemas.microsoft.com/office/drawing/2014/main" id="{604D4FF5-257A-FA40-9CCF-A45ACBA521BA}"/>
              </a:ext>
            </a:extLst>
          </p:cNvPr>
          <p:cNvSpPr>
            <a:spLocks/>
          </p:cNvSpPr>
          <p:nvPr/>
        </p:nvSpPr>
        <p:spPr bwMode="auto">
          <a:xfrm>
            <a:off x="2506267" y="1696642"/>
            <a:ext cx="4811315" cy="450056"/>
          </a:xfrm>
          <a:custGeom>
            <a:avLst/>
            <a:gdLst>
              <a:gd name="T0" fmla="*/ 2147483646 w 4041"/>
              <a:gd name="T1" fmla="*/ 2147483646 h 378"/>
              <a:gd name="T2" fmla="*/ 2147483646 w 4041"/>
              <a:gd name="T3" fmla="*/ 2147483646 h 378"/>
              <a:gd name="T4" fmla="*/ 2147483646 w 4041"/>
              <a:gd name="T5" fmla="*/ 2147483646 h 378"/>
              <a:gd name="T6" fmla="*/ 2147483646 w 4041"/>
              <a:gd name="T7" fmla="*/ 2147483646 h 378"/>
              <a:gd name="T8" fmla="*/ 2147483646 w 4041"/>
              <a:gd name="T9" fmla="*/ 2147483646 h 378"/>
              <a:gd name="T10" fmla="*/ 0 w 4041"/>
              <a:gd name="T11" fmla="*/ 2147483646 h 37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041" h="378">
                <a:moveTo>
                  <a:pt x="3979" y="80"/>
                </a:moveTo>
                <a:cubicBezTo>
                  <a:pt x="3951" y="67"/>
                  <a:pt x="4041" y="6"/>
                  <a:pt x="3809" y="3"/>
                </a:cubicBezTo>
                <a:cubicBezTo>
                  <a:pt x="3577" y="0"/>
                  <a:pt x="2951" y="43"/>
                  <a:pt x="2584" y="60"/>
                </a:cubicBezTo>
                <a:cubicBezTo>
                  <a:pt x="2217" y="77"/>
                  <a:pt x="1867" y="58"/>
                  <a:pt x="1607" y="102"/>
                </a:cubicBezTo>
                <a:cubicBezTo>
                  <a:pt x="1347" y="146"/>
                  <a:pt x="1294" y="276"/>
                  <a:pt x="1026" y="322"/>
                </a:cubicBezTo>
                <a:cubicBezTo>
                  <a:pt x="758" y="368"/>
                  <a:pt x="214" y="366"/>
                  <a:pt x="0" y="378"/>
                </a:cubicBezTo>
              </a:path>
            </a:pathLst>
          </a:custGeom>
          <a:noFill/>
          <a:ln w="38100" cap="rnd" cmpd="sng">
            <a:solidFill>
              <a:srgbClr val="4CFF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hangingPunct="0">
              <a:defRPr/>
            </a:pPr>
            <a:endParaRPr lang="en-US" sz="1400">
              <a:solidFill>
                <a:srgbClr val="FFFFFF"/>
              </a:solidFill>
              <a:latin typeface="Avenir" panose="02000503020000020003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176131" name="Freeform 4">
            <a:extLst>
              <a:ext uri="{FF2B5EF4-FFF2-40B4-BE49-F238E27FC236}">
                <a16:creationId xmlns:a16="http://schemas.microsoft.com/office/drawing/2014/main" id="{D928BFCB-3B38-634B-9069-C0E1FA4C9DAC}"/>
              </a:ext>
            </a:extLst>
          </p:cNvPr>
          <p:cNvSpPr>
            <a:spLocks/>
          </p:cNvSpPr>
          <p:nvPr/>
        </p:nvSpPr>
        <p:spPr bwMode="auto">
          <a:xfrm>
            <a:off x="4382692" y="2365773"/>
            <a:ext cx="2849165" cy="1339453"/>
          </a:xfrm>
          <a:custGeom>
            <a:avLst/>
            <a:gdLst>
              <a:gd name="T0" fmla="*/ 0 w 2363"/>
              <a:gd name="T1" fmla="*/ 2147483646 h 1125"/>
              <a:gd name="T2" fmla="*/ 2147483646 w 2363"/>
              <a:gd name="T3" fmla="*/ 2147483646 h 1125"/>
              <a:gd name="T4" fmla="*/ 2147483646 w 2363"/>
              <a:gd name="T5" fmla="*/ 2147483646 h 1125"/>
              <a:gd name="T6" fmla="*/ 2147483646 w 2363"/>
              <a:gd name="T7" fmla="*/ 2147483646 h 1125"/>
              <a:gd name="T8" fmla="*/ 2147483646 w 2363"/>
              <a:gd name="T9" fmla="*/ 2147483646 h 1125"/>
              <a:gd name="T10" fmla="*/ 2147483646 w 2363"/>
              <a:gd name="T11" fmla="*/ 2147483646 h 1125"/>
              <a:gd name="T12" fmla="*/ 2147483646 w 2363"/>
              <a:gd name="T13" fmla="*/ 2147483646 h 1125"/>
              <a:gd name="T14" fmla="*/ 2147483646 w 2363"/>
              <a:gd name="T15" fmla="*/ 2147483646 h 1125"/>
              <a:gd name="T16" fmla="*/ 2147483646 w 2363"/>
              <a:gd name="T17" fmla="*/ 2147483646 h 1125"/>
              <a:gd name="T18" fmla="*/ 2147483646 w 2363"/>
              <a:gd name="T19" fmla="*/ 2147483646 h 1125"/>
              <a:gd name="T20" fmla="*/ 2147483646 w 2363"/>
              <a:gd name="T21" fmla="*/ 2147483646 h 1125"/>
              <a:gd name="T22" fmla="*/ 2147483646 w 2363"/>
              <a:gd name="T23" fmla="*/ 2147483646 h 1125"/>
              <a:gd name="T24" fmla="*/ 2147483646 w 2363"/>
              <a:gd name="T25" fmla="*/ 2147483646 h 1125"/>
              <a:gd name="T26" fmla="*/ 2147483646 w 2363"/>
              <a:gd name="T27" fmla="*/ 2147483646 h 112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2363" h="1125">
                <a:moveTo>
                  <a:pt x="0" y="1125"/>
                </a:moveTo>
                <a:cubicBezTo>
                  <a:pt x="117" y="874"/>
                  <a:pt x="234" y="622"/>
                  <a:pt x="293" y="509"/>
                </a:cubicBezTo>
                <a:cubicBezTo>
                  <a:pt x="352" y="396"/>
                  <a:pt x="361" y="468"/>
                  <a:pt x="352" y="448"/>
                </a:cubicBezTo>
                <a:cubicBezTo>
                  <a:pt x="342" y="427"/>
                  <a:pt x="254" y="407"/>
                  <a:pt x="234" y="386"/>
                </a:cubicBezTo>
                <a:cubicBezTo>
                  <a:pt x="215" y="366"/>
                  <a:pt x="166" y="345"/>
                  <a:pt x="234" y="325"/>
                </a:cubicBezTo>
                <a:cubicBezTo>
                  <a:pt x="303" y="304"/>
                  <a:pt x="430" y="263"/>
                  <a:pt x="644" y="263"/>
                </a:cubicBezTo>
                <a:cubicBezTo>
                  <a:pt x="859" y="263"/>
                  <a:pt x="1279" y="283"/>
                  <a:pt x="1523" y="325"/>
                </a:cubicBezTo>
                <a:cubicBezTo>
                  <a:pt x="1767" y="366"/>
                  <a:pt x="1992" y="448"/>
                  <a:pt x="2109" y="509"/>
                </a:cubicBezTo>
                <a:cubicBezTo>
                  <a:pt x="2226" y="571"/>
                  <a:pt x="2187" y="756"/>
                  <a:pt x="2226" y="694"/>
                </a:cubicBezTo>
                <a:cubicBezTo>
                  <a:pt x="2265" y="632"/>
                  <a:pt x="2363" y="253"/>
                  <a:pt x="2343" y="140"/>
                </a:cubicBezTo>
                <a:cubicBezTo>
                  <a:pt x="2324" y="27"/>
                  <a:pt x="2337" y="34"/>
                  <a:pt x="2109" y="17"/>
                </a:cubicBezTo>
                <a:cubicBezTo>
                  <a:pt x="1881" y="0"/>
                  <a:pt x="1199" y="26"/>
                  <a:pt x="972" y="36"/>
                </a:cubicBezTo>
                <a:cubicBezTo>
                  <a:pt x="745" y="46"/>
                  <a:pt x="752" y="65"/>
                  <a:pt x="746" y="78"/>
                </a:cubicBezTo>
                <a:cubicBezTo>
                  <a:pt x="740" y="91"/>
                  <a:pt x="897" y="107"/>
                  <a:pt x="937" y="114"/>
                </a:cubicBezTo>
              </a:path>
            </a:pathLst>
          </a:custGeom>
          <a:noFill/>
          <a:ln w="38100" cap="rnd" cmpd="sng">
            <a:solidFill>
              <a:srgbClr val="4CFF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hangingPunct="0">
              <a:defRPr/>
            </a:pPr>
            <a:endParaRPr lang="en-US" sz="1400">
              <a:solidFill>
                <a:srgbClr val="FFFFFF"/>
              </a:solidFill>
              <a:latin typeface="Avenir" panose="02000503020000020003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176132" name="Freeform 5">
            <a:extLst>
              <a:ext uri="{FF2B5EF4-FFF2-40B4-BE49-F238E27FC236}">
                <a16:creationId xmlns:a16="http://schemas.microsoft.com/office/drawing/2014/main" id="{B468C8D7-27BF-7A4D-AF39-DEE8E8AF4483}"/>
              </a:ext>
            </a:extLst>
          </p:cNvPr>
          <p:cNvSpPr>
            <a:spLocks/>
          </p:cNvSpPr>
          <p:nvPr/>
        </p:nvSpPr>
        <p:spPr bwMode="auto">
          <a:xfrm>
            <a:off x="3399235" y="478631"/>
            <a:ext cx="1077515" cy="3386138"/>
          </a:xfrm>
          <a:custGeom>
            <a:avLst/>
            <a:gdLst>
              <a:gd name="T0" fmla="*/ 0 w 905"/>
              <a:gd name="T1" fmla="*/ 0 h 2844"/>
              <a:gd name="T2" fmla="*/ 2147483646 w 905"/>
              <a:gd name="T3" fmla="*/ 2147483646 h 2844"/>
              <a:gd name="T4" fmla="*/ 2147483646 w 905"/>
              <a:gd name="T5" fmla="*/ 2147483646 h 2844"/>
              <a:gd name="T6" fmla="*/ 2147483646 w 905"/>
              <a:gd name="T7" fmla="*/ 2147483646 h 2844"/>
              <a:gd name="T8" fmla="*/ 2147483646 w 905"/>
              <a:gd name="T9" fmla="*/ 2147483646 h 28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05" h="2844">
                <a:moveTo>
                  <a:pt x="0" y="0"/>
                </a:moveTo>
                <a:cubicBezTo>
                  <a:pt x="11" y="103"/>
                  <a:pt x="30" y="394"/>
                  <a:pt x="64" y="609"/>
                </a:cubicBezTo>
                <a:cubicBezTo>
                  <a:pt x="98" y="824"/>
                  <a:pt x="136" y="1044"/>
                  <a:pt x="206" y="1288"/>
                </a:cubicBezTo>
                <a:cubicBezTo>
                  <a:pt x="276" y="1532"/>
                  <a:pt x="366" y="1815"/>
                  <a:pt x="482" y="2074"/>
                </a:cubicBezTo>
                <a:cubicBezTo>
                  <a:pt x="598" y="2333"/>
                  <a:pt x="817" y="2684"/>
                  <a:pt x="905" y="2844"/>
                </a:cubicBezTo>
              </a:path>
            </a:pathLst>
          </a:custGeom>
          <a:noFill/>
          <a:ln w="12700" cap="flat" cmpd="sng">
            <a:solidFill>
              <a:srgbClr val="FF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hangingPunct="0">
              <a:defRPr/>
            </a:pPr>
            <a:endParaRPr lang="en-US" sz="1400">
              <a:solidFill>
                <a:srgbClr val="FFFFFF"/>
              </a:solidFill>
              <a:latin typeface="Avenir" panose="02000503020000020003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176133" name="Freeform 6">
            <a:extLst>
              <a:ext uri="{FF2B5EF4-FFF2-40B4-BE49-F238E27FC236}">
                <a16:creationId xmlns:a16="http://schemas.microsoft.com/office/drawing/2014/main" id="{124F44DE-1438-6440-9236-04B065395D8A}"/>
              </a:ext>
            </a:extLst>
          </p:cNvPr>
          <p:cNvSpPr>
            <a:spLocks/>
          </p:cNvSpPr>
          <p:nvPr/>
        </p:nvSpPr>
        <p:spPr bwMode="auto">
          <a:xfrm>
            <a:off x="4382691" y="2475310"/>
            <a:ext cx="2824163" cy="1229915"/>
          </a:xfrm>
          <a:custGeom>
            <a:avLst/>
            <a:gdLst>
              <a:gd name="T0" fmla="*/ 0 w 1920"/>
              <a:gd name="T1" fmla="*/ 2147483646 h 805"/>
              <a:gd name="T2" fmla="*/ 2147483646 w 1920"/>
              <a:gd name="T3" fmla="*/ 2147483646 h 805"/>
              <a:gd name="T4" fmla="*/ 2147483646 w 1920"/>
              <a:gd name="T5" fmla="*/ 2147483646 h 805"/>
              <a:gd name="T6" fmla="*/ 2147483646 w 1920"/>
              <a:gd name="T7" fmla="*/ 2147483646 h 805"/>
              <a:gd name="T8" fmla="*/ 2147483646 w 1920"/>
              <a:gd name="T9" fmla="*/ 2147483646 h 805"/>
              <a:gd name="T10" fmla="*/ 2147483646 w 1920"/>
              <a:gd name="T11" fmla="*/ 2147483646 h 805"/>
              <a:gd name="T12" fmla="*/ 2147483646 w 1920"/>
              <a:gd name="T13" fmla="*/ 2147483646 h 805"/>
              <a:gd name="T14" fmla="*/ 2147483646 w 1920"/>
              <a:gd name="T15" fmla="*/ 2147483646 h 805"/>
              <a:gd name="T16" fmla="*/ 2147483646 w 1920"/>
              <a:gd name="T17" fmla="*/ 2147483646 h 805"/>
              <a:gd name="T18" fmla="*/ 2147483646 w 1920"/>
              <a:gd name="T19" fmla="*/ 2147483646 h 805"/>
              <a:gd name="T20" fmla="*/ 2147483646 w 1920"/>
              <a:gd name="T21" fmla="*/ 2147483646 h 805"/>
              <a:gd name="T22" fmla="*/ 2147483646 w 1920"/>
              <a:gd name="T23" fmla="*/ 2147483646 h 805"/>
              <a:gd name="T24" fmla="*/ 2147483646 w 1920"/>
              <a:gd name="T25" fmla="*/ 2147483646 h 805"/>
              <a:gd name="T26" fmla="*/ 2147483646 w 1920"/>
              <a:gd name="T27" fmla="*/ 2147483646 h 80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920" h="805">
                <a:moveTo>
                  <a:pt x="0" y="805"/>
                </a:moveTo>
                <a:cubicBezTo>
                  <a:pt x="96" y="609"/>
                  <a:pt x="192" y="413"/>
                  <a:pt x="240" y="325"/>
                </a:cubicBezTo>
                <a:cubicBezTo>
                  <a:pt x="288" y="237"/>
                  <a:pt x="296" y="293"/>
                  <a:pt x="288" y="277"/>
                </a:cubicBezTo>
                <a:cubicBezTo>
                  <a:pt x="280" y="261"/>
                  <a:pt x="208" y="245"/>
                  <a:pt x="192" y="229"/>
                </a:cubicBezTo>
                <a:cubicBezTo>
                  <a:pt x="176" y="213"/>
                  <a:pt x="136" y="197"/>
                  <a:pt x="192" y="181"/>
                </a:cubicBezTo>
                <a:cubicBezTo>
                  <a:pt x="248" y="165"/>
                  <a:pt x="352" y="133"/>
                  <a:pt x="528" y="133"/>
                </a:cubicBezTo>
                <a:cubicBezTo>
                  <a:pt x="704" y="133"/>
                  <a:pt x="1048" y="149"/>
                  <a:pt x="1248" y="181"/>
                </a:cubicBezTo>
                <a:cubicBezTo>
                  <a:pt x="1448" y="213"/>
                  <a:pt x="1632" y="277"/>
                  <a:pt x="1728" y="325"/>
                </a:cubicBezTo>
                <a:cubicBezTo>
                  <a:pt x="1824" y="373"/>
                  <a:pt x="1795" y="506"/>
                  <a:pt x="1824" y="469"/>
                </a:cubicBezTo>
                <a:cubicBezTo>
                  <a:pt x="1853" y="432"/>
                  <a:pt x="1920" y="177"/>
                  <a:pt x="1904" y="101"/>
                </a:cubicBezTo>
                <a:cubicBezTo>
                  <a:pt x="1888" y="25"/>
                  <a:pt x="1817" y="26"/>
                  <a:pt x="1728" y="13"/>
                </a:cubicBezTo>
                <a:cubicBezTo>
                  <a:pt x="1639" y="0"/>
                  <a:pt x="1449" y="9"/>
                  <a:pt x="1368" y="21"/>
                </a:cubicBezTo>
                <a:cubicBezTo>
                  <a:pt x="1287" y="33"/>
                  <a:pt x="1212" y="60"/>
                  <a:pt x="1240" y="85"/>
                </a:cubicBezTo>
                <a:cubicBezTo>
                  <a:pt x="1268" y="110"/>
                  <a:pt x="1474" y="155"/>
                  <a:pt x="1536" y="173"/>
                </a:cubicBezTo>
              </a:path>
            </a:pathLst>
          </a:custGeom>
          <a:noFill/>
          <a:ln w="38100" cap="flat" cmpd="sng">
            <a:solidFill>
              <a:srgbClr val="4C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hangingPunct="0">
              <a:defRPr/>
            </a:pPr>
            <a:endParaRPr lang="en-US" sz="1400">
              <a:solidFill>
                <a:srgbClr val="FFFFFF"/>
              </a:solidFill>
              <a:latin typeface="Avenir" panose="02000503020000020003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176134" name="Freeform 7">
            <a:extLst>
              <a:ext uri="{FF2B5EF4-FFF2-40B4-BE49-F238E27FC236}">
                <a16:creationId xmlns:a16="http://schemas.microsoft.com/office/drawing/2014/main" id="{27F156B5-F17E-2E41-A013-95B94041430A}"/>
              </a:ext>
            </a:extLst>
          </p:cNvPr>
          <p:cNvSpPr>
            <a:spLocks/>
          </p:cNvSpPr>
          <p:nvPr/>
        </p:nvSpPr>
        <p:spPr bwMode="auto">
          <a:xfrm>
            <a:off x="4405313" y="2472929"/>
            <a:ext cx="2845594" cy="1221581"/>
          </a:xfrm>
          <a:custGeom>
            <a:avLst/>
            <a:gdLst>
              <a:gd name="T0" fmla="*/ 0 w 1958"/>
              <a:gd name="T1" fmla="*/ 2147483646 h 800"/>
              <a:gd name="T2" fmla="*/ 2147483646 w 1958"/>
              <a:gd name="T3" fmla="*/ 2147483646 h 800"/>
              <a:gd name="T4" fmla="*/ 2147483646 w 1958"/>
              <a:gd name="T5" fmla="*/ 2147483646 h 800"/>
              <a:gd name="T6" fmla="*/ 2147483646 w 1958"/>
              <a:gd name="T7" fmla="*/ 2147483646 h 800"/>
              <a:gd name="T8" fmla="*/ 2147483646 w 1958"/>
              <a:gd name="T9" fmla="*/ 2147483646 h 800"/>
              <a:gd name="T10" fmla="*/ 2147483646 w 1958"/>
              <a:gd name="T11" fmla="*/ 2147483646 h 800"/>
              <a:gd name="T12" fmla="*/ 2147483646 w 1958"/>
              <a:gd name="T13" fmla="*/ 2147483646 h 800"/>
              <a:gd name="T14" fmla="*/ 2147483646 w 1958"/>
              <a:gd name="T15" fmla="*/ 2147483646 h 800"/>
              <a:gd name="T16" fmla="*/ 2147483646 w 1958"/>
              <a:gd name="T17" fmla="*/ 2147483646 h 800"/>
              <a:gd name="T18" fmla="*/ 2147483646 w 1958"/>
              <a:gd name="T19" fmla="*/ 0 h 8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58" h="800">
                <a:moveTo>
                  <a:pt x="0" y="800"/>
                </a:moveTo>
                <a:cubicBezTo>
                  <a:pt x="96" y="606"/>
                  <a:pt x="194" y="414"/>
                  <a:pt x="240" y="326"/>
                </a:cubicBezTo>
                <a:cubicBezTo>
                  <a:pt x="286" y="238"/>
                  <a:pt x="284" y="313"/>
                  <a:pt x="278" y="272"/>
                </a:cubicBezTo>
                <a:cubicBezTo>
                  <a:pt x="272" y="231"/>
                  <a:pt x="206" y="246"/>
                  <a:pt x="192" y="231"/>
                </a:cubicBezTo>
                <a:cubicBezTo>
                  <a:pt x="178" y="216"/>
                  <a:pt x="136" y="197"/>
                  <a:pt x="192" y="184"/>
                </a:cubicBezTo>
                <a:cubicBezTo>
                  <a:pt x="248" y="171"/>
                  <a:pt x="351" y="147"/>
                  <a:pt x="529" y="150"/>
                </a:cubicBezTo>
                <a:cubicBezTo>
                  <a:pt x="707" y="153"/>
                  <a:pt x="1058" y="170"/>
                  <a:pt x="1259" y="203"/>
                </a:cubicBezTo>
                <a:cubicBezTo>
                  <a:pt x="1460" y="236"/>
                  <a:pt x="1638" y="301"/>
                  <a:pt x="1734" y="347"/>
                </a:cubicBezTo>
                <a:cubicBezTo>
                  <a:pt x="1830" y="393"/>
                  <a:pt x="1798" y="538"/>
                  <a:pt x="1835" y="480"/>
                </a:cubicBezTo>
                <a:cubicBezTo>
                  <a:pt x="1872" y="422"/>
                  <a:pt x="1942" y="176"/>
                  <a:pt x="1958" y="0"/>
                </a:cubicBezTo>
              </a:path>
            </a:pathLst>
          </a:custGeom>
          <a:noFill/>
          <a:ln w="38100" cmpd="sng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hangingPunct="0">
              <a:defRPr/>
            </a:pPr>
            <a:endParaRPr lang="en-US" sz="1400">
              <a:solidFill>
                <a:srgbClr val="FFFFFF"/>
              </a:solidFill>
              <a:latin typeface="Avenir" panose="02000503020000020003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176135" name="AutoShape 8">
            <a:extLst>
              <a:ext uri="{FF2B5EF4-FFF2-40B4-BE49-F238E27FC236}">
                <a16:creationId xmlns:a16="http://schemas.microsoft.com/office/drawing/2014/main" id="{94D2D73B-B840-444B-BEC2-DA98F3060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5444" y="2426494"/>
            <a:ext cx="139304" cy="139304"/>
          </a:xfrm>
          <a:prstGeom prst="irregularSeal1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400" b="0">
              <a:solidFill>
                <a:srgbClr val="FFFFFF"/>
              </a:solidFill>
              <a:latin typeface="Avenir" panose="02000503020000020003" pitchFamily="2" charset="0"/>
            </a:endParaRPr>
          </a:p>
        </p:txBody>
      </p:sp>
      <p:sp>
        <p:nvSpPr>
          <p:cNvPr id="176136" name="AutoShape 9">
            <a:extLst>
              <a:ext uri="{FF2B5EF4-FFF2-40B4-BE49-F238E27FC236}">
                <a16:creationId xmlns:a16="http://schemas.microsoft.com/office/drawing/2014/main" id="{8DF9CDA7-13BF-E940-BBB9-53449547C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8519" y="2427685"/>
            <a:ext cx="139304" cy="139303"/>
          </a:xfrm>
          <a:prstGeom prst="irregularSeal1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400" b="0">
              <a:solidFill>
                <a:srgbClr val="FFFFFF"/>
              </a:solidFill>
              <a:latin typeface="Avenir" panose="02000503020000020003" pitchFamily="2" charset="0"/>
            </a:endParaRPr>
          </a:p>
        </p:txBody>
      </p:sp>
      <p:sp>
        <p:nvSpPr>
          <p:cNvPr id="66" name="Oval 10">
            <a:extLst>
              <a:ext uri="{FF2B5EF4-FFF2-40B4-BE49-F238E27FC236}">
                <a16:creationId xmlns:a16="http://schemas.microsoft.com/office/drawing/2014/main" id="{D93BC2BA-425B-A647-A21C-172CE7CFE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304" y="3612356"/>
            <a:ext cx="139303" cy="139304"/>
          </a:xfrm>
          <a:prstGeom prst="ellipse">
            <a:avLst/>
          </a:prstGeom>
          <a:solidFill>
            <a:srgbClr val="BBE0E3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kern="0">
              <a:solidFill>
                <a:srgbClr val="FFFFFF"/>
              </a:solidFill>
              <a:latin typeface="Avenir" panose="02000503020000020003" pitchFamily="2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7" name="Text Box 11">
            <a:extLst>
              <a:ext uri="{FF2B5EF4-FFF2-40B4-BE49-F238E27FC236}">
                <a16:creationId xmlns:a16="http://schemas.microsoft.com/office/drawing/2014/main" id="{C1E3B859-18B5-9244-A54A-13293A39E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3307" y="3615928"/>
            <a:ext cx="859531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8-20 M</a:t>
            </a:r>
            <a:r>
              <a:rPr lang="en-US" sz="1400" kern="0" baseline="-2500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  <a:sym typeface="Wingdings" charset="0"/>
              </a:rPr>
              <a:t></a:t>
            </a:r>
            <a:endParaRPr lang="en-US" sz="1400" kern="0">
              <a:solidFill>
                <a:srgbClr val="FFFFFF"/>
              </a:solidFill>
              <a:latin typeface="Avenir" panose="02000503020000020003" pitchFamily="2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6139" name="AutoShape 12">
            <a:extLst>
              <a:ext uri="{FF2B5EF4-FFF2-40B4-BE49-F238E27FC236}">
                <a16:creationId xmlns:a16="http://schemas.microsoft.com/office/drawing/2014/main" id="{6EF2E09A-9242-AF42-956D-E07D12BF5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2966" y="2672954"/>
            <a:ext cx="139303" cy="139303"/>
          </a:xfrm>
          <a:prstGeom prst="irregularSeal1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400" b="0">
              <a:solidFill>
                <a:srgbClr val="FFFFFF"/>
              </a:solidFill>
              <a:latin typeface="Avenir" panose="02000503020000020003" pitchFamily="2" charset="0"/>
            </a:endParaRPr>
          </a:p>
        </p:txBody>
      </p:sp>
      <p:sp>
        <p:nvSpPr>
          <p:cNvPr id="176140" name="Freeform 13">
            <a:extLst>
              <a:ext uri="{FF2B5EF4-FFF2-40B4-BE49-F238E27FC236}">
                <a16:creationId xmlns:a16="http://schemas.microsoft.com/office/drawing/2014/main" id="{5F3F8C8F-6B28-8A47-8C92-31F95D4EF97F}"/>
              </a:ext>
            </a:extLst>
          </p:cNvPr>
          <p:cNvSpPr>
            <a:spLocks/>
          </p:cNvSpPr>
          <p:nvPr/>
        </p:nvSpPr>
        <p:spPr bwMode="auto">
          <a:xfrm>
            <a:off x="3423048" y="495300"/>
            <a:ext cx="1739503" cy="382191"/>
          </a:xfrm>
          <a:custGeom>
            <a:avLst/>
            <a:gdLst>
              <a:gd name="T0" fmla="*/ 0 w 1461"/>
              <a:gd name="T1" fmla="*/ 2147483646 h 611"/>
              <a:gd name="T2" fmla="*/ 2147483646 w 1461"/>
              <a:gd name="T3" fmla="*/ 2147483646 h 611"/>
              <a:gd name="T4" fmla="*/ 2147483646 w 1461"/>
              <a:gd name="T5" fmla="*/ 2147483646 h 611"/>
              <a:gd name="T6" fmla="*/ 2147483646 w 1461"/>
              <a:gd name="T7" fmla="*/ 2147483646 h 611"/>
              <a:gd name="T8" fmla="*/ 2147483646 w 1461"/>
              <a:gd name="T9" fmla="*/ 2147483646 h 611"/>
              <a:gd name="T10" fmla="*/ 2147483646 w 1461"/>
              <a:gd name="T11" fmla="*/ 0 h 61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61" h="611">
                <a:moveTo>
                  <a:pt x="0" y="611"/>
                </a:moveTo>
                <a:cubicBezTo>
                  <a:pt x="25" y="569"/>
                  <a:pt x="112" y="419"/>
                  <a:pt x="151" y="361"/>
                </a:cubicBezTo>
                <a:cubicBezTo>
                  <a:pt x="190" y="303"/>
                  <a:pt x="227" y="294"/>
                  <a:pt x="236" y="262"/>
                </a:cubicBezTo>
                <a:cubicBezTo>
                  <a:pt x="245" y="230"/>
                  <a:pt x="140" y="201"/>
                  <a:pt x="208" y="170"/>
                </a:cubicBezTo>
                <a:cubicBezTo>
                  <a:pt x="276" y="139"/>
                  <a:pt x="438" y="106"/>
                  <a:pt x="647" y="78"/>
                </a:cubicBezTo>
                <a:cubicBezTo>
                  <a:pt x="856" y="50"/>
                  <a:pt x="1325" y="13"/>
                  <a:pt x="1461" y="0"/>
                </a:cubicBezTo>
              </a:path>
            </a:pathLst>
          </a:custGeom>
          <a:noFill/>
          <a:ln w="38100" cmpd="sng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hangingPunct="0">
              <a:defRPr/>
            </a:pPr>
            <a:endParaRPr lang="en-US" sz="1400">
              <a:solidFill>
                <a:srgbClr val="FFFFFF"/>
              </a:solidFill>
              <a:latin typeface="Avenir" panose="02000503020000020003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70" name="Oval 14">
            <a:extLst>
              <a:ext uri="{FF2B5EF4-FFF2-40B4-BE49-F238E27FC236}">
                <a16:creationId xmlns:a16="http://schemas.microsoft.com/office/drawing/2014/main" id="{70C55C66-FA2B-6048-949E-9A67632D0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4706" y="792956"/>
            <a:ext cx="139304" cy="139304"/>
          </a:xfrm>
          <a:prstGeom prst="ellipse">
            <a:avLst/>
          </a:prstGeom>
          <a:solidFill>
            <a:srgbClr val="BBE0E3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kern="0">
              <a:solidFill>
                <a:srgbClr val="FFFFFF"/>
              </a:solidFill>
              <a:latin typeface="Avenir" panose="02000503020000020003" pitchFamily="2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6142" name="Freeform 15">
            <a:extLst>
              <a:ext uri="{FF2B5EF4-FFF2-40B4-BE49-F238E27FC236}">
                <a16:creationId xmlns:a16="http://schemas.microsoft.com/office/drawing/2014/main" id="{39299DFB-07D9-9543-B5A0-596C47D164A6}"/>
              </a:ext>
            </a:extLst>
          </p:cNvPr>
          <p:cNvSpPr>
            <a:spLocks/>
          </p:cNvSpPr>
          <p:nvPr/>
        </p:nvSpPr>
        <p:spPr bwMode="auto">
          <a:xfrm>
            <a:off x="3587353" y="1054894"/>
            <a:ext cx="1824038" cy="795338"/>
          </a:xfrm>
          <a:custGeom>
            <a:avLst/>
            <a:gdLst>
              <a:gd name="T0" fmla="*/ 0 w 1461"/>
              <a:gd name="T1" fmla="*/ 2147483646 h 611"/>
              <a:gd name="T2" fmla="*/ 2147483646 w 1461"/>
              <a:gd name="T3" fmla="*/ 2147483646 h 611"/>
              <a:gd name="T4" fmla="*/ 2147483646 w 1461"/>
              <a:gd name="T5" fmla="*/ 2147483646 h 611"/>
              <a:gd name="T6" fmla="*/ 2147483646 w 1461"/>
              <a:gd name="T7" fmla="*/ 2147483646 h 611"/>
              <a:gd name="T8" fmla="*/ 2147483646 w 1461"/>
              <a:gd name="T9" fmla="*/ 2147483646 h 611"/>
              <a:gd name="T10" fmla="*/ 2147483646 w 1461"/>
              <a:gd name="T11" fmla="*/ 0 h 61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61" h="611">
                <a:moveTo>
                  <a:pt x="0" y="611"/>
                </a:moveTo>
                <a:cubicBezTo>
                  <a:pt x="25" y="569"/>
                  <a:pt x="112" y="419"/>
                  <a:pt x="151" y="361"/>
                </a:cubicBezTo>
                <a:cubicBezTo>
                  <a:pt x="190" y="303"/>
                  <a:pt x="227" y="294"/>
                  <a:pt x="236" y="262"/>
                </a:cubicBezTo>
                <a:cubicBezTo>
                  <a:pt x="245" y="230"/>
                  <a:pt x="140" y="201"/>
                  <a:pt x="208" y="170"/>
                </a:cubicBezTo>
                <a:cubicBezTo>
                  <a:pt x="276" y="139"/>
                  <a:pt x="438" y="106"/>
                  <a:pt x="647" y="78"/>
                </a:cubicBezTo>
                <a:cubicBezTo>
                  <a:pt x="856" y="50"/>
                  <a:pt x="1325" y="13"/>
                  <a:pt x="1461" y="0"/>
                </a:cubicBezTo>
              </a:path>
            </a:pathLst>
          </a:custGeom>
          <a:noFill/>
          <a:ln w="38100" cmpd="sng">
            <a:solidFill>
              <a:srgbClr val="FFF7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hangingPunct="0">
              <a:defRPr/>
            </a:pPr>
            <a:endParaRPr lang="en-US" sz="1400">
              <a:solidFill>
                <a:srgbClr val="FFFFFF"/>
              </a:solidFill>
              <a:latin typeface="Avenir" panose="02000503020000020003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72" name="Oval 16">
            <a:extLst>
              <a:ext uri="{FF2B5EF4-FFF2-40B4-BE49-F238E27FC236}">
                <a16:creationId xmlns:a16="http://schemas.microsoft.com/office/drawing/2014/main" id="{74D4E58F-522B-BC44-98F9-EB9115DB0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012" y="1765698"/>
            <a:ext cx="139304" cy="139303"/>
          </a:xfrm>
          <a:prstGeom prst="ellipse">
            <a:avLst/>
          </a:prstGeom>
          <a:solidFill>
            <a:srgbClr val="BBE0E3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kern="0">
              <a:solidFill>
                <a:srgbClr val="FFFFFF"/>
              </a:solidFill>
              <a:latin typeface="Avenir" panose="02000503020000020003" pitchFamily="2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6144" name="Freeform 17">
            <a:extLst>
              <a:ext uri="{FF2B5EF4-FFF2-40B4-BE49-F238E27FC236}">
                <a16:creationId xmlns:a16="http://schemas.microsoft.com/office/drawing/2014/main" id="{CD40B786-CFE5-E647-B4E8-9D8775BA705F}"/>
              </a:ext>
            </a:extLst>
          </p:cNvPr>
          <p:cNvSpPr>
            <a:spLocks/>
          </p:cNvSpPr>
          <p:nvPr/>
        </p:nvSpPr>
        <p:spPr bwMode="auto">
          <a:xfrm>
            <a:off x="3996929" y="1834754"/>
            <a:ext cx="3343275" cy="1097756"/>
          </a:xfrm>
          <a:custGeom>
            <a:avLst/>
            <a:gdLst>
              <a:gd name="T0" fmla="*/ 0 w 2808"/>
              <a:gd name="T1" fmla="*/ 2147483646 h 745"/>
              <a:gd name="T2" fmla="*/ 2147483646 w 2808"/>
              <a:gd name="T3" fmla="*/ 2147483646 h 745"/>
              <a:gd name="T4" fmla="*/ 2147483646 w 2808"/>
              <a:gd name="T5" fmla="*/ 2147483646 h 745"/>
              <a:gd name="T6" fmla="*/ 2147483646 w 2808"/>
              <a:gd name="T7" fmla="*/ 2147483646 h 745"/>
              <a:gd name="T8" fmla="*/ 2147483646 w 2808"/>
              <a:gd name="T9" fmla="*/ 2147483646 h 745"/>
              <a:gd name="T10" fmla="*/ 2147483646 w 2808"/>
              <a:gd name="T11" fmla="*/ 2147483646 h 745"/>
              <a:gd name="T12" fmla="*/ 2147483646 w 2808"/>
              <a:gd name="T13" fmla="*/ 2147483646 h 745"/>
              <a:gd name="T14" fmla="*/ 2147483646 w 2808"/>
              <a:gd name="T15" fmla="*/ 2147483646 h 745"/>
              <a:gd name="T16" fmla="*/ 2147483646 w 2808"/>
              <a:gd name="T17" fmla="*/ 0 h 74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808" h="745">
                <a:moveTo>
                  <a:pt x="0" y="745"/>
                </a:moveTo>
                <a:cubicBezTo>
                  <a:pt x="39" y="671"/>
                  <a:pt x="189" y="385"/>
                  <a:pt x="235" y="298"/>
                </a:cubicBezTo>
                <a:cubicBezTo>
                  <a:pt x="281" y="211"/>
                  <a:pt x="285" y="240"/>
                  <a:pt x="278" y="220"/>
                </a:cubicBezTo>
                <a:cubicBezTo>
                  <a:pt x="271" y="200"/>
                  <a:pt x="206" y="191"/>
                  <a:pt x="192" y="176"/>
                </a:cubicBezTo>
                <a:cubicBezTo>
                  <a:pt x="178" y="161"/>
                  <a:pt x="136" y="142"/>
                  <a:pt x="192" y="129"/>
                </a:cubicBezTo>
                <a:cubicBezTo>
                  <a:pt x="248" y="116"/>
                  <a:pt x="348" y="96"/>
                  <a:pt x="529" y="95"/>
                </a:cubicBezTo>
                <a:cubicBezTo>
                  <a:pt x="710" y="94"/>
                  <a:pt x="937" y="120"/>
                  <a:pt x="1276" y="121"/>
                </a:cubicBezTo>
                <a:cubicBezTo>
                  <a:pt x="1615" y="122"/>
                  <a:pt x="2320" y="120"/>
                  <a:pt x="2564" y="100"/>
                </a:cubicBezTo>
                <a:cubicBezTo>
                  <a:pt x="2808" y="80"/>
                  <a:pt x="2704" y="21"/>
                  <a:pt x="2741" y="0"/>
                </a:cubicBezTo>
              </a:path>
            </a:pathLst>
          </a:custGeom>
          <a:noFill/>
          <a:ln w="38100" cmpd="sng">
            <a:solidFill>
              <a:srgbClr val="FFA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hangingPunct="0">
              <a:defRPr/>
            </a:pPr>
            <a:endParaRPr lang="en-US" sz="1400">
              <a:solidFill>
                <a:srgbClr val="FFFFFF"/>
              </a:solidFill>
              <a:latin typeface="Avenir" panose="02000503020000020003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74" name="Oval 18">
            <a:extLst>
              <a:ext uri="{FF2B5EF4-FFF2-40B4-BE49-F238E27FC236}">
                <a16:creationId xmlns:a16="http://schemas.microsoft.com/office/drawing/2014/main" id="{16C56AEF-EC2A-4442-BC46-540D9A1E8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2875360"/>
            <a:ext cx="139304" cy="139303"/>
          </a:xfrm>
          <a:prstGeom prst="ellipse">
            <a:avLst/>
          </a:prstGeom>
          <a:solidFill>
            <a:srgbClr val="BBE0E3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kern="0">
              <a:solidFill>
                <a:srgbClr val="FFFFFF"/>
              </a:solidFill>
              <a:latin typeface="Avenir" panose="02000503020000020003" pitchFamily="2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5" name="Text Box 19">
            <a:extLst>
              <a:ext uri="{FF2B5EF4-FFF2-40B4-BE49-F238E27FC236}">
                <a16:creationId xmlns:a16="http://schemas.microsoft.com/office/drawing/2014/main" id="{35D8E0B0-6377-4D42-A691-A520C64DE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575" y="2738437"/>
            <a:ext cx="958917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30-35 M</a:t>
            </a:r>
            <a:r>
              <a:rPr lang="en-US" sz="1400" kern="0" baseline="-2500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  <a:sym typeface="Wingdings" charset="0"/>
              </a:rPr>
              <a:t></a:t>
            </a:r>
            <a:endParaRPr lang="en-US" sz="1400" kern="0">
              <a:solidFill>
                <a:srgbClr val="FFFFFF"/>
              </a:solidFill>
              <a:latin typeface="Avenir" panose="02000503020000020003" pitchFamily="2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6" name="Text Box 20">
            <a:extLst>
              <a:ext uri="{FF2B5EF4-FFF2-40B4-BE49-F238E27FC236}">
                <a16:creationId xmlns:a16="http://schemas.microsoft.com/office/drawing/2014/main" id="{ADC54167-7F14-364D-9595-5F66750FE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806" y="1806178"/>
            <a:ext cx="700833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60 M</a:t>
            </a:r>
            <a:r>
              <a:rPr lang="en-US" sz="1400" kern="0" baseline="-2500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  <a:sym typeface="Wingdings" charset="0"/>
              </a:rPr>
              <a:t></a:t>
            </a:r>
            <a:endParaRPr lang="en-US" sz="1400" kern="0">
              <a:solidFill>
                <a:srgbClr val="FFFFFF"/>
              </a:solidFill>
              <a:latin typeface="Avenir" panose="02000503020000020003" pitchFamily="2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7" name="Text Box 21">
            <a:extLst>
              <a:ext uri="{FF2B5EF4-FFF2-40B4-BE49-F238E27FC236}">
                <a16:creationId xmlns:a16="http://schemas.microsoft.com/office/drawing/2014/main" id="{5D943DEB-1A60-A246-B81E-54A77E723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912" y="812006"/>
            <a:ext cx="800219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120 M</a:t>
            </a:r>
            <a:r>
              <a:rPr lang="en-US" sz="1400" kern="0" baseline="-2500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  <a:sym typeface="Wingdings" charset="0"/>
              </a:rPr>
              <a:t></a:t>
            </a:r>
            <a:endParaRPr lang="en-US" sz="1400" kern="0">
              <a:solidFill>
                <a:srgbClr val="FFFFFF"/>
              </a:solidFill>
              <a:latin typeface="Avenir" panose="02000503020000020003" pitchFamily="2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8" name="Text Box 22">
            <a:extLst>
              <a:ext uri="{FF2B5EF4-FFF2-40B4-BE49-F238E27FC236}">
                <a16:creationId xmlns:a16="http://schemas.microsoft.com/office/drawing/2014/main" id="{EA5D6E6B-F6C7-3746-B315-74C45D32F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0181" y="660798"/>
            <a:ext cx="448904" cy="28632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500" tIns="35100" rIns="67500" bIns="3510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kern="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LBV</a:t>
            </a:r>
          </a:p>
        </p:txBody>
      </p:sp>
      <p:sp>
        <p:nvSpPr>
          <p:cNvPr id="79" name="Text Box 23">
            <a:extLst>
              <a:ext uri="{FF2B5EF4-FFF2-40B4-BE49-F238E27FC236}">
                <a16:creationId xmlns:a16="http://schemas.microsoft.com/office/drawing/2014/main" id="{18346542-183B-A24D-B791-AADA5EFC8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282" y="1839516"/>
            <a:ext cx="1011558" cy="28632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500" tIns="35100" rIns="67500" bIns="3510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kern="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Wolf-Rayet</a:t>
            </a:r>
          </a:p>
        </p:txBody>
      </p:sp>
      <p:sp>
        <p:nvSpPr>
          <p:cNvPr id="80" name="Text Box 24">
            <a:extLst>
              <a:ext uri="{FF2B5EF4-FFF2-40B4-BE49-F238E27FC236}">
                <a16:creationId xmlns:a16="http://schemas.microsoft.com/office/drawing/2014/main" id="{06454EA8-30DE-E946-A1C3-6ECDED52C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4192" y="2145506"/>
            <a:ext cx="867288" cy="28632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500" tIns="35100" rIns="67500" bIns="3510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kern="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BSG/LBV</a:t>
            </a:r>
          </a:p>
        </p:txBody>
      </p:sp>
      <p:sp>
        <p:nvSpPr>
          <p:cNvPr id="81" name="Text Box 25">
            <a:extLst>
              <a:ext uri="{FF2B5EF4-FFF2-40B4-BE49-F238E27FC236}">
                <a16:creationId xmlns:a16="http://schemas.microsoft.com/office/drawing/2014/main" id="{DCCFBD2D-C444-924C-9881-1B4BE71E3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2055019"/>
            <a:ext cx="480964" cy="28632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500" tIns="35100" rIns="67500" bIns="3510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kern="0" dirty="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RSG</a:t>
            </a:r>
          </a:p>
        </p:txBody>
      </p:sp>
      <p:sp>
        <p:nvSpPr>
          <p:cNvPr id="176153" name="AutoShape 26">
            <a:extLst>
              <a:ext uri="{FF2B5EF4-FFF2-40B4-BE49-F238E27FC236}">
                <a16:creationId xmlns:a16="http://schemas.microsoft.com/office/drawing/2014/main" id="{2F476768-C595-8B42-98F1-3D2135FA8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0185" y="1750219"/>
            <a:ext cx="139303" cy="139304"/>
          </a:xfrm>
          <a:prstGeom prst="irregularSeal1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400" b="0">
              <a:solidFill>
                <a:srgbClr val="FFFFFF"/>
              </a:solidFill>
              <a:latin typeface="Avenir" panose="02000503020000020003" pitchFamily="2" charset="0"/>
            </a:endParaRPr>
          </a:p>
        </p:txBody>
      </p:sp>
      <p:sp>
        <p:nvSpPr>
          <p:cNvPr id="176154" name="Line 27">
            <a:extLst>
              <a:ext uri="{FF2B5EF4-FFF2-40B4-BE49-F238E27FC236}">
                <a16:creationId xmlns:a16="http://schemas.microsoft.com/office/drawing/2014/main" id="{0AB8DA0B-02C4-A540-AFE0-58ED49231F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4829" y="567929"/>
            <a:ext cx="2731294" cy="1307306"/>
          </a:xfrm>
          <a:prstGeom prst="line">
            <a:avLst/>
          </a:prstGeom>
          <a:noFill/>
          <a:ln w="38100">
            <a:solidFill>
              <a:srgbClr val="00FF0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defTabSz="685800" eaLnBrk="0" hangingPunct="0">
              <a:defRPr/>
            </a:pPr>
            <a:endParaRPr lang="en-US" sz="1400">
              <a:solidFill>
                <a:srgbClr val="FFFFFF"/>
              </a:solidFill>
              <a:latin typeface="Avenir" panose="02000503020000020003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176155" name="AutoShape 28">
            <a:extLst>
              <a:ext uri="{FF2B5EF4-FFF2-40B4-BE49-F238E27FC236}">
                <a16:creationId xmlns:a16="http://schemas.microsoft.com/office/drawing/2014/main" id="{B1F311DD-D55D-0E47-8C67-7796D92D3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4462" y="450056"/>
            <a:ext cx="139304" cy="139304"/>
          </a:xfrm>
          <a:prstGeom prst="irregularSeal1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400" b="0">
              <a:solidFill>
                <a:srgbClr val="FFFFFF"/>
              </a:solidFill>
              <a:latin typeface="Avenir" panose="02000503020000020003" pitchFamily="2" charset="0"/>
            </a:endParaRPr>
          </a:p>
        </p:txBody>
      </p:sp>
      <p:sp>
        <p:nvSpPr>
          <p:cNvPr id="85" name="Text Box 29">
            <a:extLst>
              <a:ext uri="{FF2B5EF4-FFF2-40B4-BE49-F238E27FC236}">
                <a16:creationId xmlns:a16="http://schemas.microsoft.com/office/drawing/2014/main" id="{3BECDE36-1942-744C-A54E-40CB46A8A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5716" y="1763316"/>
            <a:ext cx="508215" cy="28632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500" tIns="35100" rIns="67500" bIns="3510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kern="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YHG</a:t>
            </a:r>
          </a:p>
        </p:txBody>
      </p:sp>
      <p:sp>
        <p:nvSpPr>
          <p:cNvPr id="176157" name="AutoShape 30">
            <a:extLst>
              <a:ext uri="{FF2B5EF4-FFF2-40B4-BE49-F238E27FC236}">
                <a16:creationId xmlns:a16="http://schemas.microsoft.com/office/drawing/2014/main" id="{55531A59-83BF-E641-BEBF-704058348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331" y="2107406"/>
            <a:ext cx="139304" cy="139304"/>
          </a:xfrm>
          <a:prstGeom prst="irregularSeal1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400" b="0">
              <a:solidFill>
                <a:srgbClr val="FFFFFF"/>
              </a:solidFill>
              <a:latin typeface="Avenir" panose="02000503020000020003" pitchFamily="2" charset="0"/>
            </a:endParaRPr>
          </a:p>
        </p:txBody>
      </p:sp>
      <p:grpSp>
        <p:nvGrpSpPr>
          <p:cNvPr id="176158" name="Group 31">
            <a:extLst>
              <a:ext uri="{FF2B5EF4-FFF2-40B4-BE49-F238E27FC236}">
                <a16:creationId xmlns:a16="http://schemas.microsoft.com/office/drawing/2014/main" id="{B9D9F203-52D2-6C4B-8100-7D5F979F637F}"/>
              </a:ext>
            </a:extLst>
          </p:cNvPr>
          <p:cNvGrpSpPr>
            <a:grpSpLocks/>
          </p:cNvGrpSpPr>
          <p:nvPr/>
        </p:nvGrpSpPr>
        <p:grpSpPr bwMode="auto">
          <a:xfrm>
            <a:off x="6210300" y="1762126"/>
            <a:ext cx="846535" cy="183356"/>
            <a:chOff x="4408" y="1824"/>
            <a:chExt cx="711" cy="154"/>
          </a:xfrm>
        </p:grpSpPr>
        <p:sp>
          <p:nvSpPr>
            <p:cNvPr id="176181" name="AutoShape 32">
              <a:extLst>
                <a:ext uri="{FF2B5EF4-FFF2-40B4-BE49-F238E27FC236}">
                  <a16:creationId xmlns:a16="http://schemas.microsoft.com/office/drawing/2014/main" id="{6A61468F-06A5-0C4C-A228-53F091600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4" y="1824"/>
              <a:ext cx="335" cy="15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53 w 21600"/>
                <a:gd name="T13" fmla="*/ 6592 h 21600"/>
                <a:gd name="T14" fmla="*/ 19021 w 21600"/>
                <a:gd name="T15" fmla="*/ 1500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5067" y="0"/>
                  </a:moveTo>
                  <a:lnTo>
                    <a:pt x="15067" y="6565"/>
                  </a:lnTo>
                  <a:lnTo>
                    <a:pt x="3375" y="6565"/>
                  </a:lnTo>
                  <a:lnTo>
                    <a:pt x="3375" y="15035"/>
                  </a:lnTo>
                  <a:lnTo>
                    <a:pt x="15067" y="15035"/>
                  </a:lnTo>
                  <a:lnTo>
                    <a:pt x="15067" y="21600"/>
                  </a:lnTo>
                  <a:lnTo>
                    <a:pt x="21600" y="10800"/>
                  </a:lnTo>
                  <a:lnTo>
                    <a:pt x="15067" y="0"/>
                  </a:lnTo>
                  <a:close/>
                </a:path>
                <a:path w="21600" h="21600">
                  <a:moveTo>
                    <a:pt x="1350" y="6565"/>
                  </a:moveTo>
                  <a:lnTo>
                    <a:pt x="1350" y="15035"/>
                  </a:lnTo>
                  <a:lnTo>
                    <a:pt x="2700" y="15035"/>
                  </a:lnTo>
                  <a:lnTo>
                    <a:pt x="2700" y="6565"/>
                  </a:lnTo>
                  <a:lnTo>
                    <a:pt x="1350" y="6565"/>
                  </a:lnTo>
                  <a:close/>
                </a:path>
                <a:path w="21600" h="21600">
                  <a:moveTo>
                    <a:pt x="0" y="6565"/>
                  </a:moveTo>
                  <a:lnTo>
                    <a:pt x="0" y="15035"/>
                  </a:lnTo>
                  <a:lnTo>
                    <a:pt x="675" y="15035"/>
                  </a:lnTo>
                  <a:lnTo>
                    <a:pt x="675" y="6565"/>
                  </a:lnTo>
                  <a:lnTo>
                    <a:pt x="0" y="6565"/>
                  </a:lnTo>
                  <a:close/>
                </a:path>
              </a:pathLst>
            </a:cu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 eaLnBrk="0" hangingPunct="0">
                <a:defRPr/>
              </a:pPr>
              <a:endParaRPr lang="en-US" sz="1400">
                <a:solidFill>
                  <a:srgbClr val="FFFFFF"/>
                </a:solidFill>
                <a:latin typeface="Avenir" panose="02000503020000020003" pitchFamily="2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6182" name="AutoShape 33">
              <a:extLst>
                <a:ext uri="{FF2B5EF4-FFF2-40B4-BE49-F238E27FC236}">
                  <a16:creationId xmlns:a16="http://schemas.microsoft.com/office/drawing/2014/main" id="{44FDBD8B-F1ED-0C42-A772-503817357F1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408" y="1824"/>
              <a:ext cx="335" cy="15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53 w 21600"/>
                <a:gd name="T13" fmla="*/ 6592 h 21600"/>
                <a:gd name="T14" fmla="*/ 19021 w 21600"/>
                <a:gd name="T15" fmla="*/ 1500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5067" y="0"/>
                  </a:moveTo>
                  <a:lnTo>
                    <a:pt x="15067" y="6565"/>
                  </a:lnTo>
                  <a:lnTo>
                    <a:pt x="3375" y="6565"/>
                  </a:lnTo>
                  <a:lnTo>
                    <a:pt x="3375" y="15035"/>
                  </a:lnTo>
                  <a:lnTo>
                    <a:pt x="15067" y="15035"/>
                  </a:lnTo>
                  <a:lnTo>
                    <a:pt x="15067" y="21600"/>
                  </a:lnTo>
                  <a:lnTo>
                    <a:pt x="21600" y="10800"/>
                  </a:lnTo>
                  <a:lnTo>
                    <a:pt x="15067" y="0"/>
                  </a:lnTo>
                  <a:close/>
                </a:path>
                <a:path w="21600" h="21600">
                  <a:moveTo>
                    <a:pt x="1350" y="6565"/>
                  </a:moveTo>
                  <a:lnTo>
                    <a:pt x="1350" y="15035"/>
                  </a:lnTo>
                  <a:lnTo>
                    <a:pt x="2700" y="15035"/>
                  </a:lnTo>
                  <a:lnTo>
                    <a:pt x="2700" y="6565"/>
                  </a:lnTo>
                  <a:lnTo>
                    <a:pt x="1350" y="6565"/>
                  </a:lnTo>
                  <a:close/>
                </a:path>
                <a:path w="21600" h="21600">
                  <a:moveTo>
                    <a:pt x="0" y="6565"/>
                  </a:moveTo>
                  <a:lnTo>
                    <a:pt x="0" y="15035"/>
                  </a:lnTo>
                  <a:lnTo>
                    <a:pt x="675" y="15035"/>
                  </a:lnTo>
                  <a:lnTo>
                    <a:pt x="675" y="6565"/>
                  </a:lnTo>
                  <a:lnTo>
                    <a:pt x="0" y="6565"/>
                  </a:lnTo>
                  <a:close/>
                </a:path>
              </a:pathLst>
            </a:cu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685800" eaLnBrk="0" hangingPunct="0">
                <a:defRPr/>
              </a:pPr>
              <a:endParaRPr lang="en-US" sz="1400">
                <a:solidFill>
                  <a:srgbClr val="FFFFFF"/>
                </a:solidFill>
                <a:latin typeface="Avenir" panose="02000503020000020003" pitchFamily="2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76159" name="AutoShape 34">
            <a:extLst>
              <a:ext uri="{FF2B5EF4-FFF2-40B4-BE49-F238E27FC236}">
                <a16:creationId xmlns:a16="http://schemas.microsoft.com/office/drawing/2014/main" id="{183CE508-B16A-1D43-928B-2242E283D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1162" y="1002506"/>
            <a:ext cx="139304" cy="139304"/>
          </a:xfrm>
          <a:prstGeom prst="irregularSeal1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400" b="0">
              <a:solidFill>
                <a:srgbClr val="FFFFFF"/>
              </a:solidFill>
              <a:latin typeface="Avenir" panose="02000503020000020003" pitchFamily="2" charset="0"/>
            </a:endParaRPr>
          </a:p>
        </p:txBody>
      </p:sp>
      <p:sp>
        <p:nvSpPr>
          <p:cNvPr id="91" name="Line 35">
            <a:extLst>
              <a:ext uri="{FF2B5EF4-FFF2-40B4-BE49-F238E27FC236}">
                <a16:creationId xmlns:a16="http://schemas.microsoft.com/office/drawing/2014/main" id="{1EF1C62A-E77C-F94F-8194-95100DF849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59017" y="2602706"/>
            <a:ext cx="29765" cy="277416"/>
          </a:xfrm>
          <a:prstGeom prst="line">
            <a:avLst/>
          </a:prstGeom>
          <a:noFill/>
          <a:ln w="9525">
            <a:solidFill>
              <a:srgbClr val="BBE0E3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wrap="none" anchor="ctr"/>
          <a:lstStyle/>
          <a:p>
            <a:pPr defTabSz="685800" eaLnBrk="0" hangingPunct="0">
              <a:defRPr/>
            </a:pPr>
            <a:endParaRPr lang="en-US" sz="1400">
              <a:solidFill>
                <a:srgbClr val="FFFFFF"/>
              </a:solidFill>
              <a:latin typeface="Avenir" panose="02000503020000020003" pitchFamily="2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2" name="Text Box 36">
            <a:extLst>
              <a:ext uri="{FF2B5EF4-FFF2-40B4-BE49-F238E27FC236}">
                <a16:creationId xmlns:a16="http://schemas.microsoft.com/office/drawing/2014/main" id="{9749EA23-3040-574F-AF2B-A0329CFAE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237" y="2853929"/>
            <a:ext cx="1166813" cy="258276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wrap="square">
            <a:spAutoFit/>
          </a:bodyPr>
          <a:lstStyle/>
          <a:p>
            <a:pPr algn="ctr" defTabSz="685800" fontAlgn="auto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II-pec (87A)</a:t>
            </a:r>
          </a:p>
        </p:txBody>
      </p:sp>
      <p:sp>
        <p:nvSpPr>
          <p:cNvPr id="93" name="Line 37">
            <a:extLst>
              <a:ext uri="{FF2B5EF4-FFF2-40B4-BE49-F238E27FC236}">
                <a16:creationId xmlns:a16="http://schemas.microsoft.com/office/drawing/2014/main" id="{889C3046-6AA4-CB4C-BFC5-C3F19D9D32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22232" y="2759869"/>
            <a:ext cx="59531" cy="404813"/>
          </a:xfrm>
          <a:prstGeom prst="line">
            <a:avLst/>
          </a:prstGeom>
          <a:noFill/>
          <a:ln w="9525">
            <a:solidFill>
              <a:srgbClr val="BBE0E3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wrap="none" anchor="ctr"/>
          <a:lstStyle/>
          <a:p>
            <a:pPr defTabSz="685800" eaLnBrk="0" hangingPunct="0">
              <a:defRPr/>
            </a:pPr>
            <a:endParaRPr lang="en-US" sz="1400">
              <a:solidFill>
                <a:srgbClr val="FFFFFF"/>
              </a:solidFill>
              <a:latin typeface="Avenir" panose="02000503020000020003" pitchFamily="2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176163" name="Picture 38" descr="sn87a_acs">
            <a:extLst>
              <a:ext uri="{FF2B5EF4-FFF2-40B4-BE49-F238E27FC236}">
                <a16:creationId xmlns:a16="http://schemas.microsoft.com/office/drawing/2014/main" id="{62A6B1A8-B6AA-9F4A-AB9E-BD8D9F52C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contras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7769" y="3069432"/>
            <a:ext cx="465535" cy="503635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Text Box 39">
            <a:extLst>
              <a:ext uri="{FF2B5EF4-FFF2-40B4-BE49-F238E27FC236}">
                <a16:creationId xmlns:a16="http://schemas.microsoft.com/office/drawing/2014/main" id="{C770C242-546A-C448-921F-181DC3226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3310" y="3246835"/>
            <a:ext cx="1820465" cy="699935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>
            <a:spAutoFit/>
          </a:bodyPr>
          <a:lstStyle/>
          <a:p>
            <a:pPr algn="ctr" defTabSz="685800" fontAlgn="auto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 dirty="0" err="1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IIb</a:t>
            </a:r>
            <a:endParaRPr lang="en-US" sz="1400" kern="0" dirty="0">
              <a:solidFill>
                <a:srgbClr val="FFFFFF"/>
              </a:solidFill>
              <a:latin typeface="Avenir" panose="02000503020000020003" pitchFamily="2" charset="0"/>
              <a:ea typeface="ＭＳ Ｐゴシック" charset="0"/>
              <a:cs typeface="ＭＳ Ｐゴシック" charset="0"/>
            </a:endParaRPr>
          </a:p>
          <a:p>
            <a:pPr algn="ctr" defTabSz="685800" fontAlgn="auto">
              <a:lnSpc>
                <a:spcPct val="5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(1993J, SN 2011dh)</a:t>
            </a:r>
          </a:p>
          <a:p>
            <a:pPr algn="ctr" defTabSz="685800" fontAlgn="auto">
              <a:lnSpc>
                <a:spcPct val="5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 dirty="0" err="1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Cas</a:t>
            </a:r>
            <a:r>
              <a:rPr lang="en-US" sz="1400" kern="0" dirty="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 A</a:t>
            </a:r>
          </a:p>
        </p:txBody>
      </p:sp>
      <p:sp>
        <p:nvSpPr>
          <p:cNvPr id="96" name="Text Box 40">
            <a:extLst>
              <a:ext uri="{FF2B5EF4-FFF2-40B4-BE49-F238E27FC236}">
                <a16:creationId xmlns:a16="http://schemas.microsoft.com/office/drawing/2014/main" id="{9E67E724-2E71-564F-BC41-51FE8DDEF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0992" y="2530079"/>
            <a:ext cx="534590" cy="29059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>
            <a:spAutoFit/>
          </a:bodyPr>
          <a:lstStyle/>
          <a:p>
            <a:pPr defTabSz="685800"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Ib/c</a:t>
            </a:r>
          </a:p>
        </p:txBody>
      </p:sp>
      <p:sp>
        <p:nvSpPr>
          <p:cNvPr id="97" name="Text Box 41">
            <a:extLst>
              <a:ext uri="{FF2B5EF4-FFF2-40B4-BE49-F238E27FC236}">
                <a16:creationId xmlns:a16="http://schemas.microsoft.com/office/drawing/2014/main" id="{3C266CB3-372A-1245-8C26-28074E6BC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7" y="2788444"/>
            <a:ext cx="539353" cy="2862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wrap="square">
            <a:spAutoFit/>
          </a:bodyPr>
          <a:lstStyle/>
          <a:p>
            <a:pPr defTabSz="685800"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rgbClr val="FFD842"/>
                </a:solidFill>
                <a:latin typeface="Arial" charset="0"/>
                <a:ea typeface="ＭＳ Ｐゴシック" charset="0"/>
                <a:cs typeface="ＭＳ Ｐゴシック" charset="0"/>
              </a:rPr>
              <a:t>II-P</a:t>
            </a:r>
          </a:p>
        </p:txBody>
      </p:sp>
      <p:sp>
        <p:nvSpPr>
          <p:cNvPr id="98" name="Text Box 42">
            <a:extLst>
              <a:ext uri="{FF2B5EF4-FFF2-40B4-BE49-F238E27FC236}">
                <a16:creationId xmlns:a16="http://schemas.microsoft.com/office/drawing/2014/main" id="{35220088-8D15-314D-9D95-69BD7D40C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544" y="2180035"/>
            <a:ext cx="539354" cy="2862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wrap="square">
            <a:spAutoFit/>
          </a:bodyPr>
          <a:lstStyle/>
          <a:p>
            <a:pPr defTabSz="685800"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rgbClr val="FFD842"/>
                </a:solidFill>
                <a:latin typeface="Arial" charset="0"/>
                <a:ea typeface="ＭＳ Ｐゴシック" charset="0"/>
                <a:cs typeface="ＭＳ Ｐゴシック" charset="0"/>
              </a:rPr>
              <a:t>II-L</a:t>
            </a:r>
          </a:p>
        </p:txBody>
      </p:sp>
      <p:sp>
        <p:nvSpPr>
          <p:cNvPr id="99" name="Text Box 43">
            <a:extLst>
              <a:ext uri="{FF2B5EF4-FFF2-40B4-BE49-F238E27FC236}">
                <a16:creationId xmlns:a16="http://schemas.microsoft.com/office/drawing/2014/main" id="{7829566C-2F9E-6D4A-8898-74D2CAE9D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2853" y="842963"/>
            <a:ext cx="2184797" cy="246286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>
            <a:spAutoFit/>
          </a:bodyPr>
          <a:lstStyle/>
          <a:p>
            <a:pPr defTabSz="685800" fontAlgn="auto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rgbClr val="FFD842"/>
                </a:solidFill>
                <a:latin typeface="Arial" charset="0"/>
                <a:ea typeface="ＭＳ Ｐゴシック" charset="0"/>
                <a:cs typeface="ＭＳ Ｐゴシック" charset="0"/>
              </a:rPr>
              <a:t>Type </a:t>
            </a:r>
            <a:r>
              <a:rPr lang="en-US" sz="1400" kern="0" dirty="0" err="1">
                <a:solidFill>
                  <a:srgbClr val="FFD842"/>
                </a:solidFill>
                <a:latin typeface="Arial" charset="0"/>
                <a:ea typeface="ＭＳ Ｐゴシック" charset="0"/>
                <a:cs typeface="ＭＳ Ｐゴシック" charset="0"/>
              </a:rPr>
              <a:t>IIn</a:t>
            </a:r>
            <a:r>
              <a:rPr lang="en-US" sz="1400" kern="0" dirty="0">
                <a:solidFill>
                  <a:srgbClr val="FFD842"/>
                </a:solidFill>
                <a:latin typeface="Arial" charset="0"/>
                <a:ea typeface="ＭＳ Ｐゴシック" charset="0"/>
                <a:cs typeface="ＭＳ Ｐゴシック" charset="0"/>
              </a:rPr>
              <a:t>    </a:t>
            </a:r>
          </a:p>
        </p:txBody>
      </p:sp>
      <p:sp>
        <p:nvSpPr>
          <p:cNvPr id="100" name="Text Box 44">
            <a:extLst>
              <a:ext uri="{FF2B5EF4-FFF2-40B4-BE49-F238E27FC236}">
                <a16:creationId xmlns:a16="http://schemas.microsoft.com/office/drawing/2014/main" id="{119A5EF3-B624-AB41-863C-01519D3C7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6419" y="3980260"/>
            <a:ext cx="1836657" cy="307777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lang="en-US" sz="140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8-15 M</a:t>
            </a:r>
            <a:r>
              <a:rPr lang="en-US" sz="1400" baseline="-2500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  <a:sym typeface="Wingdings" charset="0"/>
              </a:rPr>
              <a:t></a:t>
            </a:r>
            <a:r>
              <a:rPr lang="en-US" sz="140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  <a:sym typeface="Wingdings" charset="0"/>
              </a:rPr>
              <a:t>  Type II-P</a:t>
            </a:r>
            <a:endParaRPr lang="en-US" sz="1400">
              <a:solidFill>
                <a:srgbClr val="FFFFFF"/>
              </a:solidFill>
              <a:latin typeface="Avenir" panose="02000503020000020003" pitchFamily="2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6170" name="AutoShape 45">
            <a:extLst>
              <a:ext uri="{FF2B5EF4-FFF2-40B4-BE49-F238E27FC236}">
                <a16:creationId xmlns:a16="http://schemas.microsoft.com/office/drawing/2014/main" id="{3FF2D16E-ADE4-A94E-8528-BDDA3FBDE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962" y="1640681"/>
            <a:ext cx="139304" cy="139304"/>
          </a:xfrm>
          <a:prstGeom prst="irregularSeal1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400" b="0">
              <a:solidFill>
                <a:srgbClr val="FFFFFF"/>
              </a:solidFill>
              <a:latin typeface="Avenir" panose="02000503020000020003" pitchFamily="2" charset="0"/>
            </a:endParaRPr>
          </a:p>
        </p:txBody>
      </p:sp>
      <p:sp>
        <p:nvSpPr>
          <p:cNvPr id="176171" name="AutoShape 46">
            <a:extLst>
              <a:ext uri="{FF2B5EF4-FFF2-40B4-BE49-F238E27FC236}">
                <a16:creationId xmlns:a16="http://schemas.microsoft.com/office/drawing/2014/main" id="{CAAB62C5-5CFA-3C47-8218-8B490BD55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487" y="1707356"/>
            <a:ext cx="139304" cy="139304"/>
          </a:xfrm>
          <a:prstGeom prst="irregularSeal1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400" b="0">
              <a:solidFill>
                <a:srgbClr val="FFFFFF"/>
              </a:solidFill>
              <a:latin typeface="Avenir" panose="02000503020000020003" pitchFamily="2" charset="0"/>
            </a:endParaRPr>
          </a:p>
        </p:txBody>
      </p:sp>
      <p:sp>
        <p:nvSpPr>
          <p:cNvPr id="106" name="Text Box 51">
            <a:extLst>
              <a:ext uri="{FF2B5EF4-FFF2-40B4-BE49-F238E27FC236}">
                <a16:creationId xmlns:a16="http://schemas.microsoft.com/office/drawing/2014/main" id="{1F0D6B4F-9FC9-8642-AA86-8D31DB868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5817" y="3644503"/>
            <a:ext cx="534590" cy="29059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>
            <a:spAutoFit/>
          </a:bodyPr>
          <a:lstStyle/>
          <a:p>
            <a:pPr defTabSz="685800"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Ib/c</a:t>
            </a:r>
          </a:p>
        </p:txBody>
      </p:sp>
      <p:sp>
        <p:nvSpPr>
          <p:cNvPr id="108" name="Text Box 54">
            <a:extLst>
              <a:ext uri="{FF2B5EF4-FFF2-40B4-BE49-F238E27FC236}">
                <a16:creationId xmlns:a16="http://schemas.microsoft.com/office/drawing/2014/main" id="{E2E53076-60BA-9048-A224-3D2AC36B5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9969" y="1637110"/>
            <a:ext cx="402431" cy="286232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7"/>
              </a:srgbClr>
            </a:outerShdw>
          </a:effectLst>
        </p:spPr>
        <p:txBody>
          <a:bodyPr>
            <a:spAutoFit/>
          </a:bodyPr>
          <a:lstStyle/>
          <a:p>
            <a:pPr defTabSz="685800"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rgbClr val="FFD842"/>
                </a:solidFill>
                <a:latin typeface="Arial" charset="0"/>
                <a:ea typeface="ＭＳ Ｐゴシック" charset="0"/>
                <a:cs typeface="ＭＳ Ｐゴシック" charset="0"/>
              </a:rPr>
              <a:t>IIn</a:t>
            </a:r>
          </a:p>
        </p:txBody>
      </p:sp>
      <p:sp>
        <p:nvSpPr>
          <p:cNvPr id="176174" name="AutoShape 56">
            <a:extLst>
              <a:ext uri="{FF2B5EF4-FFF2-40B4-BE49-F238E27FC236}">
                <a16:creationId xmlns:a16="http://schemas.microsoft.com/office/drawing/2014/main" id="{6944BCCF-F2E9-DE4A-9D95-E00E85C2A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856" y="3145631"/>
            <a:ext cx="139304" cy="139304"/>
          </a:xfrm>
          <a:prstGeom prst="irregularSeal1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400" b="0">
              <a:solidFill>
                <a:srgbClr val="FFFFFF"/>
              </a:solidFill>
              <a:latin typeface="Avenir" panose="02000503020000020003" pitchFamily="2" charset="0"/>
            </a:endParaRPr>
          </a:p>
        </p:txBody>
      </p:sp>
      <p:sp>
        <p:nvSpPr>
          <p:cNvPr id="176175" name="AutoShape 12">
            <a:extLst>
              <a:ext uri="{FF2B5EF4-FFF2-40B4-BE49-F238E27FC236}">
                <a16:creationId xmlns:a16="http://schemas.microsoft.com/office/drawing/2014/main" id="{A0D306AD-3196-5C46-ABB1-A5BD2D929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4816" y="2501504"/>
            <a:ext cx="139303" cy="139303"/>
          </a:xfrm>
          <a:prstGeom prst="irregularSeal1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400" b="0">
              <a:solidFill>
                <a:srgbClr val="FFFFFF"/>
              </a:solidFill>
              <a:latin typeface="Avenir" panose="02000503020000020003" pitchFamily="2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81909D6-0AB2-9741-ACD3-E88DE6251B3A}"/>
              </a:ext>
            </a:extLst>
          </p:cNvPr>
          <p:cNvSpPr txBox="1"/>
          <p:nvPr/>
        </p:nvSpPr>
        <p:spPr>
          <a:xfrm>
            <a:off x="3629025" y="723900"/>
            <a:ext cx="62388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r>
              <a:rPr lang="en-US" altLang="en-US" sz="1400" b="0">
                <a:solidFill>
                  <a:srgbClr val="FFFFFF"/>
                </a:solidFill>
                <a:effectLst>
                  <a:outerShdw blurRad="38100" dist="38100" dir="2700000" algn="tl">
                    <a:srgbClr val="5F5F5F"/>
                  </a:outerShdw>
                </a:effectLst>
                <a:latin typeface="Avenir" panose="02000503020000020003" pitchFamily="2" charset="0"/>
              </a:rPr>
              <a:t>WNH</a:t>
            </a:r>
          </a:p>
        </p:txBody>
      </p:sp>
      <p:sp>
        <p:nvSpPr>
          <p:cNvPr id="176177" name="TextBox 1">
            <a:extLst>
              <a:ext uri="{FF2B5EF4-FFF2-40B4-BE49-F238E27FC236}">
                <a16:creationId xmlns:a16="http://schemas.microsoft.com/office/drawing/2014/main" id="{AA2E429A-A639-9A4B-988D-3ED89922D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3148" y="4343400"/>
            <a:ext cx="442282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defRPr/>
            </a:pPr>
            <a:r>
              <a:rPr lang="en-US" altLang="en-US" sz="1500" dirty="0">
                <a:solidFill>
                  <a:srgbClr val="FFFFFF"/>
                </a:solidFill>
                <a:latin typeface="Avenir" panose="02000503020000020003" pitchFamily="2" charset="0"/>
              </a:rPr>
              <a:t>END FATES of MASSIVE STARS:</a:t>
            </a:r>
          </a:p>
          <a:p>
            <a:pPr algn="ctr" defTabSz="685800" eaLnBrk="0" hangingPunct="0">
              <a:defRPr/>
            </a:pPr>
            <a:r>
              <a:rPr lang="en-US" altLang="en-US" sz="1500" dirty="0">
                <a:solidFill>
                  <a:srgbClr val="FFFFFF"/>
                </a:solidFill>
                <a:latin typeface="Avenir" panose="02000503020000020003" pitchFamily="2" charset="0"/>
              </a:rPr>
              <a:t> What type of supernova from which type of star?</a:t>
            </a:r>
          </a:p>
        </p:txBody>
      </p:sp>
      <p:sp>
        <p:nvSpPr>
          <p:cNvPr id="114" name="Text Box 47">
            <a:extLst>
              <a:ext uri="{FF2B5EF4-FFF2-40B4-BE49-F238E27FC236}">
                <a16:creationId xmlns:a16="http://schemas.microsoft.com/office/drawing/2014/main" id="{659634A4-717F-F744-9272-B82EC4F2F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532210"/>
            <a:ext cx="344966" cy="44678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defTabSz="6858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 .</a:t>
            </a:r>
          </a:p>
          <a:p>
            <a:pPr defTabSz="6858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rgbClr val="FFFFFF"/>
                </a:solidFill>
                <a:latin typeface="Avenir" panose="02000503020000020003" pitchFamily="2" charset="0"/>
                <a:ea typeface="ＭＳ Ｐゴシック" charset="0"/>
                <a:cs typeface="ＭＳ Ｐゴシック" charset="0"/>
              </a:rPr>
              <a:t>M</a:t>
            </a:r>
          </a:p>
        </p:txBody>
      </p:sp>
      <p:sp>
        <p:nvSpPr>
          <p:cNvPr id="176179" name="Oval 114">
            <a:extLst>
              <a:ext uri="{FF2B5EF4-FFF2-40B4-BE49-F238E27FC236}">
                <a16:creationId xmlns:a16="http://schemas.microsoft.com/office/drawing/2014/main" id="{F66EB25F-C328-294C-AD1D-76C0E1B38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460" y="532210"/>
            <a:ext cx="561975" cy="523875"/>
          </a:xfrm>
          <a:prstGeom prst="ellipse">
            <a:avLst/>
          </a:prstGeom>
          <a:noFill/>
          <a:ln w="38100">
            <a:solidFill>
              <a:srgbClr val="0BFF1F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400" b="0">
              <a:solidFill>
                <a:srgbClr val="FFFFFF"/>
              </a:solidFill>
              <a:latin typeface="Avenir" panose="02000503020000020003" pitchFamily="2" charset="0"/>
            </a:endParaRPr>
          </a:p>
        </p:txBody>
      </p:sp>
      <p:sp>
        <p:nvSpPr>
          <p:cNvPr id="176180" name="TextBox 1">
            <a:extLst>
              <a:ext uri="{FF2B5EF4-FFF2-40B4-BE49-F238E27FC236}">
                <a16:creationId xmlns:a16="http://schemas.microsoft.com/office/drawing/2014/main" id="{C8B6B317-52EB-194E-BAC2-014F8E0A4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931" y="4244995"/>
            <a:ext cx="324774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r>
              <a:rPr lang="en-US" altLang="en-US" sz="1500" b="0" dirty="0">
                <a:solidFill>
                  <a:srgbClr val="FFFFFF"/>
                </a:solidFill>
                <a:latin typeface="Avenir" panose="02000503020000020003" pitchFamily="2" charset="0"/>
              </a:rPr>
              <a:t>But something like 50% or more of</a:t>
            </a:r>
          </a:p>
          <a:p>
            <a:pPr defTabSz="685800" eaLnBrk="0" hangingPunct="0">
              <a:defRPr/>
            </a:pPr>
            <a:r>
              <a:rPr lang="en-US" altLang="en-US" sz="1500" b="0" dirty="0">
                <a:solidFill>
                  <a:srgbClr val="FFFFFF"/>
                </a:solidFill>
                <a:latin typeface="Avenir" panose="02000503020000020003" pitchFamily="2" charset="0"/>
              </a:rPr>
              <a:t>Massive stars are in close binaries…</a:t>
            </a:r>
          </a:p>
        </p:txBody>
      </p:sp>
    </p:spTree>
    <p:extLst>
      <p:ext uri="{BB962C8B-B14F-4D97-AF65-F5344CB8AC3E}">
        <p14:creationId xmlns:p14="http://schemas.microsoft.com/office/powerpoint/2010/main" val="233789883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2978299" y="853355"/>
            <a:ext cx="3227813" cy="161382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</a:endParaRPr>
          </a:p>
        </p:txBody>
      </p:sp>
      <p:pic>
        <p:nvPicPr>
          <p:cNvPr id="13" name="Picture 18">
            <a:extLst>
              <a:ext uri="{FF2B5EF4-FFF2-40B4-BE49-F238E27FC236}">
                <a16:creationId xmlns:a16="http://schemas.microsoft.com/office/drawing/2014/main" id="{5A91B7A1-3DB6-B148-9092-EE8F2EF2E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112" y="910246"/>
            <a:ext cx="3176590" cy="293232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>
                      <a:alpha val="10001"/>
                    </a:srgbClr>
                  </a:outerShdw>
                </a:effectLst>
              </a14:hiddenEffects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F2AC773-E194-A849-A664-5CC96E40A7C6}"/>
              </a:ext>
            </a:extLst>
          </p:cNvPr>
          <p:cNvSpPr txBox="1"/>
          <p:nvPr/>
        </p:nvSpPr>
        <p:spPr>
          <a:xfrm>
            <a:off x="647363" y="631774"/>
            <a:ext cx="4121564" cy="3913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1600" b="1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Type </a:t>
            </a:r>
            <a:r>
              <a:rPr lang="en-US" sz="1600" b="1" dirty="0" err="1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Ib</a:t>
            </a:r>
            <a:r>
              <a:rPr lang="en-US" sz="1600" b="1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/</a:t>
            </a:r>
            <a:r>
              <a:rPr lang="en-US" sz="1600" b="1" dirty="0" err="1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Ic</a:t>
            </a:r>
            <a:r>
              <a:rPr lang="en-US" sz="1600" b="1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: </a:t>
            </a: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core-collapse </a:t>
            </a:r>
            <a:r>
              <a:rPr lang="en-US" sz="1600" dirty="0" err="1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SNe</a:t>
            </a: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 with no H.  a.k.a.: “stripped-envelope SNe”</a:t>
            </a:r>
          </a:p>
          <a:p>
            <a:pPr marL="214313" indent="-214313" defTabSz="68580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WR star progenitors (small R).  </a:t>
            </a:r>
          </a:p>
          <a:p>
            <a:pPr marL="214313" indent="-214313" defTabSz="68580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Light curves look like </a:t>
            </a:r>
            <a:r>
              <a:rPr lang="en-US" sz="1600" dirty="0" err="1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SNe</a:t>
            </a: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Ia</a:t>
            </a: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 (but fainter) </a:t>
            </a:r>
          </a:p>
          <a:p>
            <a:pPr marL="214313" indent="-214313" defTabSz="685800"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Powered entirely by radioactive decay.</a:t>
            </a:r>
          </a:p>
          <a:p>
            <a:pPr defTabSz="685800">
              <a:spcAft>
                <a:spcPts val="500"/>
              </a:spcAft>
              <a:defRPr/>
            </a:pPr>
            <a:r>
              <a:rPr lang="en-US" sz="1600" b="1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Type II-P: </a:t>
            </a: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progenitors with H envelopes.  RSGs produce light curve with a “plateau”. Plateau is powered by shock heated envelope at first, then radioactive decay toward end. P</a:t>
            </a:r>
            <a:r>
              <a:rPr lang="en-US" sz="1600" dirty="0" err="1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lateau</a:t>
            </a: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 ends when whole H envelope recombines and becomes optically thin.  Plateau time is approximately the diffusion time.</a:t>
            </a:r>
          </a:p>
          <a:p>
            <a:pPr defTabSz="685800">
              <a:defRPr/>
            </a:pP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Type II </a:t>
            </a:r>
            <a:r>
              <a:rPr lang="en-US" sz="1600" dirty="0" err="1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SNe</a:t>
            </a: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 with more compact BSG progenitors (like 1987A) are fainter at first.</a:t>
            </a:r>
          </a:p>
        </p:txBody>
      </p:sp>
      <p:pic>
        <p:nvPicPr>
          <p:cNvPr id="6" name="Picture 5" descr="Screen Shot 2018-09-10 at 12.29.27 PM.png">
            <a:extLst>
              <a:ext uri="{FF2B5EF4-FFF2-40B4-BE49-F238E27FC236}">
                <a16:creationId xmlns:a16="http://schemas.microsoft.com/office/drawing/2014/main" id="{D01CB12D-10B5-B54C-8D58-D59E1B859C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479" y="3842574"/>
            <a:ext cx="2299855" cy="637122"/>
          </a:xfrm>
          <a:prstGeom prst="rect">
            <a:avLst/>
          </a:prstGeom>
          <a:ln>
            <a:solidFill>
              <a:srgbClr val="008000"/>
            </a:solidFill>
          </a:ln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A5F086E3-49B3-8A3A-5E7E-3E1DC22B8C3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97277"/>
            <a:ext cx="9143999" cy="5756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Light Curves</a:t>
            </a:r>
            <a:endParaRPr lang="en-US" sz="3000" kern="1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Medium" panose="02000503020000020003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844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2978299" y="853355"/>
            <a:ext cx="3227813" cy="161382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en-US" sz="1800">
              <a:solidFill>
                <a:srgbClr val="EAE8E2"/>
              </a:solidFill>
            </a:endParaRPr>
          </a:p>
        </p:txBody>
      </p:sp>
      <p:pic>
        <p:nvPicPr>
          <p:cNvPr id="13" name="Picture 18">
            <a:extLst>
              <a:ext uri="{FF2B5EF4-FFF2-40B4-BE49-F238E27FC236}">
                <a16:creationId xmlns:a16="http://schemas.microsoft.com/office/drawing/2014/main" id="{5A91B7A1-3DB6-B148-9092-EE8F2EF2E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112" y="910246"/>
            <a:ext cx="3176590" cy="293232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>
                      <a:alpha val="10001"/>
                    </a:srgbClr>
                  </a:outerShdw>
                </a:effectLst>
              </a14:hiddenEffects>
            </a:ext>
          </a:extLst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12189509-C786-9E4D-84DD-2CEADDE6EDEC}"/>
              </a:ext>
            </a:extLst>
          </p:cNvPr>
          <p:cNvSpPr/>
          <p:nvPr/>
        </p:nvSpPr>
        <p:spPr bwMode="auto">
          <a:xfrm>
            <a:off x="5632847" y="371982"/>
            <a:ext cx="2357438" cy="1776502"/>
          </a:xfrm>
          <a:custGeom>
            <a:avLst/>
            <a:gdLst>
              <a:gd name="connsiteX0" fmla="*/ 0 w 3143250"/>
              <a:gd name="connsiteY0" fmla="*/ 2368669 h 2368669"/>
              <a:gd name="connsiteX1" fmla="*/ 214312 w 3143250"/>
              <a:gd name="connsiteY1" fmla="*/ 1640006 h 2368669"/>
              <a:gd name="connsiteX2" fmla="*/ 471487 w 3143250"/>
              <a:gd name="connsiteY2" fmla="*/ 1032788 h 2368669"/>
              <a:gd name="connsiteX3" fmla="*/ 892968 w 3143250"/>
              <a:gd name="connsiteY3" fmla="*/ 547013 h 2368669"/>
              <a:gd name="connsiteX4" fmla="*/ 1307306 w 3143250"/>
              <a:gd name="connsiteY4" fmla="*/ 225544 h 2368669"/>
              <a:gd name="connsiteX5" fmla="*/ 1928812 w 3143250"/>
              <a:gd name="connsiteY5" fmla="*/ 25519 h 2368669"/>
              <a:gd name="connsiteX6" fmla="*/ 2578893 w 3143250"/>
              <a:gd name="connsiteY6" fmla="*/ 11231 h 2368669"/>
              <a:gd name="connsiteX7" fmla="*/ 3007518 w 3143250"/>
              <a:gd name="connsiteY7" fmla="*/ 104100 h 2368669"/>
              <a:gd name="connsiteX8" fmla="*/ 3143250 w 3143250"/>
              <a:gd name="connsiteY8" fmla="*/ 154106 h 2368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43250" h="2368669">
                <a:moveTo>
                  <a:pt x="0" y="2368669"/>
                </a:moveTo>
                <a:cubicBezTo>
                  <a:pt x="67865" y="2115661"/>
                  <a:pt x="135731" y="1862653"/>
                  <a:pt x="214312" y="1640006"/>
                </a:cubicBezTo>
                <a:cubicBezTo>
                  <a:pt x="292893" y="1417359"/>
                  <a:pt x="358378" y="1214953"/>
                  <a:pt x="471487" y="1032788"/>
                </a:cubicBezTo>
                <a:cubicBezTo>
                  <a:pt x="584596" y="850622"/>
                  <a:pt x="753665" y="681554"/>
                  <a:pt x="892968" y="547013"/>
                </a:cubicBezTo>
                <a:cubicBezTo>
                  <a:pt x="1032271" y="412472"/>
                  <a:pt x="1134665" y="312460"/>
                  <a:pt x="1307306" y="225544"/>
                </a:cubicBezTo>
                <a:cubicBezTo>
                  <a:pt x="1479947" y="138628"/>
                  <a:pt x="1716881" y="61238"/>
                  <a:pt x="1928812" y="25519"/>
                </a:cubicBezTo>
                <a:cubicBezTo>
                  <a:pt x="2140743" y="-10200"/>
                  <a:pt x="2399109" y="-1866"/>
                  <a:pt x="2578893" y="11231"/>
                </a:cubicBezTo>
                <a:cubicBezTo>
                  <a:pt x="2758677" y="24328"/>
                  <a:pt x="2913459" y="80287"/>
                  <a:pt x="3007518" y="104100"/>
                </a:cubicBezTo>
                <a:cubicBezTo>
                  <a:pt x="3101578" y="127912"/>
                  <a:pt x="3122414" y="141009"/>
                  <a:pt x="3143250" y="154106"/>
                </a:cubicBezTo>
              </a:path>
            </a:pathLst>
          </a:custGeom>
          <a:noFill/>
          <a:ln w="38100" cap="flat" cmpd="sng" algn="ctr">
            <a:solidFill>
              <a:srgbClr val="CC66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653DFD-C1E6-5A49-8BAD-9B0A912BF7D5}"/>
              </a:ext>
            </a:extLst>
          </p:cNvPr>
          <p:cNvSpPr txBox="1"/>
          <p:nvPr/>
        </p:nvSpPr>
        <p:spPr>
          <a:xfrm>
            <a:off x="728283" y="1184076"/>
            <a:ext cx="4085412" cy="2811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Pair Instability SN</a:t>
            </a:r>
          </a:p>
          <a:p>
            <a:pPr>
              <a:spcAft>
                <a:spcPts val="500"/>
              </a:spcAft>
            </a:pP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makes ~10 M</a:t>
            </a:r>
            <a:r>
              <a:rPr lang="en-US" sz="1600" baseline="-250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⊙</a:t>
            </a: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 of </a:t>
            </a:r>
            <a:r>
              <a:rPr lang="en-US" sz="1600" baseline="300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56</a:t>
            </a: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Ni</a:t>
            </a:r>
          </a:p>
          <a:p>
            <a:pPr>
              <a:spcAft>
                <a:spcPts val="500"/>
              </a:spcAft>
            </a:pP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This makes it a “Super-Luminous SN”</a:t>
            </a:r>
          </a:p>
          <a:p>
            <a:pPr>
              <a:spcAft>
                <a:spcPts val="500"/>
              </a:spcAft>
            </a:pP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(about 10x brighter than brightest Type Ia SNe, which are brighter than core collapse SNe)</a:t>
            </a:r>
          </a:p>
          <a:p>
            <a:pPr>
              <a:spcAft>
                <a:spcPts val="500"/>
              </a:spcAft>
            </a:pP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Since star that exploded is very massive (&gt;100 M</a:t>
            </a:r>
            <a:r>
              <a:rPr lang="en-US" sz="1600" baseline="-250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⊙</a:t>
            </a: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), diffusion time is longer and </a:t>
            </a:r>
            <a:r>
              <a:rPr lang="en-US" sz="1600" dirty="0" err="1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PISNe</a:t>
            </a:r>
            <a:r>
              <a:rPr lang="en-US" sz="1600" dirty="0">
                <a:solidFill>
                  <a:srgbClr val="FFFFFF"/>
                </a:solidFill>
                <a:latin typeface="Avenir" panose="02000503020000020003" pitchFamily="2" charset="0"/>
                <a:cs typeface="Arial" panose="020B0604020202020204" pitchFamily="34" charset="0"/>
              </a:rPr>
              <a:t> take a longer time to brighten and fade.</a:t>
            </a:r>
          </a:p>
        </p:txBody>
      </p:sp>
      <p:pic>
        <p:nvPicPr>
          <p:cNvPr id="4" name="Picture 3" descr="Screen Shot 2018-09-10 at 12.29.27 PM.png">
            <a:extLst>
              <a:ext uri="{FF2B5EF4-FFF2-40B4-BE49-F238E27FC236}">
                <a16:creationId xmlns:a16="http://schemas.microsoft.com/office/drawing/2014/main" id="{09477916-CCEA-FEE0-0C78-8C6947190E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479" y="3842574"/>
            <a:ext cx="2299855" cy="637122"/>
          </a:xfrm>
          <a:prstGeom prst="rect">
            <a:avLst/>
          </a:prstGeom>
          <a:ln>
            <a:solidFill>
              <a:srgbClr val="008000"/>
            </a:solidFill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4D9E8904-D9B7-B0C2-197D-B77D64FF139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97277"/>
            <a:ext cx="9143999" cy="5756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None/>
            </a:pPr>
            <a:r>
              <a:rPr lang="en-US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Light Curves</a:t>
            </a:r>
            <a:endParaRPr lang="en-US" sz="3000" kern="1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Medium" panose="02000503020000020003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95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60965-5CE8-4214-94E8-7749EF5C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52BD66A-C255-22B1-A0A2-7CC26C61F0B4}"/>
              </a:ext>
            </a:extLst>
          </p:cNvPr>
          <p:cNvSpPr/>
          <p:nvPr/>
        </p:nvSpPr>
        <p:spPr bwMode="auto">
          <a:xfrm>
            <a:off x="2978299" y="853355"/>
            <a:ext cx="3227813" cy="161382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AE8E2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3573814-3EB2-AF01-16F1-A2422A98CBC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97277"/>
            <a:ext cx="9143999" cy="5756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buClr>
                <a:srgbClr val="FDBC03"/>
              </a:buClr>
              <a:buNone/>
            </a:pPr>
            <a:r>
              <a:rPr lang="en-US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In-class Assignment 16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venir Medium" panose="02000503020000020003" pitchFamily="2" charset="0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8A52E8-DE5A-7501-A598-A2F364645F23}"/>
              </a:ext>
            </a:extLst>
          </p:cNvPr>
          <p:cNvSpPr txBox="1"/>
          <p:nvPr/>
        </p:nvSpPr>
        <p:spPr>
          <a:xfrm>
            <a:off x="83819" y="906610"/>
            <a:ext cx="8976360" cy="3338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1" hangingPunct="1">
              <a:lnSpc>
                <a:spcPct val="90000"/>
              </a:lnSpc>
              <a:buClr>
                <a:srgbClr val="FDBC03"/>
              </a:buClr>
              <a:buNone/>
            </a:pP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Work on ICA 16 </a:t>
            </a: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  <a:hlinkClick r:id="rId4"/>
              </a:rPr>
              <a:t>here</a:t>
            </a: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 with groups per usual. </a:t>
            </a:r>
          </a:p>
          <a:p>
            <a:pPr marL="0" indent="0" algn="ctr" eaLnBrk="1" hangingPunct="1">
              <a:lnSpc>
                <a:spcPct val="90000"/>
              </a:lnSpc>
              <a:buClr>
                <a:srgbClr val="FDBC03"/>
              </a:buClr>
              <a:buNone/>
            </a:pPr>
            <a:endParaRPr lang="en-US" sz="1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Medium" panose="02000503020000020003" pitchFamily="2" charset="0"/>
            </a:endParaRPr>
          </a:p>
          <a:p>
            <a:pPr marL="0" indent="0" algn="ctr" eaLnBrk="1" hangingPunct="1">
              <a:lnSpc>
                <a:spcPct val="90000"/>
              </a:lnSpc>
              <a:buClr>
                <a:srgbClr val="FDBC03"/>
              </a:buClr>
              <a:buNone/>
            </a:pP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Discuss conceptual questions together and prepare answers to share at the end of class.</a:t>
            </a:r>
          </a:p>
          <a:p>
            <a:pPr marL="0" indent="0" algn="ctr" eaLnBrk="1" hangingPunct="1">
              <a:lnSpc>
                <a:spcPct val="90000"/>
              </a:lnSpc>
              <a:buClr>
                <a:srgbClr val="FDBC03"/>
              </a:buClr>
              <a:buNone/>
            </a:pPr>
            <a:endParaRPr lang="en-US" sz="1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Medium" panose="02000503020000020003" pitchFamily="2" charset="0"/>
            </a:endParaRPr>
          </a:p>
          <a:p>
            <a:pPr marL="0" indent="0" algn="ctr" eaLnBrk="1" hangingPunct="1">
              <a:lnSpc>
                <a:spcPct val="90000"/>
              </a:lnSpc>
              <a:buClr>
                <a:srgbClr val="FDBC03"/>
              </a:buClr>
              <a:buNone/>
            </a:pP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Choose someone that will report out the group’s responses ahead of time!</a:t>
            </a:r>
          </a:p>
          <a:p>
            <a:pPr marL="0" indent="0" algn="ctr" eaLnBrk="1" hangingPunct="1">
              <a:lnSpc>
                <a:spcPct val="90000"/>
              </a:lnSpc>
              <a:buClr>
                <a:srgbClr val="FDBC03"/>
              </a:buClr>
              <a:buNone/>
            </a:pPr>
            <a:b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</a:br>
            <a:endParaRPr lang="en-US" sz="1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Medium" panose="02000503020000020003" pitchFamily="2" charset="0"/>
            </a:endParaRPr>
          </a:p>
          <a:p>
            <a:pPr marL="0" indent="0" algn="ctr" eaLnBrk="1" hangingPunct="1">
              <a:lnSpc>
                <a:spcPct val="90000"/>
              </a:lnSpc>
              <a:buClr>
                <a:srgbClr val="FDBC03"/>
              </a:buClr>
              <a:buNone/>
            </a:pP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After Class: Due: Submitted to D2L by </a:t>
            </a:r>
            <a:r>
              <a:rPr lang="en-US" sz="18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EoD</a:t>
            </a:r>
            <a:endParaRPr lang="en-US" sz="1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Medium" panose="02000503020000020003" pitchFamily="2" charset="0"/>
            </a:endParaRPr>
          </a:p>
          <a:p>
            <a:pPr marL="0" indent="0" algn="ctr" eaLnBrk="1" hangingPunct="1">
              <a:lnSpc>
                <a:spcPct val="90000"/>
              </a:lnSpc>
              <a:buClr>
                <a:srgbClr val="FDBC03"/>
              </a:buClr>
              <a:buNone/>
            </a:pPr>
            <a:b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</a:br>
            <a:endParaRPr lang="en-US" sz="1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Medium" panose="02000503020000020003" pitchFamily="2" charset="0"/>
            </a:endParaRPr>
          </a:p>
          <a:p>
            <a:pPr marL="0" indent="0" algn="ctr" eaLnBrk="1" hangingPunct="1">
              <a:lnSpc>
                <a:spcPct val="90000"/>
              </a:lnSpc>
              <a:buClr>
                <a:srgbClr val="FDBC03"/>
              </a:buClr>
              <a:buNone/>
            </a:pPr>
            <a:r>
              <a:rPr lang="en-US" sz="18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Note</a:t>
            </a: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: The goal of ICAs are to use plots produced in the notebook for discussion and interpretation of results presented in lecture in groups </a:t>
            </a:r>
            <a:r>
              <a:rPr lang="en-US" sz="18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and</a:t>
            </a: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Medium" panose="02000503020000020003" pitchFamily="2" charset="0"/>
              </a:rPr>
              <a:t> as a class.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0083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INITEXER" val="156"/>
  <p:tag name="LASTSLIDESHOWN" val="Slide22"/>
  <p:tag name="EXPANDSHOWBAR" val="True"/>
  <p:tag name="REQUIREPASSWORD" val="False"/>
  <p:tag name="COUNTDOWNSTYLE" val="-1"/>
  <p:tag name="COUNTDOWNSECONDS" val="30"/>
  <p:tag name="AUTOADVANCE" val="False"/>
  <p:tag name="STDCHART" val="1"/>
  <p:tag name="BUBBLENAMEVISIBLE" val="True"/>
  <p:tag name="DEFAULTNUMTEAMS" val="5"/>
  <p:tag name="CUSTOMCELLBACKCOLOR2" val="-13395457"/>
  <p:tag name="DISPLAYNAME" val="True"/>
  <p:tag name="GRIDROTATIONINTERVAL" val="8"/>
  <p:tag name="POLLINGCYCLE" val="2"/>
  <p:tag name="INCLUDENONRESPONDERS" val="False"/>
  <p:tag name="ALLOWUSERFEEDBACK" val="True"/>
  <p:tag name="ADDINALWAYSLOADED" val="False"/>
  <p:tag name="PRESGUID" val="{7D130032-9CA5-498C-866E-26EDAD03E049}"/>
  <p:tag name="SESGUID" val="{7FF75EF1-439F-4A44-984A-BF21D2FFE909}"/>
  <p:tag name="SHOWBARVISIBLE" val="True"/>
  <p:tag name="BULLETTYPE" val="1"/>
  <p:tag name="RESPCOUNTERFORMAT" val="0"/>
  <p:tag name="NUMRESPONSES" val="1"/>
  <p:tag name="REVIEWONLY" val="False"/>
  <p:tag name="TEAMSINLEADERBOARD" val="5"/>
  <p:tag name="BUBBLEGROUPING" val="3"/>
  <p:tag name="CUSTOMCELLBACKCOLOR3" val="-268652"/>
  <p:tag name="DISPLAYDEVICEID" val="True"/>
  <p:tag name="GRIDPOSITION" val="1"/>
  <p:tag name="MULTIRESPDIVISOR" val="0"/>
  <p:tag name="INCORRECTPOINTVALUE" val="0"/>
  <p:tag name="CHARTSCALE" val="True"/>
  <p:tag name="SESIDS" val="264"/>
  <p:tag name="ENABLEPRESENTERVPAD" val="False"/>
  <p:tag name="RESPCOUNTERSTYLE" val="-1"/>
  <p:tag name="BACKUPSESSIONS" val="True"/>
  <p:tag name="AUTOUPDATEALIASES" val="True"/>
  <p:tag name="BUBBLEVALUEFORMAT" val="0.0"/>
  <p:tag name="CUSTOMCELLBACKCOLOR4" val="-8355712"/>
  <p:tag name="AUTOSIZEGRID" val="True"/>
  <p:tag name="RESETCHARTS" val="True"/>
  <p:tag name="REALTIMEBACKUP" val="False"/>
  <p:tag name="PRESTAG" val="3"/>
  <p:tag name="USESECONDARYMONITOR" val="True"/>
  <p:tag name="RESPTABLESTYLE" val="-1"/>
  <p:tag name="CHARTVALUEFORMAT" val="0%"/>
  <p:tag name="BUBBLESIZEVISIBLE" val="True"/>
  <p:tag name="USESCHEMECOLORS" val="True"/>
  <p:tag name="CHARTCOLORS" val="2"/>
  <p:tag name="CORRECTPOINTVALUE" val="1"/>
  <p:tag name="LASTEXERCISE" val="156"/>
  <p:tag name="ANSWERNOWSTYLE" val="-1"/>
  <p:tag name="BACKUPMAINTENANCE" val="7"/>
  <p:tag name="CUSTOMGRIDBACKCOLOR" val="-2830136"/>
  <p:tag name="GRIDOPACITY" val="75"/>
  <p:tag name="INCLUDEPPT" val="True"/>
  <p:tag name="LASTINITSLIDE" val="Slide22"/>
  <p:tag name="INPUTSOURCE" val="1"/>
  <p:tag name="MAXRESPONDERS" val="5"/>
  <p:tag name="GRIDSIZE" val="{Width=800, Height=600}"/>
  <p:tag name="AUTOADJUSTPARTRANGE" val="True"/>
  <p:tag name="ANSWERNOWTEXT" val="Answer Now"/>
  <p:tag name="CUSTOMCELLFORECOLOR" val="-16777216"/>
  <p:tag name="PARTLISTDEFAULT" val="0"/>
  <p:tag name="DEFAULTPORT" val="1001"/>
  <p:tag name="CUSTOMCELLBACKCOLOR1" val="-657956"/>
  <p:tag name="BUILD" val="A7E52559-0804-450C-A7E4-2037143A4127"/>
  <p:tag name="PARTICIPANTSINLEADERBOARD" val="5"/>
  <p:tag name="CHARTLABELS" val="1"/>
  <p:tag name="DISPLAYDEVICENUMBER" val="False"/>
  <p:tag name="ZEROBASED" val="False"/>
  <p:tag name="ROTATIONINTERVAL" val="2"/>
  <p:tag name="USEENTERPRISEMANAGER" val="False"/>
  <p:tag name="DELIMITERS" val="3.1"/>
  <p:tag name="TPVERSION" val="2008"/>
  <p:tag name="POWERPOINTVERSION" val="14.0"/>
  <p:tag name="TPFULLVERSION" val="4.2.4.3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SGUID" val="{EFEAABF0-6CDF-446A-BF48-A2F53BE933CA}"/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SGUID" val="{EFEAABF0-6CDF-446A-BF48-A2F53BE933CA}"/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SGUID" val="{E0DB56C6-D53F-46B3-B1A2-4FF0E4D18556}"/>
  <p:tag name="NOPREFERENCE" val="False"/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SGUID" val="{E0DB56C6-D53F-46B3-B1A2-4FF0E4D18556}"/>
  <p:tag name="NOPREFERENCE" val="False"/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SGUID" val="{E0DB56C6-D53F-46B3-B1A2-4FF0E4D18556}"/>
  <p:tag name="NOPREFERENCE" val="False"/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SGUID" val="{E0DB56C6-D53F-46B3-B1A2-4FF0E4D18556}"/>
  <p:tag name="NOPREFERENCE" val="False"/>
  <p:tag name="DELIMITERS" val="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SGUID" val="{EFEAABF0-6CDF-446A-BF48-A2F53BE933CA}"/>
  <p:tag name="NOPREFERENCE" val="False"/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SGUID" val="{EFEAABF0-6CDF-446A-BF48-A2F53BE933CA}"/>
  <p:tag name="NOPREFERENCE" val="False"/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SGUID" val="{EFEAABF0-6CDF-446A-BF48-A2F53BE933CA}"/>
  <p:tag name="NOPREFERENCE" val="False"/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SGUID" val="{EFEAABF0-6CDF-446A-BF48-A2F53BE933CA}"/>
  <p:tag name="NOPREFERENCE" val="False"/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SGUID" val="{EFEAABF0-6CDF-446A-BF48-A2F53BE933CA}"/>
  <p:tag name="NOPREFERENCE" val="False"/>
  <p:tag name="DELIMITERS" val="3.1"/>
</p:tagLst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standard_sk">
  <a:themeElements>
    <a:clrScheme name="standard_sk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_s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_sk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_sk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4_standard_sk">
  <a:themeElements>
    <a:clrScheme name="standard_sk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_s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_sk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_sk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Construction">
  <a:themeElements>
    <a:clrScheme name="Construction 1">
      <a:dk1>
        <a:srgbClr val="000000"/>
      </a:dk1>
      <a:lt1>
        <a:srgbClr val="EAE8E2"/>
      </a:lt1>
      <a:dk2>
        <a:srgbClr val="5F5F5F"/>
      </a:dk2>
      <a:lt2>
        <a:srgbClr val="FDBC03"/>
      </a:lt2>
      <a:accent1>
        <a:srgbClr val="A7C1CB"/>
      </a:accent1>
      <a:accent2>
        <a:srgbClr val="A38D77"/>
      </a:accent2>
      <a:accent3>
        <a:srgbClr val="B6B6B6"/>
      </a:accent3>
      <a:accent4>
        <a:srgbClr val="C8C6C1"/>
      </a:accent4>
      <a:accent5>
        <a:srgbClr val="D0DDE2"/>
      </a:accent5>
      <a:accent6>
        <a:srgbClr val="937F6B"/>
      </a:accent6>
      <a:hlink>
        <a:srgbClr val="FFFFCC"/>
      </a:hlink>
      <a:folHlink>
        <a:srgbClr val="FFCC66"/>
      </a:folHlink>
    </a:clrScheme>
    <a:fontScheme name="Construction">
      <a:majorFont>
        <a:latin typeface="Impact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onstruction 1">
        <a:dk1>
          <a:srgbClr val="000000"/>
        </a:dk1>
        <a:lt1>
          <a:srgbClr val="EAE8E2"/>
        </a:lt1>
        <a:dk2>
          <a:srgbClr val="5F5F5F"/>
        </a:dk2>
        <a:lt2>
          <a:srgbClr val="FDBC03"/>
        </a:lt2>
        <a:accent1>
          <a:srgbClr val="A7C1CB"/>
        </a:accent1>
        <a:accent2>
          <a:srgbClr val="A38D77"/>
        </a:accent2>
        <a:accent3>
          <a:srgbClr val="B6B6B6"/>
        </a:accent3>
        <a:accent4>
          <a:srgbClr val="C8C6C1"/>
        </a:accent4>
        <a:accent5>
          <a:srgbClr val="D0DDE2"/>
        </a:accent5>
        <a:accent6>
          <a:srgbClr val="937F6B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struction 2">
        <a:dk1>
          <a:srgbClr val="333333"/>
        </a:dk1>
        <a:lt1>
          <a:srgbClr val="FFFFFF"/>
        </a:lt1>
        <a:dk2>
          <a:srgbClr val="B75E31"/>
        </a:dk2>
        <a:lt2>
          <a:srgbClr val="463828"/>
        </a:lt2>
        <a:accent1>
          <a:srgbClr val="E09F98"/>
        </a:accent1>
        <a:accent2>
          <a:srgbClr val="E4D8CA"/>
        </a:accent2>
        <a:accent3>
          <a:srgbClr val="FFFFFF"/>
        </a:accent3>
        <a:accent4>
          <a:srgbClr val="2A2A2A"/>
        </a:accent4>
        <a:accent5>
          <a:srgbClr val="EDCDCA"/>
        </a:accent5>
        <a:accent6>
          <a:srgbClr val="CFC4B7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struction 3">
        <a:dk1>
          <a:srgbClr val="333333"/>
        </a:dk1>
        <a:lt1>
          <a:srgbClr val="FFFFFF"/>
        </a:lt1>
        <a:dk2>
          <a:srgbClr val="4D4D4D"/>
        </a:dk2>
        <a:lt2>
          <a:srgbClr val="000000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2A2A2A"/>
        </a:accent4>
        <a:accent5>
          <a:srgbClr val="DCDCDC"/>
        </a:accent5>
        <a:accent6>
          <a:srgbClr val="C8C8C8"/>
        </a:accent6>
        <a:hlink>
          <a:srgbClr val="8080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struction 4">
        <a:dk1>
          <a:srgbClr val="000000"/>
        </a:dk1>
        <a:lt1>
          <a:srgbClr val="EAE8E2"/>
        </a:lt1>
        <a:dk2>
          <a:srgbClr val="783A34"/>
        </a:dk2>
        <a:lt2>
          <a:srgbClr val="FFCC99"/>
        </a:lt2>
        <a:accent1>
          <a:srgbClr val="83AAAD"/>
        </a:accent1>
        <a:accent2>
          <a:srgbClr val="A06766"/>
        </a:accent2>
        <a:accent3>
          <a:srgbClr val="BEAEAE"/>
        </a:accent3>
        <a:accent4>
          <a:srgbClr val="C8C6C1"/>
        </a:accent4>
        <a:accent5>
          <a:srgbClr val="C1D2D3"/>
        </a:accent5>
        <a:accent6>
          <a:srgbClr val="915D5C"/>
        </a:accent6>
        <a:hlink>
          <a:srgbClr val="FFFFCC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" b="0" i="0" u="none" strike="noStrike" cap="none" normalizeH="0" baseline="0">
            <a:ln>
              <a:noFill/>
            </a:ln>
            <a:solidFill>
              <a:srgbClr val="FFBF07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" b="0" i="0" u="none" strike="noStrike" cap="none" normalizeH="0" baseline="0">
            <a:ln>
              <a:noFill/>
            </a:ln>
            <a:solidFill>
              <a:srgbClr val="FFBF07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Fireball">
  <a:themeElements>
    <a:clrScheme name="Fireball 1">
      <a:dk1>
        <a:srgbClr val="5F5F5F"/>
      </a:dk1>
      <a:lt1>
        <a:srgbClr val="FFFFCC"/>
      </a:lt1>
      <a:dk2>
        <a:srgbClr val="000000"/>
      </a:dk2>
      <a:lt2>
        <a:srgbClr val="FFCC66"/>
      </a:lt2>
      <a:accent1>
        <a:srgbClr val="FF9933"/>
      </a:accent1>
      <a:accent2>
        <a:srgbClr val="CC0066"/>
      </a:accent2>
      <a:accent3>
        <a:srgbClr val="AAAAAA"/>
      </a:accent3>
      <a:accent4>
        <a:srgbClr val="DADAAE"/>
      </a:accent4>
      <a:accent5>
        <a:srgbClr val="FFCAAD"/>
      </a:accent5>
      <a:accent6>
        <a:srgbClr val="B9005C"/>
      </a:accent6>
      <a:hlink>
        <a:srgbClr val="CC00CC"/>
      </a:hlink>
      <a:folHlink>
        <a:srgbClr val="990099"/>
      </a:folHlink>
    </a:clrScheme>
    <a:fontScheme name="Fireball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FF3300"/>
          </a:solidFill>
          <a:prstDash val="solid"/>
          <a:round/>
          <a:headEnd type="none" w="sm" len="sm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" b="1" i="0" u="none" strike="noStrike" cap="none" normalizeH="0" baseline="0">
            <a:ln>
              <a:noFill/>
            </a:ln>
            <a:solidFill>
              <a:srgbClr val="FFFFCC"/>
            </a:solidFill>
            <a:effectLst/>
            <a:latin typeface="Times New Roman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FF3300"/>
          </a:solidFill>
          <a:prstDash val="solid"/>
          <a:round/>
          <a:headEnd type="none" w="sm" len="sm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" b="1" i="0" u="none" strike="noStrike" cap="none" normalizeH="0" baseline="0">
            <a:ln>
              <a:noFill/>
            </a:ln>
            <a:solidFill>
              <a:srgbClr val="FFFFCC"/>
            </a:solidFill>
            <a:effectLst/>
            <a:latin typeface="Times New Roman" charset="0"/>
            <a:ea typeface="ＭＳ Ｐゴシック" charset="0"/>
          </a:defRPr>
        </a:defPPr>
      </a:lstStyle>
    </a:lnDef>
  </a:objectDefaults>
  <a:extraClrSchemeLst>
    <a:extraClrScheme>
      <a:clrScheme name="Fireball 1">
        <a:dk1>
          <a:srgbClr val="5F5F5F"/>
        </a:dk1>
        <a:lt1>
          <a:srgbClr val="FFFFCC"/>
        </a:lt1>
        <a:dk2>
          <a:srgbClr val="000000"/>
        </a:dk2>
        <a:lt2>
          <a:srgbClr val="FFCC66"/>
        </a:lt2>
        <a:accent1>
          <a:srgbClr val="FF9933"/>
        </a:accent1>
        <a:accent2>
          <a:srgbClr val="CC0066"/>
        </a:accent2>
        <a:accent3>
          <a:srgbClr val="AAAAAA"/>
        </a:accent3>
        <a:accent4>
          <a:srgbClr val="DADAAE"/>
        </a:accent4>
        <a:accent5>
          <a:srgbClr val="FFCAAD"/>
        </a:accent5>
        <a:accent6>
          <a:srgbClr val="B9005C"/>
        </a:accent6>
        <a:hlink>
          <a:srgbClr val="CC00CC"/>
        </a:hlink>
        <a:folHlink>
          <a:srgbClr val="99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ball 2">
        <a:dk1>
          <a:srgbClr val="000000"/>
        </a:dk1>
        <a:lt1>
          <a:srgbClr val="FFFFFF"/>
        </a:lt1>
        <a:dk2>
          <a:srgbClr val="FF9900"/>
        </a:dk2>
        <a:lt2>
          <a:srgbClr val="5F5F5F"/>
        </a:lt2>
        <a:accent1>
          <a:srgbClr val="FF9933"/>
        </a:accent1>
        <a:accent2>
          <a:srgbClr val="CC0066"/>
        </a:accent2>
        <a:accent3>
          <a:srgbClr val="FFFFFF"/>
        </a:accent3>
        <a:accent4>
          <a:srgbClr val="000000"/>
        </a:accent4>
        <a:accent5>
          <a:srgbClr val="FFCAAD"/>
        </a:accent5>
        <a:accent6>
          <a:srgbClr val="B9005C"/>
        </a:accent6>
        <a:hlink>
          <a:srgbClr val="CC00CC"/>
        </a:hlink>
        <a:folHlink>
          <a:srgbClr val="99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eball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_standard_sk">
  <a:themeElements>
    <a:clrScheme name="standard_sk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_s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_sk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_sk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5_standard_sk">
  <a:themeElements>
    <a:clrScheme name="standard_sk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_s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_sk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_sk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_s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5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" b="0" i="0" u="none" strike="noStrike" cap="none" normalizeH="0" baseline="0">
            <a:ln>
              <a:noFill/>
            </a:ln>
            <a:solidFill>
              <a:srgbClr val="FFBF07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" b="0" i="0" u="none" strike="noStrike" cap="none" normalizeH="0" baseline="0">
            <a:ln>
              <a:noFill/>
            </a:ln>
            <a:solidFill>
              <a:srgbClr val="FFBF07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" b="0" i="0" u="none" strike="noStrike" cap="none" normalizeH="0" baseline="0">
            <a:ln>
              <a:noFill/>
            </a:ln>
            <a:solidFill>
              <a:srgbClr val="FFBF07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" b="0" i="0" u="none" strike="noStrike" cap="none" normalizeH="0" baseline="0">
            <a:ln>
              <a:noFill/>
            </a:ln>
            <a:solidFill>
              <a:srgbClr val="FFBF07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7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" b="0" i="0" u="none" strike="noStrike" cap="none" normalizeH="0" baseline="0">
            <a:ln>
              <a:noFill/>
            </a:ln>
            <a:solidFill>
              <a:srgbClr val="FFBF07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" b="0" i="0" u="none" strike="noStrike" cap="none" normalizeH="0" baseline="0">
            <a:ln>
              <a:noFill/>
            </a:ln>
            <a:solidFill>
              <a:srgbClr val="FFBF07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F:\Program Files\Microsoft Office\Templates\Presentation Designs\Neon Frame.pot</Template>
  <TotalTime>11580</TotalTime>
  <Words>1830</Words>
  <Application>Microsoft Macintosh PowerPoint</Application>
  <PresentationFormat>On-screen Show (16:9)</PresentationFormat>
  <Paragraphs>215</Paragraphs>
  <Slides>28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28</vt:i4>
      </vt:variant>
    </vt:vector>
  </HeadingPairs>
  <TitlesOfParts>
    <vt:vector size="51" baseType="lpstr">
      <vt:lpstr>ＭＳ Ｐゴシック</vt:lpstr>
      <vt:lpstr>Arial</vt:lpstr>
      <vt:lpstr>Arial Narrow</vt:lpstr>
      <vt:lpstr>Avenir</vt:lpstr>
      <vt:lpstr>Avenir Black</vt:lpstr>
      <vt:lpstr>Avenir Book</vt:lpstr>
      <vt:lpstr>Avenir Medium</vt:lpstr>
      <vt:lpstr>Cambria Math</vt:lpstr>
      <vt:lpstr>Impact</vt:lpstr>
      <vt:lpstr>Tahoma</vt:lpstr>
      <vt:lpstr>Times New Roman</vt:lpstr>
      <vt:lpstr>Wingdings</vt:lpstr>
      <vt:lpstr>Default Design</vt:lpstr>
      <vt:lpstr>3_standard_sk</vt:lpstr>
      <vt:lpstr>4_standard_sk</vt:lpstr>
      <vt:lpstr>Construction</vt:lpstr>
      <vt:lpstr>4_Default Design</vt:lpstr>
      <vt:lpstr>1_Fireball</vt:lpstr>
      <vt:lpstr>2_standard_sk</vt:lpstr>
      <vt:lpstr>5_standard_sk</vt:lpstr>
      <vt:lpstr>5_Default Design</vt:lpstr>
      <vt:lpstr>6_Default Design</vt:lpstr>
      <vt:lpstr>7_Default Design</vt:lpstr>
      <vt:lpstr>The Landscape of Supernovae  ASTR 400A – Theoretical Astrophysics Fall 2026  Prof. Carl Fields TA &amp; GRA Brain Hsu (Guest Lecture)  10/27/2026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Arizona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Degenerate Stars</dc:title>
  <dc:creator>N210</dc:creator>
  <cp:lastModifiedBy>Hsu, Brian - (bhsu)</cp:lastModifiedBy>
  <cp:revision>296</cp:revision>
  <cp:lastPrinted>1601-01-01T00:00:00Z</cp:lastPrinted>
  <dcterms:created xsi:type="dcterms:W3CDTF">2001-10-27T23:41:51Z</dcterms:created>
  <dcterms:modified xsi:type="dcterms:W3CDTF">2026-10-27T00:35:23Z</dcterms:modified>
</cp:coreProperties>
</file>